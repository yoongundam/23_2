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73"/>
  </p:notesMasterIdLst>
  <p:handoutMasterIdLst>
    <p:handoutMasterId r:id="rId74"/>
  </p:handoutMasterIdLst>
  <p:sldIdLst>
    <p:sldId id="591" r:id="rId2"/>
    <p:sldId id="462" r:id="rId3"/>
    <p:sldId id="386" r:id="rId4"/>
    <p:sldId id="387" r:id="rId5"/>
    <p:sldId id="521" r:id="rId6"/>
    <p:sldId id="522" r:id="rId7"/>
    <p:sldId id="523" r:id="rId8"/>
    <p:sldId id="524" r:id="rId9"/>
    <p:sldId id="525" r:id="rId10"/>
    <p:sldId id="526" r:id="rId11"/>
    <p:sldId id="527" r:id="rId12"/>
    <p:sldId id="528" r:id="rId13"/>
    <p:sldId id="529" r:id="rId14"/>
    <p:sldId id="530" r:id="rId15"/>
    <p:sldId id="531" r:id="rId16"/>
    <p:sldId id="532" r:id="rId17"/>
    <p:sldId id="533" r:id="rId18"/>
    <p:sldId id="534" r:id="rId19"/>
    <p:sldId id="535" r:id="rId20"/>
    <p:sldId id="536" r:id="rId21"/>
    <p:sldId id="537" r:id="rId22"/>
    <p:sldId id="538" r:id="rId23"/>
    <p:sldId id="539" r:id="rId24"/>
    <p:sldId id="540" r:id="rId25"/>
    <p:sldId id="541" r:id="rId26"/>
    <p:sldId id="542" r:id="rId27"/>
    <p:sldId id="543" r:id="rId28"/>
    <p:sldId id="544" r:id="rId29"/>
    <p:sldId id="545" r:id="rId30"/>
    <p:sldId id="546" r:id="rId31"/>
    <p:sldId id="547" r:id="rId32"/>
    <p:sldId id="548" r:id="rId33"/>
    <p:sldId id="549" r:id="rId34"/>
    <p:sldId id="550" r:id="rId35"/>
    <p:sldId id="551" r:id="rId36"/>
    <p:sldId id="553" r:id="rId37"/>
    <p:sldId id="552" r:id="rId38"/>
    <p:sldId id="554" r:id="rId39"/>
    <p:sldId id="555" r:id="rId40"/>
    <p:sldId id="556" r:id="rId41"/>
    <p:sldId id="558" r:id="rId42"/>
    <p:sldId id="559" r:id="rId43"/>
    <p:sldId id="560" r:id="rId44"/>
    <p:sldId id="561" r:id="rId45"/>
    <p:sldId id="562" r:id="rId46"/>
    <p:sldId id="563" r:id="rId47"/>
    <p:sldId id="564" r:id="rId48"/>
    <p:sldId id="565" r:id="rId49"/>
    <p:sldId id="566" r:id="rId50"/>
    <p:sldId id="567" r:id="rId51"/>
    <p:sldId id="569" r:id="rId52"/>
    <p:sldId id="570" r:id="rId53"/>
    <p:sldId id="571" r:id="rId54"/>
    <p:sldId id="572" r:id="rId55"/>
    <p:sldId id="573" r:id="rId56"/>
    <p:sldId id="575" r:id="rId57"/>
    <p:sldId id="576" r:id="rId58"/>
    <p:sldId id="577" r:id="rId59"/>
    <p:sldId id="578" r:id="rId60"/>
    <p:sldId id="579" r:id="rId61"/>
    <p:sldId id="580" r:id="rId62"/>
    <p:sldId id="581" r:id="rId63"/>
    <p:sldId id="582" r:id="rId64"/>
    <p:sldId id="583" r:id="rId65"/>
    <p:sldId id="584" r:id="rId66"/>
    <p:sldId id="586" r:id="rId67"/>
    <p:sldId id="587" r:id="rId68"/>
    <p:sldId id="588" r:id="rId69"/>
    <p:sldId id="589" r:id="rId70"/>
    <p:sldId id="590" r:id="rId71"/>
    <p:sldId id="592" r:id="rId7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5873"/>
    <a:srgbClr val="F7E9EC"/>
    <a:srgbClr val="E6B4C0"/>
    <a:srgbClr val="F3DDE2"/>
    <a:srgbClr val="DB91A3"/>
    <a:srgbClr val="EDCAD2"/>
    <a:srgbClr val="D6D9DA"/>
    <a:srgbClr val="DCECDD"/>
    <a:srgbClr val="008000"/>
    <a:srgbClr val="9DCB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42" autoAdjust="0"/>
    <p:restoredTop sz="98898" autoAdjust="0"/>
  </p:normalViewPr>
  <p:slideViewPr>
    <p:cSldViewPr>
      <p:cViewPr varScale="1">
        <p:scale>
          <a:sx n="112" d="100"/>
          <a:sy n="112" d="100"/>
        </p:scale>
        <p:origin x="90" y="1248"/>
      </p:cViewPr>
      <p:guideLst>
        <p:guide orient="horz" pos="119"/>
        <p:guide pos="1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24" d="100"/>
          <a:sy n="124" d="100"/>
        </p:scale>
        <p:origin x="4950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39FFA-0F1A-413B-9BFE-941741C2D487}" type="datetimeFigureOut">
              <a:rPr lang="ko-KR" altLang="en-US" smtClean="0"/>
              <a:pPr/>
              <a:t>2021-02-24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E8097-7531-4C06-8889-FE1FF848364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3296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6F0AE-7B65-4C9A-8729-A5D1A0ABE57B}" type="datetimeFigureOut">
              <a:rPr lang="ko-KR" altLang="en-US" smtClean="0"/>
              <a:pPr/>
              <a:t>2021-02-24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72E7F-A2FE-4F50-A94D-8786A43CAC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481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저작권">
    <p:bg>
      <p:bgPr>
        <a:solidFill>
          <a:srgbClr val="D6D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7">
            <a:extLst>
              <a:ext uri="{FF2B5EF4-FFF2-40B4-BE49-F238E27FC236}">
                <a16:creationId xmlns:a16="http://schemas.microsoft.com/office/drawing/2014/main" id="{86410889-0442-4231-B9CA-3F0F289FD4E1}"/>
              </a:ext>
            </a:extLst>
          </p:cNvPr>
          <p:cNvSpPr txBox="1"/>
          <p:nvPr userDrawn="1"/>
        </p:nvSpPr>
        <p:spPr>
          <a:xfrm>
            <a:off x="467544" y="5574217"/>
            <a:ext cx="7991475" cy="135421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1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000" dirty="0">
              <a:solidFill>
                <a:srgbClr val="222222"/>
              </a:solidFill>
              <a:ea typeface="맑은 고딕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맑은 고딕" pitchFamily="50" charset="-127"/>
              </a:rPr>
              <a:t>[</a:t>
            </a:r>
            <a:r>
              <a:rPr kumimoji="0" lang="ko-KR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맑은 고딕" pitchFamily="50" charset="-127"/>
              </a:rPr>
              <a:t>강의교안 이용 안내</a:t>
            </a:r>
            <a:r>
              <a:rPr kumimoji="0" lang="en-US" altLang="ko-KR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맑은 고딕" pitchFamily="50" charset="-127"/>
              </a:rPr>
              <a:t>]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000" dirty="0">
              <a:ea typeface="맑은 고딕" pitchFamily="50" charset="-127"/>
            </a:endParaRPr>
          </a:p>
          <a:p>
            <a:pPr marL="171450" indent="-1714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000" dirty="0">
                <a:ea typeface="맑은 고딕" pitchFamily="50" charset="-127"/>
              </a:rPr>
              <a:t>본 강의교안의 저작권은 </a:t>
            </a:r>
            <a:r>
              <a:rPr kumimoji="0" lang="ko-KR" altLang="en-US" sz="1000" dirty="0" err="1">
                <a:ea typeface="맑은 고딕" pitchFamily="50" charset="-127"/>
              </a:rPr>
              <a:t>한빛아카데미</a:t>
            </a:r>
            <a:r>
              <a:rPr kumimoji="0" lang="ko-KR" altLang="en-US" sz="1000" dirty="0">
                <a:ea typeface="맑은 고딕" pitchFamily="50" charset="-127"/>
              </a:rPr>
              <a:t>㈜에 있습니다</a:t>
            </a:r>
            <a:r>
              <a:rPr kumimoji="0" lang="en-US" altLang="ko-KR" sz="1000" dirty="0">
                <a:ea typeface="맑은 고딕" pitchFamily="50" charset="-127"/>
              </a:rPr>
              <a:t>.</a:t>
            </a:r>
            <a:r>
              <a:rPr kumimoji="0" lang="ko-KR" altLang="en-US" sz="1000" dirty="0">
                <a:solidFill>
                  <a:srgbClr val="222222"/>
                </a:solidFill>
                <a:ea typeface="맑은 고딕" pitchFamily="50" charset="-127"/>
              </a:rPr>
              <a:t> </a:t>
            </a:r>
            <a:endParaRPr kumimoji="0" lang="en-US" altLang="ko-KR" sz="1000" dirty="0">
              <a:solidFill>
                <a:srgbClr val="222222"/>
              </a:solidFill>
              <a:ea typeface="맑은 고딕" pitchFamily="50" charset="-127"/>
            </a:endParaRPr>
          </a:p>
          <a:p>
            <a:pPr marL="171450" indent="-1714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000" u="sng" dirty="0">
                <a:solidFill>
                  <a:srgbClr val="222222"/>
                </a:solidFill>
                <a:ea typeface="맑은 고딕" pitchFamily="50" charset="-127"/>
              </a:rPr>
              <a:t>이 자료를 무단으로 전제하거나 배포할 경우 저작권법 </a:t>
            </a:r>
            <a:r>
              <a:rPr kumimoji="0" lang="en-US" altLang="ko-KR" sz="1000" u="sng" dirty="0">
                <a:solidFill>
                  <a:srgbClr val="222222"/>
                </a:solidFill>
                <a:ea typeface="맑은 고딕" pitchFamily="50" charset="-127"/>
              </a:rPr>
              <a:t>136</a:t>
            </a:r>
            <a:r>
              <a:rPr kumimoji="0" lang="ko-KR" altLang="en-US" sz="1000" u="sng" dirty="0">
                <a:solidFill>
                  <a:srgbClr val="222222"/>
                </a:solidFill>
                <a:ea typeface="맑은 고딕" pitchFamily="50" charset="-127"/>
              </a:rPr>
              <a:t>조에 의거하여 최고 </a:t>
            </a:r>
            <a:r>
              <a:rPr kumimoji="0" lang="en-US" altLang="ko-KR" sz="1000" u="sng" dirty="0">
                <a:solidFill>
                  <a:srgbClr val="222222"/>
                </a:solidFill>
                <a:ea typeface="맑은 고딕" pitchFamily="50" charset="-127"/>
              </a:rPr>
              <a:t>5</a:t>
            </a:r>
            <a:r>
              <a:rPr kumimoji="0" lang="ko-KR" altLang="en-US" sz="1000" u="sng" dirty="0">
                <a:solidFill>
                  <a:srgbClr val="222222"/>
                </a:solidFill>
                <a:ea typeface="맑은 고딕" pitchFamily="50" charset="-127"/>
              </a:rPr>
              <a:t>년 이하의 징역</a:t>
            </a:r>
            <a:r>
              <a:rPr kumimoji="0" lang="en-US" altLang="ko-KR" sz="1000" u="sng" dirty="0">
                <a:solidFill>
                  <a:srgbClr val="222222"/>
                </a:solidFill>
                <a:ea typeface="맑은 고딕" pitchFamily="50" charset="-127"/>
              </a:rPr>
              <a:t> </a:t>
            </a:r>
            <a:r>
              <a:rPr kumimoji="0" lang="ko-KR" altLang="en-US" sz="1000" u="sng" dirty="0">
                <a:solidFill>
                  <a:srgbClr val="222222"/>
                </a:solidFill>
                <a:ea typeface="맑은 고딕" pitchFamily="50" charset="-127"/>
              </a:rPr>
              <a:t>또는 </a:t>
            </a:r>
            <a:r>
              <a:rPr kumimoji="0" lang="en-US" altLang="ko-KR" sz="1000" u="sng" dirty="0">
                <a:solidFill>
                  <a:srgbClr val="222222"/>
                </a:solidFill>
                <a:ea typeface="맑은 고딕" pitchFamily="50" charset="-127"/>
              </a:rPr>
              <a:t>5</a:t>
            </a:r>
            <a:r>
              <a:rPr kumimoji="0" lang="ko-KR" altLang="en-US" sz="1000" u="sng" dirty="0" err="1">
                <a:solidFill>
                  <a:srgbClr val="222222"/>
                </a:solidFill>
                <a:ea typeface="맑은 고딕" pitchFamily="50" charset="-127"/>
              </a:rPr>
              <a:t>천만원</a:t>
            </a:r>
            <a:r>
              <a:rPr kumimoji="0" lang="ko-KR" altLang="en-US" sz="1000" u="sng" dirty="0">
                <a:solidFill>
                  <a:srgbClr val="222222"/>
                </a:solidFill>
                <a:ea typeface="맑은 고딕" pitchFamily="50" charset="-127"/>
              </a:rPr>
              <a:t> 이하의 벌금에 처할 수 있고 이를 병과</a:t>
            </a:r>
            <a:r>
              <a:rPr kumimoji="0" lang="en-US" altLang="ko-KR" sz="1000" u="sng" dirty="0">
                <a:solidFill>
                  <a:srgbClr val="222222"/>
                </a:solidFill>
                <a:ea typeface="맑은 고딕" pitchFamily="50" charset="-127"/>
              </a:rPr>
              <a:t>(</a:t>
            </a:r>
            <a:r>
              <a:rPr kumimoji="0" lang="ko-KR" altLang="en-US" sz="1000" u="sng" dirty="0">
                <a:solidFill>
                  <a:srgbClr val="222222"/>
                </a:solidFill>
                <a:ea typeface="맑은 고딕" pitchFamily="50" charset="-127"/>
              </a:rPr>
              <a:t>倂科</a:t>
            </a:r>
            <a:r>
              <a:rPr kumimoji="0" lang="en-US" altLang="ko-KR" sz="1000" u="sng" dirty="0">
                <a:solidFill>
                  <a:srgbClr val="222222"/>
                </a:solidFill>
                <a:ea typeface="맑은 고딕" pitchFamily="50" charset="-127"/>
              </a:rPr>
              <a:t>)</a:t>
            </a:r>
            <a:r>
              <a:rPr kumimoji="0" lang="ko-KR" altLang="en-US" sz="1000" u="sng" dirty="0">
                <a:solidFill>
                  <a:srgbClr val="222222"/>
                </a:solidFill>
                <a:ea typeface="맑은 고딕" pitchFamily="50" charset="-127"/>
              </a:rPr>
              <a:t>할 수도 있습니다</a:t>
            </a:r>
            <a:r>
              <a:rPr kumimoji="0" lang="en-US" altLang="ko-KR" sz="1000" u="sng" dirty="0">
                <a:solidFill>
                  <a:srgbClr val="222222"/>
                </a:solidFill>
                <a:ea typeface="맑은 고딕" pitchFamily="50" charset="-127"/>
              </a:rPr>
              <a:t>.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dirty="0">
              <a:ea typeface="맑은 고딕" pitchFamily="50" charset="-127"/>
            </a:endParaRPr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683568" y="339772"/>
            <a:ext cx="6009316" cy="5185625"/>
            <a:chOff x="-31235" y="260648"/>
            <a:chExt cx="6009316" cy="5185625"/>
          </a:xfrm>
        </p:grpSpPr>
        <p:grpSp>
          <p:nvGrpSpPr>
            <p:cNvPr id="13" name="그룹 12"/>
            <p:cNvGrpSpPr/>
            <p:nvPr userDrawn="1"/>
          </p:nvGrpSpPr>
          <p:grpSpPr>
            <a:xfrm>
              <a:off x="-31235" y="260648"/>
              <a:ext cx="5897935" cy="5185625"/>
              <a:chOff x="-31235" y="260648"/>
              <a:chExt cx="5897935" cy="5185625"/>
            </a:xfrm>
          </p:grpSpPr>
          <p:pic>
            <p:nvPicPr>
              <p:cNvPr id="16" name="그림 15"/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-31235" y="260648"/>
                <a:ext cx="5897935" cy="5185624"/>
              </a:xfrm>
              <a:prstGeom prst="rect">
                <a:avLst/>
              </a:prstGeom>
            </p:spPr>
          </p:pic>
          <p:pic>
            <p:nvPicPr>
              <p:cNvPr id="17" name="그림 16"/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4893169" y="4869161"/>
                <a:ext cx="686943" cy="577112"/>
              </a:xfrm>
              <a:prstGeom prst="rect">
                <a:avLst/>
              </a:prstGeom>
            </p:spPr>
          </p:pic>
          <p:pic>
            <p:nvPicPr>
              <p:cNvPr id="20" name="그림 19"/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4739074" y="5187357"/>
                <a:ext cx="308189" cy="258915"/>
              </a:xfrm>
              <a:prstGeom prst="rect">
                <a:avLst/>
              </a:prstGeom>
            </p:spPr>
          </p:pic>
        </p:grpSp>
        <p:pic>
          <p:nvPicPr>
            <p:cNvPr id="14" name="그림 13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5866614" y="274787"/>
              <a:ext cx="111467" cy="158400"/>
            </a:xfrm>
            <a:prstGeom prst="rect">
              <a:avLst/>
            </a:prstGeom>
          </p:spPr>
        </p:pic>
      </p:grpSp>
      <p:grpSp>
        <p:nvGrpSpPr>
          <p:cNvPr id="21" name="그룹 20"/>
          <p:cNvGrpSpPr/>
          <p:nvPr userDrawn="1"/>
        </p:nvGrpSpPr>
        <p:grpSpPr>
          <a:xfrm>
            <a:off x="6266935" y="836712"/>
            <a:ext cx="2525558" cy="2257027"/>
            <a:chOff x="5070778" y="1749430"/>
            <a:chExt cx="2525558" cy="2257027"/>
          </a:xfrm>
        </p:grpSpPr>
        <p:pic>
          <p:nvPicPr>
            <p:cNvPr id="22" name="그림 21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5148064" y="1749430"/>
              <a:ext cx="2448272" cy="2153419"/>
            </a:xfrm>
            <a:prstGeom prst="rect">
              <a:avLst/>
            </a:prstGeom>
          </p:spPr>
        </p:pic>
        <p:pic>
          <p:nvPicPr>
            <p:cNvPr id="23" name="그림 2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5070778" y="3226574"/>
              <a:ext cx="365317" cy="7798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6612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표지">
    <p:bg>
      <p:bgPr>
        <a:solidFill>
          <a:srgbClr val="D6D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 userDrawn="1"/>
        </p:nvGrpSpPr>
        <p:grpSpPr>
          <a:xfrm>
            <a:off x="683568" y="339772"/>
            <a:ext cx="6009316" cy="5185625"/>
            <a:chOff x="-31235" y="260648"/>
            <a:chExt cx="6009316" cy="5185625"/>
          </a:xfrm>
        </p:grpSpPr>
        <p:grpSp>
          <p:nvGrpSpPr>
            <p:cNvPr id="16" name="그룹 15"/>
            <p:cNvGrpSpPr/>
            <p:nvPr userDrawn="1"/>
          </p:nvGrpSpPr>
          <p:grpSpPr>
            <a:xfrm>
              <a:off x="-31235" y="260648"/>
              <a:ext cx="5897935" cy="5185625"/>
              <a:chOff x="-31235" y="260648"/>
              <a:chExt cx="5897935" cy="5185625"/>
            </a:xfrm>
          </p:grpSpPr>
          <p:pic>
            <p:nvPicPr>
              <p:cNvPr id="19" name="그림 18"/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-31235" y="260648"/>
                <a:ext cx="5897935" cy="5185624"/>
              </a:xfrm>
              <a:prstGeom prst="rect">
                <a:avLst/>
              </a:prstGeom>
            </p:spPr>
          </p:pic>
          <p:pic>
            <p:nvPicPr>
              <p:cNvPr id="20" name="그림 19"/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4893169" y="4869161"/>
                <a:ext cx="686943" cy="577112"/>
              </a:xfrm>
              <a:prstGeom prst="rect">
                <a:avLst/>
              </a:prstGeom>
            </p:spPr>
          </p:pic>
          <p:pic>
            <p:nvPicPr>
              <p:cNvPr id="21" name="그림 20"/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4739074" y="5187357"/>
                <a:ext cx="308189" cy="258915"/>
              </a:xfrm>
              <a:prstGeom prst="rect">
                <a:avLst/>
              </a:prstGeom>
            </p:spPr>
          </p:pic>
        </p:grpSp>
        <p:pic>
          <p:nvPicPr>
            <p:cNvPr id="17" name="그림 1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5866614" y="274787"/>
              <a:ext cx="111467" cy="158400"/>
            </a:xfrm>
            <a:prstGeom prst="rect">
              <a:avLst/>
            </a:prstGeom>
          </p:spPr>
        </p:pic>
      </p:grpSp>
      <p:grpSp>
        <p:nvGrpSpPr>
          <p:cNvPr id="22" name="그룹 21"/>
          <p:cNvGrpSpPr/>
          <p:nvPr userDrawn="1"/>
        </p:nvGrpSpPr>
        <p:grpSpPr>
          <a:xfrm>
            <a:off x="6266935" y="836712"/>
            <a:ext cx="2525558" cy="2257027"/>
            <a:chOff x="5070778" y="1749430"/>
            <a:chExt cx="2525558" cy="2257027"/>
          </a:xfrm>
        </p:grpSpPr>
        <p:pic>
          <p:nvPicPr>
            <p:cNvPr id="27" name="그림 26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5148064" y="1749430"/>
              <a:ext cx="2448272" cy="2153419"/>
            </a:xfrm>
            <a:prstGeom prst="rect">
              <a:avLst/>
            </a:prstGeom>
          </p:spPr>
        </p:pic>
        <p:pic>
          <p:nvPicPr>
            <p:cNvPr id="28" name="그림 27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5070778" y="3226574"/>
              <a:ext cx="365317" cy="779883"/>
            </a:xfrm>
            <a:prstGeom prst="rect">
              <a:avLst/>
            </a:prstGeom>
          </p:spPr>
        </p:pic>
      </p:grpSp>
      <p:sp>
        <p:nvSpPr>
          <p:cNvPr id="34" name="제목 1"/>
          <p:cNvSpPr txBox="1">
            <a:spLocks/>
          </p:cNvSpPr>
          <p:nvPr userDrawn="1"/>
        </p:nvSpPr>
        <p:spPr>
          <a:xfrm>
            <a:off x="2195736" y="5843592"/>
            <a:ext cx="694826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id="{86410889-0442-4231-B9CA-3F0F289FD4E1}"/>
              </a:ext>
            </a:extLst>
          </p:cNvPr>
          <p:cNvSpPr txBox="1"/>
          <p:nvPr userDrawn="1"/>
        </p:nvSpPr>
        <p:spPr>
          <a:xfrm>
            <a:off x="619945" y="5921929"/>
            <a:ext cx="223224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300" b="1" dirty="0" smtClean="0">
                <a:latin typeface="+mn-lt"/>
                <a:ea typeface="맑은 고딕" pitchFamily="50" charset="-127"/>
              </a:rPr>
              <a:t>Chapter.</a:t>
            </a:r>
            <a:endParaRPr kumimoji="0" lang="en-US" altLang="ko-KR" sz="3300" b="1" dirty="0">
              <a:latin typeface="+mn-lt"/>
              <a:ea typeface="맑은 고딕" pitchFamily="50" charset="-127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dirty="0">
              <a:ea typeface="맑은 고딕" pitchFamily="50" charset="-127"/>
            </a:endParaRPr>
          </a:p>
        </p:txBody>
      </p:sp>
      <p:sp>
        <p:nvSpPr>
          <p:cNvPr id="37" name="제목 1"/>
          <p:cNvSpPr>
            <a:spLocks noGrp="1"/>
          </p:cNvSpPr>
          <p:nvPr>
            <p:ph type="title"/>
          </p:nvPr>
        </p:nvSpPr>
        <p:spPr>
          <a:xfrm>
            <a:off x="2348136" y="5995992"/>
            <a:ext cx="6948264" cy="548680"/>
          </a:xfrm>
        </p:spPr>
        <p:txBody>
          <a:bodyPr>
            <a:noAutofit/>
          </a:bodyPr>
          <a:lstStyle>
            <a:lvl1pPr algn="l">
              <a:defRPr sz="3000" b="1"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0899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E3CF5919-2159-49EA-BD93-9C45B1EAA96D}"/>
              </a:ext>
            </a:extLst>
          </p:cNvPr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목차</a:t>
            </a:r>
          </a:p>
        </p:txBody>
      </p:sp>
      <p:sp>
        <p:nvSpPr>
          <p:cNvPr id="11" name="텍스트 개체 틀 6">
            <a:extLst>
              <a:ext uri="{FF2B5EF4-FFF2-40B4-BE49-F238E27FC236}">
                <a16:creationId xmlns:a16="http://schemas.microsoft.com/office/drawing/2014/main" id="{19267DBF-3997-413A-AA3B-689DC6FEAD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0" indent="0">
              <a:lnSpc>
                <a:spcPct val="200000"/>
              </a:lnSpc>
              <a:buClrTx/>
              <a:buFontTx/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5" name="모서리가 둥근 직사각형 8">
            <a:extLst>
              <a:ext uri="{FF2B5EF4-FFF2-40B4-BE49-F238E27FC236}">
                <a16:creationId xmlns:a16="http://schemas.microsoft.com/office/drawing/2014/main" id="{D5A7425B-5701-466C-9ACB-C13BC673C0FC}"/>
              </a:ext>
            </a:extLst>
          </p:cNvPr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EDCA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2408615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학습목표</a:t>
            </a:r>
          </a:p>
        </p:txBody>
      </p:sp>
      <p:sp>
        <p:nvSpPr>
          <p:cNvPr id="7" name="모서리가 둥근 직사각형 8">
            <a:extLst>
              <a:ext uri="{FF2B5EF4-FFF2-40B4-BE49-F238E27FC236}">
                <a16:creationId xmlns:a16="http://schemas.microsoft.com/office/drawing/2014/main" id="{D5A7425B-5701-466C-9ACB-C13BC673C0FC}"/>
              </a:ext>
            </a:extLst>
          </p:cNvPr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EDCA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11" name="텍스트 개체 틀 6">
            <a:extLst>
              <a:ext uri="{FF2B5EF4-FFF2-40B4-BE49-F238E27FC236}">
                <a16:creationId xmlns:a16="http://schemas.microsoft.com/office/drawing/2014/main" id="{19267DBF-3997-413A-AA3B-689DC6FEAD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>
            <a:normAutofit/>
          </a:bodyPr>
          <a:lstStyle>
            <a:lvl1pPr marL="342900" indent="-342900">
              <a:lnSpc>
                <a:spcPct val="200000"/>
              </a:lnSpc>
              <a:buClr>
                <a:srgbClr val="EDCAD2"/>
              </a:buClr>
              <a:buFont typeface="Arial" panose="020B0604020202020204" pitchFamily="34" charset="0"/>
              <a:buChar char="•"/>
              <a:defRPr sz="1600" b="1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3980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B4BA2D2-52F7-42A1-8EBA-192AEC431238}"/>
              </a:ext>
            </a:extLst>
          </p:cNvPr>
          <p:cNvGrpSpPr/>
          <p:nvPr userDrawn="1"/>
        </p:nvGrpSpPr>
        <p:grpSpPr>
          <a:xfrm>
            <a:off x="0" y="907564"/>
            <a:ext cx="9144000" cy="487"/>
            <a:chOff x="0" y="907564"/>
            <a:chExt cx="9144000" cy="487"/>
          </a:xfrm>
        </p:grpSpPr>
        <p:cxnSp>
          <p:nvCxnSpPr>
            <p:cNvPr id="15" name="직선 연결선 14"/>
            <p:cNvCxnSpPr/>
            <p:nvPr userDrawn="1"/>
          </p:nvCxnSpPr>
          <p:spPr>
            <a:xfrm>
              <a:off x="2124744" y="908051"/>
              <a:ext cx="2339752" cy="0"/>
            </a:xfrm>
            <a:prstGeom prst="line">
              <a:avLst/>
            </a:prstGeom>
            <a:ln w="76200">
              <a:solidFill>
                <a:srgbClr val="E6B4C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 userDrawn="1"/>
          </p:nvCxnSpPr>
          <p:spPr>
            <a:xfrm>
              <a:off x="4464496" y="908051"/>
              <a:ext cx="2339752" cy="0"/>
            </a:xfrm>
            <a:prstGeom prst="line">
              <a:avLst/>
            </a:prstGeom>
            <a:ln w="76200">
              <a:solidFill>
                <a:srgbClr val="EDCAD2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 userDrawn="1"/>
          </p:nvCxnSpPr>
          <p:spPr>
            <a:xfrm>
              <a:off x="6804248" y="907564"/>
              <a:ext cx="2339752" cy="0"/>
            </a:xfrm>
            <a:prstGeom prst="line">
              <a:avLst/>
            </a:prstGeom>
            <a:ln w="76200">
              <a:solidFill>
                <a:srgbClr val="F3DDE2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 userDrawn="1"/>
          </p:nvCxnSpPr>
          <p:spPr>
            <a:xfrm>
              <a:off x="0" y="908051"/>
              <a:ext cx="2339752" cy="0"/>
            </a:xfrm>
            <a:prstGeom prst="line">
              <a:avLst/>
            </a:prstGeom>
            <a:ln w="76200">
              <a:solidFill>
                <a:srgbClr val="DB91A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08912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E1A7B5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rgbClr val="EDCAD2"/>
              </a:buClr>
              <a:buFont typeface="Wingdings" pitchFamily="2" charset="2"/>
              <a:buChar char="§"/>
              <a:defRPr sz="1400"/>
            </a:lvl2pPr>
            <a:lvl3pPr marL="628650" indent="-180975">
              <a:spcAft>
                <a:spcPts val="300"/>
              </a:spcAft>
              <a:buClr>
                <a:srgbClr val="EDCAD2"/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Clr>
                <a:srgbClr val="EDCAD2"/>
              </a:buClr>
              <a:buSzPct val="96000"/>
              <a:defRPr sz="1050"/>
            </a:lvl4pPr>
            <a:lvl5pPr marL="990600" indent="-180975">
              <a:buClr>
                <a:srgbClr val="EDCAD2"/>
              </a:buClr>
              <a:defRPr sz="9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961653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B4BA2D2-52F7-42A1-8EBA-192AEC431238}"/>
              </a:ext>
            </a:extLst>
          </p:cNvPr>
          <p:cNvGrpSpPr/>
          <p:nvPr userDrawn="1"/>
        </p:nvGrpSpPr>
        <p:grpSpPr>
          <a:xfrm>
            <a:off x="0" y="907564"/>
            <a:ext cx="9144000" cy="487"/>
            <a:chOff x="0" y="907564"/>
            <a:chExt cx="9144000" cy="487"/>
          </a:xfrm>
        </p:grpSpPr>
        <p:cxnSp>
          <p:nvCxnSpPr>
            <p:cNvPr id="13" name="직선 연결선 12"/>
            <p:cNvCxnSpPr/>
            <p:nvPr userDrawn="1"/>
          </p:nvCxnSpPr>
          <p:spPr>
            <a:xfrm>
              <a:off x="2124744" y="908051"/>
              <a:ext cx="2339752" cy="0"/>
            </a:xfrm>
            <a:prstGeom prst="line">
              <a:avLst/>
            </a:prstGeom>
            <a:ln w="76200">
              <a:solidFill>
                <a:srgbClr val="E6B4C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 userDrawn="1"/>
          </p:nvCxnSpPr>
          <p:spPr>
            <a:xfrm>
              <a:off x="4464496" y="908051"/>
              <a:ext cx="2339752" cy="0"/>
            </a:xfrm>
            <a:prstGeom prst="line">
              <a:avLst/>
            </a:prstGeom>
            <a:ln w="76200">
              <a:solidFill>
                <a:srgbClr val="EDCAD2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 userDrawn="1"/>
          </p:nvCxnSpPr>
          <p:spPr>
            <a:xfrm>
              <a:off x="6804248" y="907564"/>
              <a:ext cx="2339752" cy="0"/>
            </a:xfrm>
            <a:prstGeom prst="line">
              <a:avLst/>
            </a:prstGeom>
            <a:ln w="76200">
              <a:solidFill>
                <a:srgbClr val="F3DDE2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 userDrawn="1"/>
          </p:nvCxnSpPr>
          <p:spPr>
            <a:xfrm>
              <a:off x="0" y="908051"/>
              <a:ext cx="2339752" cy="0"/>
            </a:xfrm>
            <a:prstGeom prst="line">
              <a:avLst/>
            </a:prstGeom>
            <a:ln w="76200">
              <a:solidFill>
                <a:srgbClr val="DB91A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1719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9">
            <a:extLst>
              <a:ext uri="{FF2B5EF4-FFF2-40B4-BE49-F238E27FC236}">
                <a16:creationId xmlns:a16="http://schemas.microsoft.com/office/drawing/2014/main" id="{A7D7FFC2-62D3-4BE0-8529-F40C1ADBD02D}"/>
              </a:ext>
            </a:extLst>
          </p:cNvPr>
          <p:cNvSpPr txBox="1"/>
          <p:nvPr userDrawn="1"/>
        </p:nvSpPr>
        <p:spPr>
          <a:xfrm>
            <a:off x="1475656" y="2767280"/>
            <a:ext cx="66967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Thank you</a:t>
            </a:r>
            <a:endParaRPr kumimoji="0" lang="ko-KR" altLang="en-US" sz="8000" spc="-1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  <a:cs typeface="Tahoma" pitchFamily="34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692FB73-1543-4900-9730-CEBEC129D71A}"/>
              </a:ext>
            </a:extLst>
          </p:cNvPr>
          <p:cNvCxnSpPr>
            <a:cxnSpLocks/>
          </p:cNvCxnSpPr>
          <p:nvPr userDrawn="1"/>
        </p:nvCxnSpPr>
        <p:spPr>
          <a:xfrm>
            <a:off x="1619672" y="4221088"/>
            <a:ext cx="5472608" cy="0"/>
          </a:xfrm>
          <a:prstGeom prst="line">
            <a:avLst/>
          </a:prstGeom>
          <a:ln w="19050">
            <a:solidFill>
              <a:srgbClr val="C858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38D78D7-6975-4922-977D-2566434936B4}"/>
              </a:ext>
            </a:extLst>
          </p:cNvPr>
          <p:cNvCxnSpPr>
            <a:cxnSpLocks/>
          </p:cNvCxnSpPr>
          <p:nvPr userDrawn="1"/>
        </p:nvCxnSpPr>
        <p:spPr>
          <a:xfrm>
            <a:off x="1691680" y="2708920"/>
            <a:ext cx="5472608" cy="0"/>
          </a:xfrm>
          <a:prstGeom prst="line">
            <a:avLst/>
          </a:prstGeom>
          <a:ln w="19050">
            <a:solidFill>
              <a:srgbClr val="C858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7506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C0A1B12-73D9-4125-9F37-486C7D858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0A3984-9083-4FBC-B8EE-CDD4F4863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E99858-BAA5-4F23-A77E-A4AD7CC423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2021-02-24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EEE5B6-7F07-46DF-A7A9-0C79F27662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EE8739-597E-41C7-8A2F-4E5EE0B4EF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1360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09" r:id="rId2"/>
    <p:sldLayoutId id="2147483701" r:id="rId3"/>
    <p:sldLayoutId id="2147483702" r:id="rId4"/>
    <p:sldLayoutId id="2147483703" r:id="rId5"/>
    <p:sldLayoutId id="2147483685" r:id="rId6"/>
    <p:sldLayoutId id="2147483711" r:id="rId7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7.JPG"/><Relationship Id="rId4" Type="http://schemas.openxmlformats.org/officeDocument/2006/relationships/image" Target="../media/image4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7718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</a:t>
            </a:r>
            <a:r>
              <a:rPr lang="ko-KR" altLang="en-US" dirty="0"/>
              <a:t>데이터베이스 시스템의 발전</a:t>
            </a:r>
          </a:p>
        </p:txBody>
      </p:sp>
    </p:spTree>
    <p:extLst>
      <p:ext uri="{BB962C8B-B14F-4D97-AF65-F5344CB8AC3E}">
        <p14:creationId xmlns:p14="http://schemas.microsoft.com/office/powerpoint/2010/main" val="3179322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163D645-F8FB-4251-B666-5DF3ED3D38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관계 데이터 모델의 개념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무결성 제약조건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관계대수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1927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sz="1600" dirty="0"/>
              <a:t>관계 데이터 모델의 개념을 이해한다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관계 데이터 모델의 제약조건을 알아본다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관계 데이터 모델의 연산인 </a:t>
            </a:r>
            <a:r>
              <a:rPr lang="ko-KR" altLang="en-US" sz="1600" dirty="0" err="1"/>
              <a:t>관계대수의</a:t>
            </a:r>
            <a:r>
              <a:rPr lang="ko-KR" altLang="en-US" sz="1600" dirty="0"/>
              <a:t> 종류와 작성법을 알아본다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0368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01. </a:t>
            </a:r>
            <a:r>
              <a:rPr lang="ko-KR" altLang="en-US" dirty="0"/>
              <a:t>관계 데이터 모델의 개념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10D54A-AD25-4D67-989D-B8332799A68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릴레이션</a:t>
            </a:r>
            <a:endParaRPr lang="en-US" altLang="ko-KR" dirty="0"/>
          </a:p>
          <a:p>
            <a:r>
              <a:rPr lang="ko-KR" altLang="en-US" dirty="0"/>
              <a:t>릴레이션 스키마와 인스턴스</a:t>
            </a:r>
            <a:endParaRPr lang="en-US" altLang="ko-KR" dirty="0"/>
          </a:p>
          <a:p>
            <a:r>
              <a:rPr lang="ko-KR" altLang="en-US" dirty="0"/>
              <a:t>릴레이션의 특징</a:t>
            </a:r>
            <a:endParaRPr lang="en-US" altLang="ko-KR" dirty="0"/>
          </a:p>
          <a:p>
            <a:r>
              <a:rPr lang="ko-KR" altLang="en-US" dirty="0"/>
              <a:t>관계 데이터 모델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4416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1.1 </a:t>
            </a:r>
            <a:r>
              <a:rPr lang="ko-KR" altLang="en-US" smtClean="0"/>
              <a:t>릴레이션의 개념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10D54A-AD25-4D67-989D-B8332799A68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smtClean="0"/>
              <a:t>릴레이션</a:t>
            </a:r>
            <a:r>
              <a:rPr lang="en-US" altLang="ko-KR" smtClean="0"/>
              <a:t>(relation) : </a:t>
            </a:r>
            <a:r>
              <a:rPr lang="ko-KR" altLang="en-US" smtClean="0"/>
              <a:t>행과 열로 구성된 테이블</a:t>
            </a:r>
            <a:endParaRPr lang="en-US" altLang="ko-KR" smtClean="0"/>
          </a:p>
          <a:p>
            <a:endParaRPr lang="ko-KR" altLang="en-US" dirty="0"/>
          </a:p>
        </p:txBody>
      </p:sp>
      <p:pic>
        <p:nvPicPr>
          <p:cNvPr id="5" name="그림 4" descr="스크린샷이(가) 표시된 사진&#10;&#10;자동 생성된 설명">
            <a:extLst>
              <a:ext uri="{FF2B5EF4-FFF2-40B4-BE49-F238E27FC236}">
                <a16:creationId xmlns:a16="http://schemas.microsoft.com/office/drawing/2014/main" id="{E1E5A4F1-FA19-42B4-9F9C-8ED3C5810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890" y="1700808"/>
            <a:ext cx="7012220" cy="331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525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1.1 </a:t>
            </a:r>
            <a:r>
              <a:rPr lang="ko-KR" altLang="en-US" smtClean="0"/>
              <a:t>릴레이션의 개념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10D54A-AD25-4D67-989D-B8332799A68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 smtClean="0"/>
              <a:t>릴레이션이란</a:t>
            </a:r>
            <a:r>
              <a:rPr lang="en-US" altLang="ko-KR" dirty="0" smtClean="0"/>
              <a:t>?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 lvl="2"/>
            <a:r>
              <a:rPr lang="ko-KR" altLang="en-US" dirty="0" smtClean="0"/>
              <a:t>첫 번째 행</a:t>
            </a:r>
            <a:r>
              <a:rPr lang="en-US" altLang="ko-KR" dirty="0" smtClean="0"/>
              <a:t>(1, </a:t>
            </a:r>
            <a:r>
              <a:rPr lang="ko-KR" altLang="en-US" dirty="0" smtClean="0"/>
              <a:t>축구의 역사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굿스포츠</a:t>
            </a:r>
            <a:r>
              <a:rPr lang="en-US" altLang="ko-KR" dirty="0" smtClean="0"/>
              <a:t>, 7000)</a:t>
            </a:r>
            <a:r>
              <a:rPr lang="ko-KR" altLang="en-US" dirty="0" smtClean="0"/>
              <a:t>의 경우 네 개의 집합에서 각각 원소 한 개씩 선택하여 만들어진 것으로 이 원소들이 관계</a:t>
            </a:r>
            <a:r>
              <a:rPr lang="en-US" altLang="ko-KR" dirty="0" smtClean="0"/>
              <a:t>(relationship)</a:t>
            </a:r>
            <a:r>
              <a:rPr lang="ko-KR" altLang="en-US" dirty="0" smtClean="0"/>
              <a:t>를 맺음</a:t>
            </a:r>
            <a:endParaRPr lang="en-US" altLang="ko-KR" dirty="0" smtClean="0"/>
          </a:p>
          <a:p>
            <a:pPr lvl="2"/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89829-4E60-491A-9AB6-037BA379BEAE}"/>
              </a:ext>
            </a:extLst>
          </p:cNvPr>
          <p:cNvSpPr txBox="1"/>
          <p:nvPr/>
        </p:nvSpPr>
        <p:spPr>
          <a:xfrm>
            <a:off x="1634627" y="4046547"/>
            <a:ext cx="6490066" cy="1164614"/>
          </a:xfrm>
          <a:prstGeom prst="rect">
            <a:avLst/>
          </a:prstGeom>
          <a:solidFill>
            <a:srgbClr val="E6B4C0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도서번호 	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= {1,2,3,4,5}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도서이름 	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= {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축구의 역사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축구 아는 여자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축구의 이해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골프 바이블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피겨 교본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출판사 	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= {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굿스포츠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나무수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대한미디어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가격 	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= {7000, 13000, 22000, 35000, 8000}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105" y="1707420"/>
            <a:ext cx="6891114" cy="204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903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1.1 </a:t>
            </a:r>
            <a:r>
              <a:rPr lang="ko-KR" altLang="en-US" smtClean="0"/>
              <a:t>릴레이션의 개념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10D54A-AD25-4D67-989D-B8332799A68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 smtClean="0"/>
              <a:t>관계</a:t>
            </a:r>
            <a:r>
              <a:rPr lang="en-US" altLang="ko-KR" dirty="0" smtClean="0"/>
              <a:t>(relationship)</a:t>
            </a:r>
          </a:p>
          <a:p>
            <a:pPr marL="609600" lvl="1" indent="-342900">
              <a:buClr>
                <a:srgbClr val="C85873"/>
              </a:buClr>
              <a:buFont typeface="+mj-ea"/>
              <a:buAutoNum type="circleNumDbPlain"/>
            </a:pPr>
            <a:r>
              <a:rPr lang="ko-KR" altLang="en-US" dirty="0" err="1" smtClean="0"/>
              <a:t>릴레이션</a:t>
            </a:r>
            <a:r>
              <a:rPr lang="ko-KR" altLang="en-US" dirty="0" smtClean="0"/>
              <a:t> 내에서 생성되는 관계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릴레이션</a:t>
            </a:r>
            <a:r>
              <a:rPr lang="ko-KR" altLang="en-US" dirty="0" smtClean="0"/>
              <a:t> 내 데이터들의 관계</a:t>
            </a:r>
          </a:p>
          <a:p>
            <a:pPr marL="609600" lvl="1" indent="-342900">
              <a:buClr>
                <a:srgbClr val="C85873"/>
              </a:buClr>
              <a:buFont typeface="+mj-ea"/>
              <a:buAutoNum type="circleNumDbPlain"/>
            </a:pPr>
            <a:r>
              <a:rPr lang="ko-KR" altLang="en-US" dirty="0" err="1" smtClean="0"/>
              <a:t>릴레이션</a:t>
            </a:r>
            <a:r>
              <a:rPr lang="ko-KR" altLang="en-US" dirty="0" smtClean="0"/>
              <a:t> 간에 생성되는 관계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릴레이션</a:t>
            </a:r>
            <a:r>
              <a:rPr lang="ko-KR" altLang="en-US" dirty="0" smtClean="0"/>
              <a:t> 간의 관계 </a:t>
            </a:r>
          </a:p>
          <a:p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396294"/>
            <a:ext cx="380047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073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1.2 </a:t>
            </a:r>
            <a:r>
              <a:rPr lang="ko-KR" altLang="en-US" smtClean="0"/>
              <a:t>릴레이션 스키마와 인스턴스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0B3D989-C185-49A8-967D-71618E5A2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463" y="2012699"/>
            <a:ext cx="6717074" cy="283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17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1.2 </a:t>
            </a:r>
            <a:r>
              <a:rPr lang="ko-KR" altLang="en-US" smtClean="0"/>
              <a:t>릴레이션 스키마와 인스턴스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10D54A-AD25-4D67-989D-B8332799A68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smtClean="0"/>
              <a:t>릴레이션 스키마</a:t>
            </a:r>
          </a:p>
          <a:p>
            <a:pPr lvl="1"/>
            <a:r>
              <a:rPr lang="ko-KR" altLang="en-US" smtClean="0"/>
              <a:t>속성</a:t>
            </a:r>
            <a:r>
              <a:rPr lang="en-US" altLang="ko-KR" smtClean="0"/>
              <a:t>(attribute) : </a:t>
            </a:r>
            <a:r>
              <a:rPr lang="ko-KR" altLang="en-US" smtClean="0"/>
              <a:t>릴레이션 스키마의 열</a:t>
            </a:r>
          </a:p>
          <a:p>
            <a:pPr lvl="1"/>
            <a:r>
              <a:rPr lang="ko-KR" altLang="en-US" smtClean="0"/>
              <a:t>도메인</a:t>
            </a:r>
            <a:r>
              <a:rPr lang="en-US" altLang="ko-KR" smtClean="0"/>
              <a:t>(domain) : </a:t>
            </a:r>
            <a:r>
              <a:rPr lang="ko-KR" altLang="en-US" smtClean="0"/>
              <a:t>속성이 가질 수 있는 값의 집합</a:t>
            </a:r>
          </a:p>
          <a:p>
            <a:pPr lvl="1"/>
            <a:r>
              <a:rPr lang="ko-KR" altLang="en-US" smtClean="0"/>
              <a:t>차수</a:t>
            </a:r>
            <a:r>
              <a:rPr lang="en-US" altLang="ko-KR" smtClean="0"/>
              <a:t>(degree) : </a:t>
            </a:r>
            <a:r>
              <a:rPr lang="ko-KR" altLang="en-US" smtClean="0"/>
              <a:t>속성의 개수</a:t>
            </a:r>
          </a:p>
          <a:p>
            <a:endParaRPr lang="ko-KR" altLang="en-US" smtClean="0"/>
          </a:p>
          <a:p>
            <a:r>
              <a:rPr lang="ko-KR" altLang="en-US" smtClean="0"/>
              <a:t>스키마의 표현</a:t>
            </a:r>
          </a:p>
          <a:p>
            <a:pPr lvl="1"/>
            <a:r>
              <a:rPr lang="ko-KR" altLang="en-US" smtClean="0"/>
              <a:t>릴레이션 이름</a:t>
            </a:r>
            <a:r>
              <a:rPr lang="en-US" altLang="ko-KR" smtClean="0"/>
              <a:t>(</a:t>
            </a:r>
            <a:r>
              <a:rPr lang="ko-KR" altLang="en-US" smtClean="0"/>
              <a:t>속성</a:t>
            </a:r>
            <a:r>
              <a:rPr lang="en-US" altLang="ko-KR" smtClean="0"/>
              <a:t>1 : </a:t>
            </a:r>
            <a:r>
              <a:rPr lang="ko-KR" altLang="en-US" smtClean="0"/>
              <a:t>도메인</a:t>
            </a:r>
            <a:r>
              <a:rPr lang="en-US" altLang="ko-KR" smtClean="0"/>
              <a:t>1, </a:t>
            </a:r>
            <a:r>
              <a:rPr lang="ko-KR" altLang="en-US" smtClean="0"/>
              <a:t>속성</a:t>
            </a:r>
            <a:r>
              <a:rPr lang="en-US" altLang="ko-KR" smtClean="0"/>
              <a:t>2 : </a:t>
            </a:r>
            <a:r>
              <a:rPr lang="ko-KR" altLang="en-US" smtClean="0"/>
              <a:t>도메인</a:t>
            </a:r>
            <a:r>
              <a:rPr lang="en-US" altLang="ko-KR" smtClean="0"/>
              <a:t>2, </a:t>
            </a:r>
            <a:r>
              <a:rPr lang="ko-KR" altLang="en-US" smtClean="0"/>
              <a:t>속성</a:t>
            </a:r>
            <a:r>
              <a:rPr lang="en-US" altLang="ko-KR" smtClean="0"/>
              <a:t>3 : </a:t>
            </a:r>
            <a:r>
              <a:rPr lang="ko-KR" altLang="en-US" smtClean="0"/>
              <a:t>도메인</a:t>
            </a:r>
            <a:r>
              <a:rPr lang="en-US" altLang="ko-KR" smtClean="0"/>
              <a:t>3 …)</a:t>
            </a:r>
          </a:p>
          <a:p>
            <a:pPr lvl="2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도서 </a:t>
            </a:r>
            <a:r>
              <a:rPr lang="en-US" altLang="ko-KR" smtClean="0"/>
              <a:t>(</a:t>
            </a:r>
            <a:r>
              <a:rPr lang="ko-KR" altLang="en-US" smtClean="0"/>
              <a:t>도서번호</a:t>
            </a:r>
            <a:r>
              <a:rPr lang="en-US" altLang="ko-KR" smtClean="0"/>
              <a:t>, </a:t>
            </a:r>
            <a:r>
              <a:rPr lang="ko-KR" altLang="en-US" smtClean="0"/>
              <a:t>도서이름</a:t>
            </a:r>
            <a:r>
              <a:rPr lang="en-US" altLang="ko-KR" smtClean="0"/>
              <a:t>, </a:t>
            </a:r>
            <a:r>
              <a:rPr lang="ko-KR" altLang="en-US" smtClean="0"/>
              <a:t>출판사</a:t>
            </a:r>
            <a:r>
              <a:rPr lang="en-US" altLang="ko-KR" smtClean="0"/>
              <a:t>, </a:t>
            </a:r>
            <a:r>
              <a:rPr lang="ko-KR" altLang="en-US" smtClean="0"/>
              <a:t>가격</a:t>
            </a:r>
            <a:r>
              <a:rPr lang="en-US" altLang="ko-KR" smtClean="0"/>
              <a:t>) </a:t>
            </a:r>
          </a:p>
          <a:p>
            <a:pPr lvl="2"/>
            <a:r>
              <a:rPr lang="ko-KR" altLang="en-US" smtClean="0"/>
              <a:t>도서 </a:t>
            </a:r>
            <a:r>
              <a:rPr lang="en-US" altLang="ko-KR" smtClean="0"/>
              <a:t>(</a:t>
            </a:r>
            <a:r>
              <a:rPr lang="ko-KR" altLang="en-US" smtClean="0"/>
              <a:t>도서번호</a:t>
            </a:r>
            <a:r>
              <a:rPr lang="en-US" altLang="ko-KR" smtClean="0"/>
              <a:t>:integer, </a:t>
            </a:r>
            <a:r>
              <a:rPr lang="ko-KR" altLang="en-US" smtClean="0"/>
              <a:t>도서이름</a:t>
            </a:r>
            <a:r>
              <a:rPr lang="en-US" altLang="ko-KR" smtClean="0"/>
              <a:t>:char(40), </a:t>
            </a:r>
            <a:r>
              <a:rPr lang="ko-KR" altLang="en-US" smtClean="0"/>
              <a:t>출판사</a:t>
            </a:r>
            <a:r>
              <a:rPr lang="en-US" altLang="ko-KR" smtClean="0"/>
              <a:t>:char(40), </a:t>
            </a:r>
            <a:r>
              <a:rPr lang="ko-KR" altLang="en-US" smtClean="0"/>
              <a:t>가격</a:t>
            </a:r>
            <a:r>
              <a:rPr lang="en-US" altLang="ko-KR" smtClean="0"/>
              <a:t>:integer)) 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3429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1.2 </a:t>
            </a:r>
            <a:r>
              <a:rPr lang="ko-KR" altLang="en-US" smtClean="0"/>
              <a:t>릴레이션 스키마와 인스턴스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10D54A-AD25-4D67-989D-B8332799A68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 err="1" smtClean="0"/>
              <a:t>릴레이션</a:t>
            </a:r>
            <a:r>
              <a:rPr lang="ko-KR" altLang="en-US" dirty="0" smtClean="0"/>
              <a:t> 인스턴스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투플</a:t>
            </a:r>
            <a:r>
              <a:rPr lang="en-US" altLang="ko-KR" dirty="0" smtClean="0"/>
              <a:t>(tuple) : </a:t>
            </a:r>
            <a:r>
              <a:rPr lang="ko-KR" altLang="en-US" dirty="0" err="1" smtClean="0"/>
              <a:t>릴레이션의</a:t>
            </a:r>
            <a:r>
              <a:rPr lang="ko-KR" altLang="en-US" dirty="0" smtClean="0"/>
              <a:t> 행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카디날리티</a:t>
            </a:r>
            <a:r>
              <a:rPr lang="en-US" altLang="ko-KR" dirty="0" smtClean="0"/>
              <a:t>(cardinality) : </a:t>
            </a:r>
            <a:r>
              <a:rPr lang="ko-KR" altLang="en-US" dirty="0" err="1" smtClean="0"/>
              <a:t>투플의</a:t>
            </a:r>
            <a:r>
              <a:rPr lang="ko-KR" altLang="en-US" dirty="0" smtClean="0"/>
              <a:t> 수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4D0982A-27F8-4DB5-9FD2-12356485CCFD}"/>
              </a:ext>
            </a:extLst>
          </p:cNvPr>
          <p:cNvSpPr/>
          <p:nvPr/>
        </p:nvSpPr>
        <p:spPr>
          <a:xfrm>
            <a:off x="3851920" y="1700808"/>
            <a:ext cx="60363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C85873"/>
                </a:solidFill>
              </a:rPr>
              <a:t>→ </a:t>
            </a:r>
            <a:r>
              <a:rPr lang="ko-KR" altLang="en-US" sz="1200" dirty="0" err="1">
                <a:solidFill>
                  <a:srgbClr val="C85873"/>
                </a:solidFill>
              </a:rPr>
              <a:t>투플이</a:t>
            </a:r>
            <a:r>
              <a:rPr lang="ko-KR" altLang="en-US" sz="1200" dirty="0">
                <a:solidFill>
                  <a:srgbClr val="C85873"/>
                </a:solidFill>
              </a:rPr>
              <a:t> 가지는 속성의 개수는 릴레이션 스키마의 차수와 동일하고</a:t>
            </a:r>
            <a:r>
              <a:rPr lang="en-US" altLang="ko-KR" sz="1200" dirty="0">
                <a:solidFill>
                  <a:srgbClr val="C85873"/>
                </a:solidFill>
              </a:rPr>
              <a:t>,  </a:t>
            </a:r>
            <a:br>
              <a:rPr lang="en-US" altLang="ko-KR" sz="1200" dirty="0">
                <a:solidFill>
                  <a:srgbClr val="C85873"/>
                </a:solidFill>
              </a:rPr>
            </a:br>
            <a:r>
              <a:rPr lang="en-US" altLang="ko-KR" sz="1200" dirty="0">
                <a:solidFill>
                  <a:srgbClr val="C85873"/>
                </a:solidFill>
              </a:rPr>
              <a:t>   </a:t>
            </a:r>
            <a:r>
              <a:rPr lang="ko-KR" altLang="en-US" sz="1200" dirty="0">
                <a:solidFill>
                  <a:srgbClr val="C85873"/>
                </a:solidFill>
              </a:rPr>
              <a:t>릴레이션 내의 모든 </a:t>
            </a:r>
            <a:r>
              <a:rPr lang="ko-KR" altLang="en-US" sz="1200" dirty="0" err="1">
                <a:solidFill>
                  <a:srgbClr val="C85873"/>
                </a:solidFill>
              </a:rPr>
              <a:t>투플들은</a:t>
            </a:r>
            <a:r>
              <a:rPr lang="ko-KR" altLang="en-US" sz="1200" dirty="0">
                <a:solidFill>
                  <a:srgbClr val="C85873"/>
                </a:solidFill>
              </a:rPr>
              <a:t> 서로 중복되지 않아야 함</a:t>
            </a:r>
          </a:p>
        </p:txBody>
      </p:sp>
      <p:pic>
        <p:nvPicPr>
          <p:cNvPr id="7" name="그림 6" descr="스크린샷이(가) 표시된 사진&#10;&#10;자동 생성된 설명">
            <a:extLst>
              <a:ext uri="{FF2B5EF4-FFF2-40B4-BE49-F238E27FC236}">
                <a16:creationId xmlns:a16="http://schemas.microsoft.com/office/drawing/2014/main" id="{5CD9CDF8-105B-4CA0-A682-97418379EC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848" y="2553792"/>
            <a:ext cx="6804248" cy="22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253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1.3 </a:t>
            </a:r>
            <a:r>
              <a:rPr lang="ko-KR" altLang="en-US" smtClean="0"/>
              <a:t>릴레이션의 특징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10D54A-AD25-4D67-989D-B8332799A68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mtClean="0"/>
              <a:t>속성은 단일 값을 가진다</a:t>
            </a:r>
          </a:p>
          <a:p>
            <a:pPr lvl="2"/>
            <a:r>
              <a:rPr lang="ko-KR" altLang="en-US" smtClean="0"/>
              <a:t>각 속성의 값은 도메인에 정의된 값만을 가지며 그 값은 모두 단일 값이여야 함</a:t>
            </a:r>
            <a:r>
              <a:rPr lang="en-US" altLang="ko-KR" smtClean="0"/>
              <a:t>.</a:t>
            </a:r>
          </a:p>
          <a:p>
            <a:pPr lvl="2"/>
            <a:endParaRPr lang="en-US" altLang="ko-KR" smtClean="0"/>
          </a:p>
          <a:p>
            <a:r>
              <a:rPr lang="ko-KR" altLang="en-US" smtClean="0"/>
              <a:t>속성은 서로 다른 이름을 가진다</a:t>
            </a:r>
          </a:p>
          <a:p>
            <a:pPr lvl="2"/>
            <a:r>
              <a:rPr lang="ko-KR" altLang="en-US" smtClean="0"/>
              <a:t>속성은 한 릴레이션에서 서로 다른 이름을 가져야만 함</a:t>
            </a:r>
            <a:r>
              <a:rPr lang="en-US" altLang="ko-KR" smtClean="0"/>
              <a:t>.</a:t>
            </a:r>
          </a:p>
          <a:p>
            <a:pPr lvl="2"/>
            <a:endParaRPr lang="en-US" altLang="ko-KR" smtClean="0"/>
          </a:p>
          <a:p>
            <a:r>
              <a:rPr lang="ko-KR" altLang="en-US" smtClean="0"/>
              <a:t>한 속성의 값은 모두 같은 도메인 값을 가진다</a:t>
            </a:r>
          </a:p>
          <a:p>
            <a:pPr lvl="2"/>
            <a:r>
              <a:rPr lang="ko-KR" altLang="en-US" smtClean="0"/>
              <a:t>한 속성에 속한 열은 모두 그 속성에서 정의한 도메인 값만 가질 수 있음</a:t>
            </a:r>
            <a:r>
              <a:rPr lang="en-US" altLang="ko-KR" smtClean="0"/>
              <a:t>.</a:t>
            </a:r>
          </a:p>
          <a:p>
            <a:pPr lvl="2"/>
            <a:endParaRPr lang="en-US" altLang="ko-KR" smtClean="0"/>
          </a:p>
          <a:p>
            <a:r>
              <a:rPr lang="ko-KR" altLang="en-US" smtClean="0"/>
              <a:t>속성의 순서는 상관없다</a:t>
            </a:r>
          </a:p>
          <a:p>
            <a:pPr lvl="2"/>
            <a:r>
              <a:rPr lang="ko-KR" altLang="en-US" smtClean="0"/>
              <a:t>속성의 순서가 달라도 릴레이션 스키마는 같음</a:t>
            </a:r>
            <a:r>
              <a:rPr lang="en-US" altLang="ko-KR" smtClean="0"/>
              <a:t>.</a:t>
            </a:r>
          </a:p>
          <a:p>
            <a:pPr lvl="2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릴레이션 스키마에서 </a:t>
            </a:r>
            <a:r>
              <a:rPr lang="en-US" altLang="ko-KR" smtClean="0"/>
              <a:t>(</a:t>
            </a:r>
            <a:r>
              <a:rPr lang="ko-KR" altLang="en-US" smtClean="0"/>
              <a:t>이름</a:t>
            </a:r>
            <a:r>
              <a:rPr lang="en-US" altLang="ko-KR" smtClean="0"/>
              <a:t>, </a:t>
            </a:r>
            <a:r>
              <a:rPr lang="ko-KR" altLang="en-US" smtClean="0"/>
              <a:t>주소</a:t>
            </a:r>
            <a:r>
              <a:rPr lang="en-US" altLang="ko-KR" smtClean="0"/>
              <a:t>) </a:t>
            </a:r>
            <a:r>
              <a:rPr lang="ko-KR" altLang="en-US" smtClean="0"/>
              <a:t>순으로 속성을 표시하거나 </a:t>
            </a:r>
            <a:r>
              <a:rPr lang="en-US" altLang="ko-KR" smtClean="0"/>
              <a:t>(</a:t>
            </a:r>
            <a:r>
              <a:rPr lang="ko-KR" altLang="en-US" smtClean="0"/>
              <a:t>주소</a:t>
            </a:r>
            <a:r>
              <a:rPr lang="en-US" altLang="ko-KR" smtClean="0"/>
              <a:t>, </a:t>
            </a:r>
            <a:r>
              <a:rPr lang="ko-KR" altLang="en-US" smtClean="0"/>
              <a:t>이름</a:t>
            </a:r>
            <a:r>
              <a:rPr lang="en-US" altLang="ko-KR" smtClean="0"/>
              <a:t>) </a:t>
            </a:r>
            <a:r>
              <a:rPr lang="ko-KR" altLang="en-US" smtClean="0"/>
              <a:t>순으로 표시하여도 상관없음</a:t>
            </a:r>
            <a:r>
              <a:rPr lang="en-US" altLang="ko-KR" smtClean="0"/>
              <a:t>.</a:t>
            </a:r>
          </a:p>
          <a:p>
            <a:pPr lvl="2"/>
            <a:endParaRPr lang="en-US" altLang="ko-KR" smtClean="0"/>
          </a:p>
          <a:p>
            <a:r>
              <a:rPr lang="ko-KR" altLang="en-US" smtClean="0"/>
              <a:t>릴레이션 내의 중복된 투플은 허용하지 않는다</a:t>
            </a:r>
          </a:p>
          <a:p>
            <a:pPr lvl="2"/>
            <a:r>
              <a:rPr lang="ko-KR" altLang="en-US" smtClean="0"/>
              <a:t>하나의 릴레이션 인스턴스 내에서는 서로 중복된 값을 가질 수 없음</a:t>
            </a:r>
            <a:r>
              <a:rPr lang="en-US" altLang="ko-KR" smtClean="0"/>
              <a:t>. </a:t>
            </a:r>
            <a:r>
              <a:rPr lang="ko-KR" altLang="en-US" smtClean="0"/>
              <a:t>즉 모든 투플은 서로 값이 달라야 함</a:t>
            </a:r>
            <a:r>
              <a:rPr lang="en-US" altLang="ko-KR" smtClean="0"/>
              <a:t>.</a:t>
            </a:r>
          </a:p>
          <a:p>
            <a:pPr lvl="2"/>
            <a:endParaRPr lang="en-US" altLang="ko-KR" smtClean="0"/>
          </a:p>
          <a:p>
            <a:r>
              <a:rPr lang="ko-KR" altLang="en-US" smtClean="0"/>
              <a:t>투플의 순서는 상관없다</a:t>
            </a:r>
          </a:p>
          <a:p>
            <a:pPr lvl="2"/>
            <a:r>
              <a:rPr lang="ko-KR" altLang="en-US" smtClean="0"/>
              <a:t>투플의 순서가 달라도 같은 릴레이션임</a:t>
            </a:r>
            <a:r>
              <a:rPr lang="en-US" altLang="ko-KR" smtClean="0"/>
              <a:t>. </a:t>
            </a:r>
            <a:r>
              <a:rPr lang="ko-KR" altLang="en-US" smtClean="0"/>
              <a:t>관계 데이터 모델의 투플은 실제적인 값을 가지고 있으며 이 값은 </a:t>
            </a:r>
            <a:endParaRPr lang="en-US" altLang="ko-KR" smtClean="0"/>
          </a:p>
          <a:p>
            <a:pPr lvl="2"/>
            <a:r>
              <a:rPr lang="en-US" altLang="ko-KR" smtClean="0"/>
              <a:t>   </a:t>
            </a:r>
            <a:r>
              <a:rPr lang="ko-KR" altLang="en-US" smtClean="0"/>
              <a:t>시간이 지남에 따라 데이터의 삭제</a:t>
            </a:r>
            <a:r>
              <a:rPr lang="en-US" altLang="ko-KR" smtClean="0"/>
              <a:t>, </a:t>
            </a:r>
            <a:r>
              <a:rPr lang="ko-KR" altLang="en-US" smtClean="0"/>
              <a:t>수정</a:t>
            </a:r>
            <a:r>
              <a:rPr lang="en-US" altLang="ko-KR" smtClean="0"/>
              <a:t>, </a:t>
            </a:r>
            <a:r>
              <a:rPr lang="ko-KR" altLang="en-US" smtClean="0"/>
              <a:t>삽입에 따라 순서가 바뀔 수 있음</a:t>
            </a:r>
            <a:r>
              <a:rPr lang="en-US" altLang="ko-KR" smtClean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49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1.3 </a:t>
            </a:r>
            <a:r>
              <a:rPr lang="ko-KR" altLang="en-US" smtClean="0"/>
              <a:t>릴레이션의 특징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BD2F016-78FA-43A8-93D9-9C8C73CAB35F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71" y="1779569"/>
            <a:ext cx="8170870" cy="4091024"/>
          </a:xfrm>
        </p:spPr>
      </p:pic>
    </p:spTree>
    <p:extLst>
      <p:ext uri="{BB962C8B-B14F-4D97-AF65-F5344CB8AC3E}">
        <p14:creationId xmlns:p14="http://schemas.microsoft.com/office/powerpoint/2010/main" val="1916211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1.4 </a:t>
            </a:r>
            <a:r>
              <a:rPr lang="ko-KR" altLang="en-US" smtClean="0"/>
              <a:t>관계 데이터 모델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AAF78A-4287-4573-8F1C-1B316A140E3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 smtClean="0"/>
              <a:t>관계 데이터 모델은 데이터를 </a:t>
            </a:r>
            <a:r>
              <a:rPr lang="en-US" altLang="ko-KR" dirty="0" smtClean="0"/>
              <a:t>2</a:t>
            </a:r>
            <a:r>
              <a:rPr lang="ko-KR" altLang="en-US" dirty="0" smtClean="0"/>
              <a:t>차원 테이블 형태인 릴레이션으로 표현함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ko-KR" altLang="en-US" dirty="0" smtClean="0"/>
              <a:t>    </a:t>
            </a:r>
            <a:r>
              <a:rPr lang="ko-KR" altLang="en-US" dirty="0" err="1" smtClean="0"/>
              <a:t>릴레이션에</a:t>
            </a:r>
            <a:r>
              <a:rPr lang="ko-KR" altLang="en-US" dirty="0" smtClean="0"/>
              <a:t> 대한 제약조건</a:t>
            </a:r>
            <a:r>
              <a:rPr lang="en-US" altLang="ko-KR" dirty="0" smtClean="0"/>
              <a:t>(constraints)</a:t>
            </a:r>
            <a:r>
              <a:rPr lang="ko-KR" altLang="en-US" dirty="0" smtClean="0"/>
              <a:t>과 관계 연산을 위한 </a:t>
            </a:r>
            <a:r>
              <a:rPr lang="ko-KR" altLang="en-US" dirty="0" err="1" smtClean="0"/>
              <a:t>관계대수</a:t>
            </a:r>
            <a:r>
              <a:rPr lang="en-US" altLang="ko-KR" dirty="0" smtClean="0"/>
              <a:t>(relational </a:t>
            </a:r>
          </a:p>
          <a:p>
            <a:pPr marL="0" indent="0">
              <a:buNone/>
            </a:pPr>
            <a:r>
              <a:rPr lang="en-US" altLang="ko-KR" dirty="0" smtClean="0"/>
              <a:t>    algebra)</a:t>
            </a:r>
            <a:r>
              <a:rPr lang="ko-KR" altLang="en-US" dirty="0" smtClean="0"/>
              <a:t>를 정의함</a:t>
            </a:r>
            <a:r>
              <a:rPr lang="en-US" altLang="ko-KR" dirty="0" smtClean="0"/>
              <a:t>.</a:t>
            </a:r>
            <a:endParaRPr lang="ko-KR" altLang="en-US" dirty="0" smtClean="0"/>
          </a:p>
          <a:p>
            <a:endParaRPr lang="ko-KR" altLang="en-US" dirty="0"/>
          </a:p>
        </p:txBody>
      </p:sp>
      <p:pic>
        <p:nvPicPr>
          <p:cNvPr id="7" name="그림 6" descr="스크린샷이(가) 표시된 사진&#10;&#10;자동 생성된 설명">
            <a:extLst>
              <a:ext uri="{FF2B5EF4-FFF2-40B4-BE49-F238E27FC236}">
                <a16:creationId xmlns:a16="http://schemas.microsoft.com/office/drawing/2014/main" id="{70492A4B-E647-4916-AA3B-655CCBFB3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858" y="2564904"/>
            <a:ext cx="7128284" cy="193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66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연습문제 풀이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AAF78A-4287-4573-8F1C-1B316A140E3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rgbClr val="C85873"/>
              </a:buClr>
              <a:buFont typeface="+mj-lt"/>
              <a:buAutoNum type="arabicPeriod"/>
            </a:pPr>
            <a:r>
              <a:rPr lang="ko-KR" altLang="en-US" sz="1400" dirty="0" smtClean="0"/>
              <a:t>다음 중 관계 데이터 모델의 </a:t>
            </a:r>
            <a:r>
              <a:rPr lang="ko-KR" altLang="en-US" sz="1400" dirty="0" err="1" smtClean="0"/>
              <a:t>릴레이션에</a:t>
            </a:r>
            <a:r>
              <a:rPr lang="ko-KR" altLang="en-US" sz="1400" dirty="0" smtClean="0"/>
              <a:t> 대한 설명 중 옳지 않은 것은</a:t>
            </a:r>
            <a:r>
              <a:rPr lang="en-US" altLang="ko-KR" sz="1400" dirty="0" smtClean="0"/>
              <a:t>?</a:t>
            </a:r>
            <a:endParaRPr lang="ko-KR" altLang="en-US" sz="1400" dirty="0" smtClean="0"/>
          </a:p>
          <a:p>
            <a:pPr marL="266700" lvl="1" indent="0">
              <a:buNone/>
            </a:pPr>
            <a:r>
              <a:rPr lang="ko-KR" altLang="en-US" dirty="0" smtClean="0"/>
              <a:t>   </a:t>
            </a:r>
            <a:r>
              <a:rPr lang="ko-KR" altLang="en-US" sz="1200" dirty="0" smtClean="0"/>
              <a:t>① </a:t>
            </a:r>
            <a:r>
              <a:rPr lang="ko-KR" altLang="en-US" sz="1200" dirty="0" err="1" smtClean="0"/>
              <a:t>릴레이션은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릴레이션</a:t>
            </a:r>
            <a:r>
              <a:rPr lang="ko-KR" altLang="en-US" sz="1200" dirty="0" smtClean="0"/>
              <a:t> 스키마와 </a:t>
            </a:r>
            <a:r>
              <a:rPr lang="ko-KR" altLang="en-US" sz="1200" dirty="0" err="1" smtClean="0"/>
              <a:t>릴레이션</a:t>
            </a:r>
            <a:r>
              <a:rPr lang="ko-KR" altLang="en-US" sz="1200" dirty="0" smtClean="0"/>
              <a:t> 인스턴스로 구성된다</a:t>
            </a:r>
            <a:r>
              <a:rPr lang="en-US" altLang="ko-KR" sz="1200" dirty="0" smtClean="0"/>
              <a:t>.</a:t>
            </a:r>
            <a:endParaRPr lang="ko-KR" altLang="en-US" sz="1200" dirty="0" smtClean="0"/>
          </a:p>
          <a:p>
            <a:pPr marL="266700" lvl="1" indent="0">
              <a:buNone/>
            </a:pPr>
            <a:r>
              <a:rPr lang="ko-KR" altLang="en-US" sz="1200" dirty="0" smtClean="0"/>
              <a:t>   ② </a:t>
            </a:r>
            <a:r>
              <a:rPr lang="ko-KR" altLang="en-US" sz="1200" dirty="0" err="1" smtClean="0"/>
              <a:t>릴레이션</a:t>
            </a:r>
            <a:r>
              <a:rPr lang="ko-KR" altLang="en-US" sz="1200" dirty="0" smtClean="0"/>
              <a:t> 스키마를 </a:t>
            </a:r>
            <a:r>
              <a:rPr lang="ko-KR" altLang="en-US" sz="1200" dirty="0" err="1" smtClean="0"/>
              <a:t>릴레이션</a:t>
            </a:r>
            <a:r>
              <a:rPr lang="ko-KR" altLang="en-US" sz="1200" dirty="0" smtClean="0"/>
              <a:t> 외연</a:t>
            </a:r>
            <a:r>
              <a:rPr lang="en-US" altLang="ko-KR" sz="1200" dirty="0" smtClean="0"/>
              <a:t>(extension)</a:t>
            </a:r>
            <a:r>
              <a:rPr lang="ko-KR" altLang="en-US" sz="1200" dirty="0" smtClean="0"/>
              <a:t>이라고 한다</a:t>
            </a:r>
            <a:r>
              <a:rPr lang="en-US" altLang="ko-KR" sz="1200" dirty="0" smtClean="0"/>
              <a:t>.</a:t>
            </a:r>
            <a:endParaRPr lang="ko-KR" altLang="en-US" sz="1200" dirty="0" smtClean="0"/>
          </a:p>
          <a:p>
            <a:pPr marL="266700" lvl="1" indent="0">
              <a:buNone/>
            </a:pPr>
            <a:r>
              <a:rPr lang="ko-KR" altLang="en-US" sz="1200" dirty="0" smtClean="0"/>
              <a:t>   ③ </a:t>
            </a:r>
            <a:r>
              <a:rPr lang="ko-KR" altLang="en-US" sz="1200" dirty="0" err="1" smtClean="0"/>
              <a:t>릴레이션의</a:t>
            </a:r>
            <a:r>
              <a:rPr lang="ko-KR" altLang="en-US" sz="1200" dirty="0" smtClean="0"/>
              <a:t> 스키마는 정적인 성질을 가진다</a:t>
            </a:r>
            <a:r>
              <a:rPr lang="en-US" altLang="ko-KR" sz="1200" dirty="0" smtClean="0"/>
              <a:t>.</a:t>
            </a:r>
            <a:endParaRPr lang="ko-KR" altLang="en-US" sz="1200" dirty="0" smtClean="0"/>
          </a:p>
          <a:p>
            <a:pPr marL="266700" lvl="1" indent="0">
              <a:buNone/>
            </a:pPr>
            <a:r>
              <a:rPr lang="ko-KR" altLang="en-US" sz="1200" dirty="0" smtClean="0"/>
              <a:t>   ④ </a:t>
            </a:r>
            <a:r>
              <a:rPr lang="ko-KR" altLang="en-US" sz="1200" dirty="0" err="1" smtClean="0"/>
              <a:t>릴레이션</a:t>
            </a:r>
            <a:r>
              <a:rPr lang="ko-KR" altLang="en-US" sz="1200" dirty="0" smtClean="0"/>
              <a:t> 인스턴스는 동적인 성질을 가진다</a:t>
            </a:r>
            <a:r>
              <a:rPr lang="en-US" altLang="ko-KR" sz="1200" dirty="0" smtClean="0"/>
              <a:t>.</a:t>
            </a:r>
            <a:endParaRPr lang="ko-KR" altLang="en-US" sz="1200" dirty="0" smtClean="0"/>
          </a:p>
          <a:p>
            <a:endParaRPr lang="en-US" altLang="ko-KR" dirty="0" smtClean="0"/>
          </a:p>
          <a:p>
            <a:pPr>
              <a:buClr>
                <a:srgbClr val="C85873"/>
              </a:buClr>
              <a:buFont typeface="+mj-lt"/>
              <a:buAutoNum type="arabicPeriod" startAt="2"/>
            </a:pPr>
            <a:r>
              <a:rPr lang="ko-KR" altLang="en-US" sz="1400" dirty="0" err="1" smtClean="0"/>
              <a:t>릴레이션의</a:t>
            </a:r>
            <a:r>
              <a:rPr lang="ko-KR" altLang="en-US" sz="1400" dirty="0" smtClean="0"/>
              <a:t> 특징으로 알맞은 것은</a:t>
            </a:r>
            <a:r>
              <a:rPr lang="en-US" altLang="ko-KR" sz="1400" dirty="0" smtClean="0"/>
              <a:t>?</a:t>
            </a:r>
            <a:endParaRPr lang="ko-KR" altLang="en-US" sz="1400" dirty="0" smtClean="0"/>
          </a:p>
          <a:p>
            <a:pPr marL="266700" lvl="1" indent="0">
              <a:buNone/>
            </a:pPr>
            <a:r>
              <a:rPr lang="ko-KR" altLang="en-US" sz="1200" dirty="0" smtClean="0"/>
              <a:t>   ① 중복된 </a:t>
            </a:r>
            <a:r>
              <a:rPr lang="ko-KR" altLang="en-US" sz="1200" dirty="0" err="1" smtClean="0"/>
              <a:t>투플이</a:t>
            </a:r>
            <a:r>
              <a:rPr lang="ko-KR" altLang="en-US" sz="1200" dirty="0" smtClean="0"/>
              <a:t> 존재한다</a:t>
            </a:r>
            <a:r>
              <a:rPr lang="en-US" altLang="ko-KR" sz="1200" dirty="0" smtClean="0"/>
              <a:t>.</a:t>
            </a:r>
            <a:endParaRPr lang="ko-KR" altLang="en-US" sz="1200" dirty="0" smtClean="0"/>
          </a:p>
          <a:p>
            <a:pPr marL="266700" lvl="1" indent="0">
              <a:buNone/>
            </a:pPr>
            <a:r>
              <a:rPr lang="ko-KR" altLang="en-US" sz="1200" dirty="0" smtClean="0"/>
              <a:t>   ② </a:t>
            </a:r>
            <a:r>
              <a:rPr lang="ko-KR" altLang="en-US" sz="1200" dirty="0" err="1" smtClean="0"/>
              <a:t>투플</a:t>
            </a:r>
            <a:r>
              <a:rPr lang="ko-KR" altLang="en-US" sz="1200" dirty="0" smtClean="0"/>
              <a:t> 간의 순서가 정의된다</a:t>
            </a:r>
            <a:r>
              <a:rPr lang="en-US" altLang="ko-KR" sz="1200" dirty="0" smtClean="0"/>
              <a:t>.</a:t>
            </a:r>
            <a:endParaRPr lang="ko-KR" altLang="en-US" sz="1200" dirty="0" smtClean="0"/>
          </a:p>
          <a:p>
            <a:pPr marL="266700" lvl="1" indent="0">
              <a:buNone/>
            </a:pPr>
            <a:r>
              <a:rPr lang="ko-KR" altLang="en-US" sz="1200" dirty="0" smtClean="0"/>
              <a:t>   ③ 속성 간의 순서가 정의된다</a:t>
            </a:r>
            <a:r>
              <a:rPr lang="en-US" altLang="ko-KR" sz="1200" dirty="0" smtClean="0"/>
              <a:t>.</a:t>
            </a:r>
            <a:endParaRPr lang="ko-KR" altLang="en-US" sz="1200" dirty="0" smtClean="0"/>
          </a:p>
          <a:p>
            <a:pPr marL="266700" lvl="1" indent="0">
              <a:buNone/>
            </a:pPr>
            <a:r>
              <a:rPr lang="ko-KR" altLang="en-US" sz="1200" dirty="0" smtClean="0"/>
              <a:t>   ④ 모든 속성 값은 </a:t>
            </a:r>
            <a:r>
              <a:rPr lang="ko-KR" altLang="en-US" sz="1200" dirty="0" err="1" smtClean="0"/>
              <a:t>원자값이다</a:t>
            </a:r>
            <a:r>
              <a:rPr lang="en-US" altLang="ko-KR" dirty="0" smtClean="0"/>
              <a:t>.</a:t>
            </a:r>
            <a:endParaRPr lang="ko-KR" altLang="en-US" dirty="0" smtClean="0"/>
          </a:p>
          <a:p>
            <a:endParaRPr lang="en-US" altLang="ko-KR" dirty="0" smtClean="0"/>
          </a:p>
          <a:p>
            <a:pPr>
              <a:buClr>
                <a:srgbClr val="C85873"/>
              </a:buClr>
              <a:buFont typeface="+mj-lt"/>
              <a:buAutoNum type="arabicPeriod" startAt="3"/>
            </a:pPr>
            <a:r>
              <a:rPr lang="ko-KR" altLang="en-US" sz="1400" dirty="0" smtClean="0"/>
              <a:t>하나의 속성이 가질 수 있는 값을 총칭하여 무엇이라 하는가</a:t>
            </a:r>
            <a:r>
              <a:rPr lang="en-US" altLang="ko-KR" sz="1400" dirty="0" smtClean="0"/>
              <a:t>?</a:t>
            </a:r>
            <a:endParaRPr lang="ko-KR" altLang="en-US" sz="1400" dirty="0" smtClean="0"/>
          </a:p>
          <a:p>
            <a:pPr marL="266700" lvl="1" indent="0">
              <a:buNone/>
            </a:pPr>
            <a:r>
              <a:rPr lang="ko-KR" altLang="en-US" sz="1200" dirty="0" smtClean="0"/>
              <a:t>   ① </a:t>
            </a:r>
            <a:r>
              <a:rPr lang="ko-KR" altLang="en-US" sz="1200" dirty="0" err="1" smtClean="0"/>
              <a:t>투플</a:t>
            </a:r>
            <a:r>
              <a:rPr lang="ko-KR" altLang="en-US" sz="1200" dirty="0" smtClean="0"/>
              <a:t>		② </a:t>
            </a:r>
            <a:r>
              <a:rPr lang="ko-KR" altLang="en-US" sz="1200" dirty="0" err="1" smtClean="0"/>
              <a:t>릴레이션</a:t>
            </a:r>
            <a:endParaRPr lang="ko-KR" altLang="en-US" sz="1200" dirty="0" smtClean="0"/>
          </a:p>
          <a:p>
            <a:pPr marL="266700" lvl="1" indent="0">
              <a:buNone/>
            </a:pPr>
            <a:r>
              <a:rPr lang="ko-KR" altLang="en-US" sz="1200" dirty="0" smtClean="0"/>
              <a:t>   </a:t>
            </a:r>
            <a:r>
              <a:rPr lang="ko-KR" altLang="en-US" sz="1200" dirty="0" smtClean="0"/>
              <a:t>③ 도메인		④ </a:t>
            </a:r>
            <a:r>
              <a:rPr lang="ko-KR" altLang="en-US" sz="1200" dirty="0" err="1" smtClean="0"/>
              <a:t>엔티티</a:t>
            </a:r>
            <a:endParaRPr lang="ko-KR" altLang="en-US" sz="1200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8713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02. </a:t>
            </a:r>
            <a:r>
              <a:rPr lang="ko-KR" altLang="en-US" smtClean="0"/>
              <a:t>무결성 제약조건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AAF78A-4287-4573-8F1C-1B316A140E3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smtClean="0"/>
              <a:t>키</a:t>
            </a:r>
            <a:endParaRPr lang="en-US" altLang="ko-KR" smtClean="0"/>
          </a:p>
          <a:p>
            <a:r>
              <a:rPr lang="ko-KR" altLang="en-US" smtClean="0"/>
              <a:t>무결성 제약조건</a:t>
            </a:r>
            <a:endParaRPr lang="en-US" altLang="ko-KR" smtClean="0"/>
          </a:p>
          <a:p>
            <a:r>
              <a:rPr lang="ko-KR" altLang="en-US" smtClean="0"/>
              <a:t>무결성 제약조건의 수행</a:t>
            </a:r>
            <a:endParaRPr lang="en-US" altLang="ko-KR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7021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2.1 </a:t>
            </a:r>
            <a:r>
              <a:rPr lang="ko-KR" altLang="en-US" smtClean="0"/>
              <a:t>키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AAF78A-4287-4573-8F1C-1B316A140E3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smtClean="0"/>
              <a:t>특정 투플을 식별할 때 사용하는 속성 혹은 속성의 집합</a:t>
            </a:r>
            <a:endParaRPr lang="en-US" altLang="ko-KR" smtClean="0"/>
          </a:p>
          <a:p>
            <a:r>
              <a:rPr lang="ko-KR" altLang="en-US" smtClean="0"/>
              <a:t>릴레이션은 중복된 투플을 허용하지 않기 때문에 각각의 투플에 포함된 속성들 중 어느 하나</a:t>
            </a:r>
            <a:r>
              <a:rPr lang="en-US" altLang="ko-KR" smtClean="0"/>
              <a:t>(</a:t>
            </a:r>
            <a:r>
              <a:rPr lang="ko-KR" altLang="en-US" smtClean="0"/>
              <a:t>혹은 하나 이상</a:t>
            </a:r>
            <a:r>
              <a:rPr lang="en-US" altLang="ko-KR" smtClean="0"/>
              <a:t>)</a:t>
            </a:r>
            <a:r>
              <a:rPr lang="ko-KR" altLang="en-US" smtClean="0"/>
              <a:t>는 값이 달라야 함</a:t>
            </a:r>
            <a:r>
              <a:rPr lang="en-US" altLang="ko-KR" smtClean="0"/>
              <a:t>. </a:t>
            </a:r>
            <a:r>
              <a:rPr lang="ko-KR" altLang="en-US" smtClean="0"/>
              <a:t>즉 키가 되는 속성</a:t>
            </a:r>
            <a:r>
              <a:rPr lang="en-US" altLang="ko-KR" smtClean="0"/>
              <a:t>(</a:t>
            </a:r>
            <a:r>
              <a:rPr lang="ko-KR" altLang="en-US" smtClean="0"/>
              <a:t>혹은 속성의 집합</a:t>
            </a:r>
            <a:r>
              <a:rPr lang="en-US" altLang="ko-KR" smtClean="0"/>
              <a:t>)</a:t>
            </a:r>
            <a:r>
              <a:rPr lang="ko-KR" altLang="en-US" smtClean="0"/>
              <a:t>은 반드시 값이 달라서 투플들을 서로 구별할 수 있어야 함</a:t>
            </a:r>
            <a:endParaRPr lang="en-US" altLang="ko-KR" smtClean="0"/>
          </a:p>
          <a:p>
            <a:r>
              <a:rPr lang="ko-KR" altLang="en-US" smtClean="0"/>
              <a:t>키는 릴레이션 간의 관계를 맺는 데도 사용</a:t>
            </a:r>
            <a:endParaRPr lang="en-US" altLang="ko-KR" smtClean="0"/>
          </a:p>
          <a:p>
            <a:endParaRPr lang="ko-KR" altLang="en-US" dirty="0"/>
          </a:p>
        </p:txBody>
      </p:sp>
      <p:pic>
        <p:nvPicPr>
          <p:cNvPr id="5" name="그림 4" descr="사람, 실내, 쥐고있는, 남자이(가) 표시된 사진&#10;&#10;자동 생성된 설명">
            <a:extLst>
              <a:ext uri="{FF2B5EF4-FFF2-40B4-BE49-F238E27FC236}">
                <a16:creationId xmlns:a16="http://schemas.microsoft.com/office/drawing/2014/main" id="{10F31503-9DE8-4037-A5B1-37513972C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457" y="3137073"/>
            <a:ext cx="3321543" cy="338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376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2.1 </a:t>
            </a:r>
            <a:r>
              <a:rPr lang="ko-KR" altLang="en-US" smtClean="0"/>
              <a:t>키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B567F743-2C0C-413D-80B0-AA90D531E553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1124744"/>
            <a:ext cx="3960440" cy="5543423"/>
          </a:xfrm>
        </p:spPr>
      </p:pic>
    </p:spTree>
    <p:extLst>
      <p:ext uri="{BB962C8B-B14F-4D97-AF65-F5344CB8AC3E}">
        <p14:creationId xmlns:p14="http://schemas.microsoft.com/office/powerpoint/2010/main" val="1565932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A831CF09-1EEF-4B2D-8A8E-55CD948A2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84745"/>
            <a:ext cx="1152128" cy="548680"/>
          </a:xfrm>
          <a:solidFill>
            <a:srgbClr val="F7E9EC"/>
          </a:solidFill>
        </p:spPr>
        <p:txBody>
          <a:bodyPr/>
          <a:lstStyle/>
          <a:p>
            <a:r>
              <a:rPr lang="ko-KR" altLang="en-US" dirty="0" err="1" smtClean="0"/>
              <a:t>슈퍼키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16D884-663A-430D-B72F-0EF1FCDB4AA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 err="1" smtClean="0"/>
              <a:t>투플을</a:t>
            </a:r>
            <a:r>
              <a:rPr lang="ko-KR" altLang="en-US" dirty="0" smtClean="0"/>
              <a:t> 유일하게 식별할 수 있는 하나의 속성 혹은 속성의 집합</a:t>
            </a: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     </a:t>
            </a:r>
            <a:r>
              <a:rPr lang="ko-KR" altLang="en-US" dirty="0" err="1" smtClean="0"/>
              <a:t>투플을</a:t>
            </a:r>
            <a:r>
              <a:rPr lang="ko-KR" altLang="en-US" dirty="0" smtClean="0"/>
              <a:t> 유일하게 식별할 수 있는 값이면 모두 </a:t>
            </a:r>
            <a:r>
              <a:rPr lang="ko-KR" altLang="en-US" dirty="0" err="1" smtClean="0"/>
              <a:t>슈퍼키가</a:t>
            </a:r>
            <a:r>
              <a:rPr lang="ko-KR" altLang="en-US" dirty="0" smtClean="0"/>
              <a:t> 될 수 있음</a:t>
            </a:r>
            <a:r>
              <a:rPr lang="en-US" altLang="ko-KR" dirty="0" smtClean="0"/>
              <a:t> </a:t>
            </a:r>
          </a:p>
          <a:p>
            <a:r>
              <a:rPr lang="en-US" altLang="ko-KR" dirty="0" smtClean="0"/>
              <a:t>(</a:t>
            </a:r>
            <a:r>
              <a:rPr lang="ko-KR" altLang="en-US" dirty="0" smtClean="0"/>
              <a:t>고객 </a:t>
            </a:r>
            <a:r>
              <a:rPr lang="ko-KR" altLang="en-US" dirty="0" err="1" smtClean="0"/>
              <a:t>릴레이션</a:t>
            </a:r>
            <a:r>
              <a:rPr lang="ko-KR" altLang="en-US" dirty="0" smtClean="0"/>
              <a:t> 예</a:t>
            </a:r>
            <a:r>
              <a:rPr lang="en-US" altLang="ko-KR" dirty="0" smtClean="0"/>
              <a:t>) </a:t>
            </a:r>
          </a:p>
          <a:p>
            <a:pPr lvl="1"/>
            <a:r>
              <a:rPr lang="ko-KR" altLang="en-US" dirty="0" err="1" smtClean="0"/>
              <a:t>고객번호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고객별로 유일한 값이 부여되어 있기 때문에 </a:t>
            </a:r>
            <a:r>
              <a:rPr lang="ko-KR" altLang="en-US" dirty="0" err="1" smtClean="0"/>
              <a:t>투플을</a:t>
            </a:r>
            <a:r>
              <a:rPr lang="ko-KR" altLang="en-US" dirty="0" smtClean="0"/>
              <a:t> 식별할 수 있음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이름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동명이인이 있을 경우 </a:t>
            </a:r>
            <a:r>
              <a:rPr lang="ko-KR" altLang="en-US" dirty="0" err="1" smtClean="0"/>
              <a:t>투플을</a:t>
            </a:r>
            <a:r>
              <a:rPr lang="ko-KR" altLang="en-US" dirty="0" smtClean="0"/>
              <a:t> 유일하게 식별할 수 없음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주민번호 </a:t>
            </a:r>
            <a:r>
              <a:rPr lang="en-US" altLang="ko-KR" dirty="0" smtClean="0"/>
              <a:t>: </a:t>
            </a:r>
            <a:r>
              <a:rPr lang="ko-KR" altLang="en-US" dirty="0" smtClean="0"/>
              <a:t>개인별로 유일한 값이 부여되어 있기 때문에 </a:t>
            </a:r>
            <a:r>
              <a:rPr lang="ko-KR" altLang="en-US" dirty="0" err="1" smtClean="0"/>
              <a:t>투플을</a:t>
            </a:r>
            <a:r>
              <a:rPr lang="ko-KR" altLang="en-US" dirty="0" smtClean="0"/>
              <a:t> 식별할 수 있음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주소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가족끼리는</a:t>
            </a:r>
            <a:r>
              <a:rPr lang="ko-KR" altLang="en-US" dirty="0" smtClean="0"/>
              <a:t> 같은 정보를 사용하므로 </a:t>
            </a:r>
            <a:r>
              <a:rPr lang="ko-KR" altLang="en-US" dirty="0" err="1" smtClean="0"/>
              <a:t>투플을</a:t>
            </a:r>
            <a:r>
              <a:rPr lang="ko-KR" altLang="en-US" dirty="0" smtClean="0"/>
              <a:t> 식별할 수 없음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핸드폰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한 사람이 여러 개의 핸드폰을 사용할 수 있고 반대로 핸드폰을 사용하지</a:t>
            </a:r>
            <a:r>
              <a:rPr lang="en-US" altLang="ko-KR" dirty="0" smtClean="0"/>
              <a:t> </a:t>
            </a:r>
            <a:r>
              <a:rPr lang="ko-KR" altLang="en-US" dirty="0" smtClean="0"/>
              <a:t>않는 사람이 </a:t>
            </a:r>
            <a:endParaRPr lang="en-US" altLang="ko-KR" dirty="0" smtClean="0"/>
          </a:p>
          <a:p>
            <a:pPr marL="266700" lvl="1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         </a:t>
            </a:r>
            <a:r>
              <a:rPr lang="ko-KR" altLang="en-US" dirty="0" smtClean="0"/>
              <a:t>있을 수 있기 때문에 </a:t>
            </a:r>
            <a:r>
              <a:rPr lang="ko-KR" altLang="en-US" dirty="0" err="1" smtClean="0"/>
              <a:t>투플을</a:t>
            </a:r>
            <a:r>
              <a:rPr lang="ko-KR" altLang="en-US" dirty="0" smtClean="0"/>
              <a:t> 식별할 수 없음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고객 </a:t>
            </a:r>
            <a:r>
              <a:rPr lang="ko-KR" altLang="en-US" dirty="0" err="1" smtClean="0"/>
              <a:t>릴레이션은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고객번호와</a:t>
            </a:r>
            <a:r>
              <a:rPr lang="ko-KR" altLang="en-US" dirty="0" smtClean="0"/>
              <a:t> 주민번호를 포함한 모든 속성의 집합이 </a:t>
            </a:r>
            <a:r>
              <a:rPr lang="ko-KR" altLang="en-US" dirty="0" err="1" smtClean="0"/>
              <a:t>슈퍼키가</a:t>
            </a:r>
            <a:r>
              <a:rPr lang="ko-KR" altLang="en-US" dirty="0" smtClean="0"/>
              <a:t> 됨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b="0" dirty="0" smtClean="0"/>
              <a:t>     </a:t>
            </a:r>
            <a:r>
              <a:rPr lang="en-US" altLang="ko-KR" sz="1400" b="0" dirty="0" smtClean="0"/>
              <a:t>EX) (</a:t>
            </a:r>
            <a:r>
              <a:rPr lang="ko-KR" altLang="en-US" sz="1400" b="0" dirty="0" smtClean="0"/>
              <a:t>주민번호</a:t>
            </a:r>
            <a:r>
              <a:rPr lang="en-US" altLang="ko-KR" sz="1400" b="0" dirty="0" smtClean="0"/>
              <a:t>), (</a:t>
            </a:r>
            <a:r>
              <a:rPr lang="ko-KR" altLang="en-US" sz="1400" b="0" dirty="0" smtClean="0"/>
              <a:t>주민번호</a:t>
            </a:r>
            <a:r>
              <a:rPr lang="en-US" altLang="ko-KR" sz="1400" b="0" dirty="0" smtClean="0"/>
              <a:t>, </a:t>
            </a:r>
            <a:r>
              <a:rPr lang="ko-KR" altLang="en-US" sz="1400" b="0" dirty="0" smtClean="0"/>
              <a:t>이름</a:t>
            </a:r>
            <a:r>
              <a:rPr lang="en-US" altLang="ko-KR" sz="1400" b="0" dirty="0" smtClean="0"/>
              <a:t>), (</a:t>
            </a:r>
            <a:r>
              <a:rPr lang="ko-KR" altLang="en-US" sz="1400" b="0" dirty="0" smtClean="0"/>
              <a:t>주민번호</a:t>
            </a:r>
            <a:r>
              <a:rPr lang="en-US" altLang="ko-KR" sz="1400" b="0" dirty="0" smtClean="0"/>
              <a:t>, </a:t>
            </a:r>
            <a:r>
              <a:rPr lang="ko-KR" altLang="en-US" sz="1400" b="0" dirty="0" smtClean="0"/>
              <a:t>이름</a:t>
            </a:r>
            <a:r>
              <a:rPr lang="en-US" altLang="ko-KR" sz="1400" b="0" dirty="0" smtClean="0"/>
              <a:t>, </a:t>
            </a:r>
            <a:r>
              <a:rPr lang="ko-KR" altLang="en-US" sz="1400" b="0" dirty="0" smtClean="0"/>
              <a:t>주소</a:t>
            </a:r>
            <a:r>
              <a:rPr lang="en-US" altLang="ko-KR" sz="1400" b="0" dirty="0" smtClean="0"/>
              <a:t>), (</a:t>
            </a:r>
            <a:r>
              <a:rPr lang="ko-KR" altLang="en-US" sz="1400" b="0" dirty="0" smtClean="0"/>
              <a:t>주민번호</a:t>
            </a:r>
            <a:r>
              <a:rPr lang="en-US" altLang="ko-KR" sz="1400" b="0" dirty="0" smtClean="0"/>
              <a:t>, </a:t>
            </a:r>
            <a:r>
              <a:rPr lang="ko-KR" altLang="en-US" sz="1400" b="0" dirty="0" smtClean="0"/>
              <a:t>이름</a:t>
            </a:r>
            <a:r>
              <a:rPr lang="en-US" altLang="ko-KR" sz="1400" b="0" dirty="0" smtClean="0"/>
              <a:t>, </a:t>
            </a:r>
            <a:r>
              <a:rPr lang="ko-KR" altLang="en-US" sz="1400" b="0" dirty="0" smtClean="0"/>
              <a:t>핸드폰</a:t>
            </a:r>
            <a:r>
              <a:rPr lang="en-US" altLang="ko-KR" sz="1400" b="0" dirty="0" smtClean="0"/>
              <a:t>), (</a:t>
            </a:r>
            <a:r>
              <a:rPr lang="ko-KR" altLang="en-US" sz="1400" b="0" dirty="0" err="1" smtClean="0"/>
              <a:t>고객번호</a:t>
            </a:r>
            <a:r>
              <a:rPr lang="en-US" altLang="ko-KR" sz="1400" b="0" dirty="0" smtClean="0"/>
              <a:t>),             </a:t>
            </a:r>
            <a:br>
              <a:rPr lang="en-US" altLang="ko-KR" sz="1400" b="0" dirty="0" smtClean="0"/>
            </a:br>
            <a:r>
              <a:rPr lang="en-US" altLang="ko-KR" sz="1400" b="0" dirty="0" smtClean="0"/>
              <a:t>           (</a:t>
            </a:r>
            <a:r>
              <a:rPr lang="ko-KR" altLang="en-US" sz="1400" b="0" dirty="0" err="1" smtClean="0"/>
              <a:t>고객번호</a:t>
            </a:r>
            <a:r>
              <a:rPr lang="en-US" altLang="ko-KR" sz="1400" b="0" dirty="0" smtClean="0"/>
              <a:t>, </a:t>
            </a:r>
            <a:r>
              <a:rPr lang="ko-KR" altLang="en-US" sz="1400" b="0" dirty="0" smtClean="0"/>
              <a:t>이름</a:t>
            </a:r>
            <a:r>
              <a:rPr lang="en-US" altLang="ko-KR" sz="1400" b="0" dirty="0" smtClean="0"/>
              <a:t>, </a:t>
            </a:r>
            <a:r>
              <a:rPr lang="ko-KR" altLang="en-US" sz="1400" b="0" dirty="0" smtClean="0"/>
              <a:t>주소</a:t>
            </a:r>
            <a:r>
              <a:rPr lang="en-US" altLang="ko-KR" sz="1400" b="0" dirty="0" smtClean="0"/>
              <a:t>), (</a:t>
            </a:r>
            <a:r>
              <a:rPr lang="ko-KR" altLang="en-US" sz="1400" b="0" dirty="0" err="1" smtClean="0"/>
              <a:t>고객번호</a:t>
            </a:r>
            <a:r>
              <a:rPr lang="en-US" altLang="ko-KR" sz="1400" b="0" dirty="0" smtClean="0"/>
              <a:t>, </a:t>
            </a:r>
            <a:r>
              <a:rPr lang="ko-KR" altLang="en-US" sz="1400" b="0" dirty="0" smtClean="0"/>
              <a:t>이름</a:t>
            </a:r>
            <a:r>
              <a:rPr lang="en-US" altLang="ko-KR" sz="1400" b="0" dirty="0" smtClean="0"/>
              <a:t>, </a:t>
            </a:r>
            <a:r>
              <a:rPr lang="ko-KR" altLang="en-US" sz="1400" b="0" dirty="0" smtClean="0"/>
              <a:t>주민번호</a:t>
            </a:r>
            <a:r>
              <a:rPr lang="en-US" altLang="ko-KR" sz="1400" b="0" dirty="0" smtClean="0"/>
              <a:t>, </a:t>
            </a:r>
            <a:r>
              <a:rPr lang="ko-KR" altLang="en-US" sz="1400" b="0" dirty="0" smtClean="0"/>
              <a:t>주소</a:t>
            </a:r>
            <a:r>
              <a:rPr lang="en-US" altLang="ko-KR" sz="1400" b="0" dirty="0" smtClean="0"/>
              <a:t>, </a:t>
            </a:r>
            <a:r>
              <a:rPr lang="ko-KR" altLang="en-US" sz="1400" b="0" dirty="0" smtClean="0"/>
              <a:t>핸드폰</a:t>
            </a:r>
            <a:r>
              <a:rPr lang="en-US" altLang="ko-KR" sz="1400" b="0" dirty="0" smtClean="0"/>
              <a:t>) </a:t>
            </a:r>
            <a:r>
              <a:rPr lang="ko-KR" altLang="en-US" sz="1400" b="0" dirty="0" smtClean="0"/>
              <a:t>등</a:t>
            </a:r>
            <a:endParaRPr lang="en-US" altLang="ko-KR" b="0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6391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  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16D884-663A-430D-B72F-0EF1FCDB4AA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 err="1" smtClean="0"/>
              <a:t>투플을</a:t>
            </a:r>
            <a:r>
              <a:rPr lang="ko-KR" altLang="en-US" dirty="0" smtClean="0"/>
              <a:t> 유일하게 식별할 수 있는 속성의 최소 집합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(</a:t>
            </a:r>
            <a:r>
              <a:rPr lang="ko-KR" altLang="en-US" dirty="0" smtClean="0"/>
              <a:t>주문 </a:t>
            </a:r>
            <a:r>
              <a:rPr lang="ko-KR" altLang="en-US" dirty="0" err="1" smtClean="0"/>
              <a:t>릴레이션</a:t>
            </a:r>
            <a:r>
              <a:rPr lang="ko-KR" altLang="en-US" dirty="0" smtClean="0"/>
              <a:t> 예</a:t>
            </a:r>
            <a:r>
              <a:rPr lang="en-US" altLang="ko-KR" dirty="0" smtClean="0"/>
              <a:t>) </a:t>
            </a:r>
          </a:p>
          <a:p>
            <a:pPr lvl="1"/>
            <a:r>
              <a:rPr lang="ko-KR" altLang="en-US" dirty="0" err="1" smtClean="0"/>
              <a:t>고객번호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한 명의 고객이 여러 권의 도서를 구입할 수 있으므로 </a:t>
            </a:r>
            <a:r>
              <a:rPr lang="ko-KR" altLang="en-US" dirty="0" err="1" smtClean="0"/>
              <a:t>후보키가</a:t>
            </a:r>
            <a:r>
              <a:rPr lang="ko-KR" altLang="en-US" dirty="0" smtClean="0"/>
              <a:t> 될 수 없음</a:t>
            </a:r>
            <a:r>
              <a:rPr lang="en-US" altLang="ko-KR" dirty="0" smtClean="0"/>
              <a:t>. </a:t>
            </a:r>
            <a:br>
              <a:rPr lang="en-US" altLang="ko-KR" dirty="0" smtClean="0"/>
            </a:br>
            <a:r>
              <a:rPr lang="ko-KR" altLang="en-US" dirty="0" err="1" smtClean="0"/>
              <a:t>고객번호가</a:t>
            </a:r>
            <a:r>
              <a:rPr lang="ko-KR" altLang="en-US" dirty="0" smtClean="0"/>
              <a:t>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인 박지성 고객은 세 번의 주문 기록이 있으므로 </a:t>
            </a:r>
            <a:r>
              <a:rPr lang="ko-KR" altLang="en-US" dirty="0" err="1" smtClean="0"/>
              <a:t>투플을</a:t>
            </a:r>
            <a:r>
              <a:rPr lang="ko-KR" altLang="en-US" dirty="0" smtClean="0"/>
              <a:t> 유일하게 식별할 수 없음</a:t>
            </a:r>
            <a:r>
              <a:rPr lang="en-US" altLang="ko-KR" dirty="0" smtClean="0"/>
              <a:t>.  </a:t>
            </a:r>
          </a:p>
          <a:p>
            <a:pPr lvl="1"/>
            <a:r>
              <a:rPr lang="ko-KR" altLang="en-US" dirty="0" err="1" smtClean="0"/>
              <a:t>도서번호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도서번호가</a:t>
            </a:r>
            <a:r>
              <a:rPr lang="ko-KR" altLang="en-US" dirty="0" smtClean="0"/>
              <a:t> </a:t>
            </a:r>
            <a:r>
              <a:rPr lang="en-US" altLang="ko-KR" dirty="0" smtClean="0"/>
              <a:t>2</a:t>
            </a:r>
            <a:r>
              <a:rPr lang="ko-KR" altLang="en-US" dirty="0" smtClean="0"/>
              <a:t>인 </a:t>
            </a:r>
            <a:r>
              <a:rPr lang="en-US" altLang="ko-KR" dirty="0" smtClean="0"/>
              <a:t>‘</a:t>
            </a:r>
            <a:r>
              <a:rPr lang="ko-KR" altLang="en-US" dirty="0" err="1" smtClean="0"/>
              <a:t>축구아는</a:t>
            </a:r>
            <a:r>
              <a:rPr lang="ko-KR" altLang="en-US" dirty="0" smtClean="0"/>
              <a:t> 여자</a:t>
            </a:r>
            <a:r>
              <a:rPr lang="en-US" altLang="ko-KR" dirty="0" smtClean="0"/>
              <a:t>’</a:t>
            </a:r>
            <a:r>
              <a:rPr lang="ko-KR" altLang="en-US" dirty="0" smtClean="0"/>
              <a:t>는 두 번의 주문 기록이 있으므로 </a:t>
            </a:r>
            <a:r>
              <a:rPr lang="ko-KR" altLang="en-US" dirty="0" err="1" smtClean="0"/>
              <a:t>투플을</a:t>
            </a:r>
            <a:r>
              <a:rPr lang="ko-KR" altLang="en-US" dirty="0" smtClean="0"/>
              <a:t> 유일하게 식별할 수 없음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주문 </a:t>
            </a:r>
            <a:r>
              <a:rPr lang="ko-KR" altLang="en-US" dirty="0" err="1" smtClean="0"/>
              <a:t>릴레이션의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후보키는</a:t>
            </a:r>
            <a:r>
              <a:rPr lang="ko-KR" altLang="en-US" dirty="0" smtClean="0"/>
              <a:t> </a:t>
            </a:r>
            <a:r>
              <a:rPr lang="en-US" altLang="ko-KR" dirty="0" smtClean="0"/>
              <a:t>2</a:t>
            </a:r>
            <a:r>
              <a:rPr lang="ko-KR" altLang="en-US" dirty="0" smtClean="0"/>
              <a:t>개의 속성을 합한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고객번호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도서번호</a:t>
            </a:r>
            <a:r>
              <a:rPr lang="en-US" altLang="ko-KR" dirty="0" smtClean="0"/>
              <a:t>)</a:t>
            </a:r>
            <a:r>
              <a:rPr lang="ko-KR" altLang="en-US" dirty="0" smtClean="0"/>
              <a:t>가 됨</a:t>
            </a:r>
            <a:r>
              <a:rPr lang="en-US" altLang="ko-KR" dirty="0" smtClean="0"/>
              <a:t>. </a:t>
            </a:r>
            <a:br>
              <a:rPr lang="en-US" altLang="ko-KR" dirty="0" smtClean="0"/>
            </a:br>
            <a:r>
              <a:rPr lang="ko-KR" altLang="en-US" dirty="0" smtClean="0"/>
              <a:t>참고로 이렇게 </a:t>
            </a:r>
            <a:r>
              <a:rPr lang="en-US" altLang="ko-KR" dirty="0" smtClean="0"/>
              <a:t>2</a:t>
            </a:r>
            <a:r>
              <a:rPr lang="ko-KR" altLang="en-US" dirty="0" smtClean="0"/>
              <a:t>개 이상의 속성으로 이루어진 키를 </a:t>
            </a:r>
            <a:r>
              <a:rPr lang="ko-KR" altLang="en-US" dirty="0" err="1" smtClean="0"/>
              <a:t>복합키</a:t>
            </a:r>
            <a:r>
              <a:rPr lang="en-US" altLang="ko-KR" dirty="0" smtClean="0"/>
              <a:t>(composite key)</a:t>
            </a:r>
            <a:r>
              <a:rPr lang="ko-KR" altLang="en-US" dirty="0" smtClean="0"/>
              <a:t>라고 함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B490ABA-1915-4633-AC75-5EA920D641AB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1224136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/>
              <a:t>후보키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9543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  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16D884-663A-430D-B72F-0EF1FCDB4AA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 smtClean="0"/>
              <a:t>여러 </a:t>
            </a:r>
            <a:r>
              <a:rPr lang="ko-KR" altLang="en-US" dirty="0" err="1" smtClean="0"/>
              <a:t>후보키</a:t>
            </a:r>
            <a:r>
              <a:rPr lang="ko-KR" altLang="en-US" dirty="0" smtClean="0"/>
              <a:t> 중 하나를 선정하여 대표로 삼는 키</a:t>
            </a:r>
          </a:p>
          <a:p>
            <a:r>
              <a:rPr lang="ko-KR" altLang="en-US" dirty="0" err="1" smtClean="0"/>
              <a:t>후보키가</a:t>
            </a:r>
            <a:r>
              <a:rPr lang="ko-KR" altLang="en-US" dirty="0" smtClean="0"/>
              <a:t> 하나뿐이라면 그 </a:t>
            </a:r>
            <a:r>
              <a:rPr lang="ko-KR" altLang="en-US" dirty="0" err="1" smtClean="0"/>
              <a:t>후보키를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기본키로</a:t>
            </a:r>
            <a:r>
              <a:rPr lang="ko-KR" altLang="en-US" dirty="0" smtClean="0"/>
              <a:t> 사용하면 되고 여러 개라면 </a:t>
            </a:r>
            <a:r>
              <a:rPr lang="ko-KR" altLang="en-US" dirty="0" err="1" smtClean="0"/>
              <a:t>릴레이션의</a:t>
            </a:r>
            <a:r>
              <a:rPr lang="ko-KR" altLang="en-US" dirty="0" smtClean="0"/>
              <a:t> 특성을 반영하여 하나를 선택하면 됨</a:t>
            </a:r>
            <a:r>
              <a:rPr lang="en-US" altLang="ko-KR" dirty="0" smtClean="0"/>
              <a:t>. </a:t>
            </a:r>
          </a:p>
          <a:p>
            <a:endParaRPr lang="en-US" altLang="ko-KR" dirty="0" smtClean="0"/>
          </a:p>
          <a:p>
            <a:r>
              <a:rPr lang="ko-KR" altLang="en-US" dirty="0" err="1" smtClean="0"/>
              <a:t>기본키</a:t>
            </a:r>
            <a:r>
              <a:rPr lang="ko-KR" altLang="en-US" dirty="0" smtClean="0"/>
              <a:t> 선정 시 고려사항</a:t>
            </a:r>
          </a:p>
          <a:p>
            <a:endParaRPr lang="ko-KR" altLang="en-US" dirty="0" smtClean="0"/>
          </a:p>
          <a:p>
            <a:pPr lvl="1"/>
            <a:r>
              <a:rPr lang="ko-KR" altLang="en-US" dirty="0" err="1" smtClean="0"/>
              <a:t>릴레이션</a:t>
            </a:r>
            <a:r>
              <a:rPr lang="ko-KR" altLang="en-US" dirty="0" smtClean="0"/>
              <a:t> 내 </a:t>
            </a:r>
            <a:r>
              <a:rPr lang="ko-KR" altLang="en-US" dirty="0" err="1" smtClean="0"/>
              <a:t>투플을</a:t>
            </a:r>
            <a:r>
              <a:rPr lang="ko-KR" altLang="en-US" dirty="0" smtClean="0"/>
              <a:t> 식별할 수 있는 고유한 값을 가져야 함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 smtClean="0"/>
              <a:t>NULL </a:t>
            </a:r>
            <a:r>
              <a:rPr lang="ko-KR" altLang="en-US" dirty="0" smtClean="0"/>
              <a:t>값은 허용하지 않음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키 값의 변동이 일어나지 않아야 함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최대한 적은 수의 속성을 가진 것이라야 함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향후 키를 사용하는 데 있어서 문제 발생 소지가 없어야 함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 smtClean="0"/>
          </a:p>
          <a:p>
            <a:pPr lvl="1"/>
            <a:r>
              <a:rPr lang="ko-KR" altLang="en-US" dirty="0" err="1" smtClean="0"/>
              <a:t>릴레이션</a:t>
            </a:r>
            <a:r>
              <a:rPr lang="ko-KR" altLang="en-US" dirty="0" smtClean="0"/>
              <a:t> 스키마를 표현할 때 </a:t>
            </a:r>
            <a:r>
              <a:rPr lang="ko-KR" altLang="en-US" dirty="0" err="1" smtClean="0"/>
              <a:t>기본키는</a:t>
            </a:r>
            <a:r>
              <a:rPr lang="ko-KR" altLang="en-US" dirty="0" smtClean="0"/>
              <a:t> 밑줄을 그어 표시함</a:t>
            </a:r>
          </a:p>
          <a:p>
            <a:pPr marL="266700" lvl="1" indent="0">
              <a:buNone/>
            </a:pPr>
            <a:r>
              <a:rPr lang="ko-KR" altLang="en-US" sz="1200" dirty="0" smtClean="0"/>
              <a:t>	</a:t>
            </a:r>
            <a:r>
              <a:rPr lang="ko-KR" altLang="en-US" sz="1200" dirty="0" err="1" smtClean="0"/>
              <a:t>릴레이션</a:t>
            </a:r>
            <a:r>
              <a:rPr lang="ko-KR" altLang="en-US" sz="1200" dirty="0" smtClean="0"/>
              <a:t> 이름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속성</a:t>
            </a:r>
            <a:r>
              <a:rPr lang="en-US" altLang="ko-KR" sz="1200" dirty="0" smtClean="0"/>
              <a:t>1, </a:t>
            </a:r>
            <a:r>
              <a:rPr lang="ko-KR" altLang="en-US" sz="1200" dirty="0" smtClean="0"/>
              <a:t>속성</a:t>
            </a:r>
            <a:r>
              <a:rPr lang="en-US" altLang="ko-KR" sz="1200" dirty="0" smtClean="0"/>
              <a:t>2, …. </a:t>
            </a:r>
            <a:r>
              <a:rPr lang="ko-KR" altLang="en-US" sz="1200" dirty="0" smtClean="0"/>
              <a:t>속성</a:t>
            </a:r>
            <a:r>
              <a:rPr lang="en-US" altLang="ko-KR" sz="1200" dirty="0" smtClean="0"/>
              <a:t>N)</a:t>
            </a:r>
          </a:p>
          <a:p>
            <a:pPr marL="266700" lvl="1" indent="0">
              <a:buNone/>
            </a:pPr>
            <a:r>
              <a:rPr lang="en-US" altLang="ko-KR" sz="1200" dirty="0" smtClean="0"/>
              <a:t>	EX) </a:t>
            </a:r>
            <a:r>
              <a:rPr lang="ko-KR" altLang="en-US" sz="1200" dirty="0" smtClean="0"/>
              <a:t>고객</a:t>
            </a:r>
            <a:r>
              <a:rPr lang="en-US" altLang="ko-KR" sz="1200" dirty="0" smtClean="0"/>
              <a:t>(</a:t>
            </a:r>
            <a:r>
              <a:rPr lang="ko-KR" altLang="en-US" sz="1200" dirty="0" err="1" smtClean="0"/>
              <a:t>고객번호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이름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주민번호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주소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핸드폰</a:t>
            </a:r>
            <a:r>
              <a:rPr lang="en-US" altLang="ko-KR" sz="1200" dirty="0" smtClean="0"/>
              <a:t>)</a:t>
            </a:r>
          </a:p>
          <a:p>
            <a:pPr marL="266700" lvl="1" indent="0">
              <a:buNone/>
            </a:pPr>
            <a:r>
              <a:rPr lang="en-US" altLang="ko-KR" sz="1200" dirty="0" smtClean="0"/>
              <a:t>            </a:t>
            </a:r>
            <a:r>
              <a:rPr lang="ko-KR" altLang="en-US" sz="1200" dirty="0" smtClean="0"/>
              <a:t>도서</a:t>
            </a:r>
            <a:r>
              <a:rPr lang="en-US" altLang="ko-KR" sz="1200" dirty="0" smtClean="0"/>
              <a:t>(</a:t>
            </a:r>
            <a:r>
              <a:rPr lang="ko-KR" altLang="en-US" sz="1200" dirty="0" err="1" smtClean="0"/>
              <a:t>도서번호</a:t>
            </a:r>
            <a:r>
              <a:rPr lang="en-US" altLang="ko-KR" sz="1200" dirty="0" smtClean="0"/>
              <a:t>, </a:t>
            </a:r>
            <a:r>
              <a:rPr lang="ko-KR" altLang="en-US" sz="1200" dirty="0" err="1" smtClean="0"/>
              <a:t>도서이름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출판사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가격</a:t>
            </a:r>
            <a:r>
              <a:rPr lang="en-US" altLang="ko-KR" sz="1200" dirty="0" smtClean="0"/>
              <a:t>)</a:t>
            </a:r>
          </a:p>
          <a:p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B490ABA-1915-4633-AC75-5EA920D641AB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1224136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/>
              <a:t>기본키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94500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  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16D884-663A-430D-B72F-0EF1FCDB4AA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 err="1" smtClean="0"/>
              <a:t>기본키가</a:t>
            </a:r>
            <a:r>
              <a:rPr lang="ko-KR" altLang="en-US" dirty="0" smtClean="0"/>
              <a:t> 보안을 요하거나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여러 개의 속성으로 구성되어 복잡하거나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마땅한 </a:t>
            </a:r>
            <a:r>
              <a:rPr lang="ko-KR" altLang="en-US" dirty="0" err="1" smtClean="0"/>
              <a:t>기본키가</a:t>
            </a:r>
            <a:r>
              <a:rPr lang="ko-KR" altLang="en-US" dirty="0" smtClean="0"/>
              <a:t> 없을 때는 일련번호 같은 가상의 속성을 만들어 </a:t>
            </a:r>
            <a:r>
              <a:rPr lang="ko-KR" altLang="en-US" dirty="0" err="1" smtClean="0"/>
              <a:t>기본키로</a:t>
            </a:r>
            <a:r>
              <a:rPr lang="ko-KR" altLang="en-US" dirty="0" smtClean="0"/>
              <a:t> 삼는 경우가 있음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이러한 키를 </a:t>
            </a:r>
            <a:r>
              <a:rPr lang="ko-KR" altLang="en-US" dirty="0" err="1" smtClean="0"/>
              <a:t>대리키</a:t>
            </a:r>
            <a:r>
              <a:rPr lang="en-US" altLang="ko-KR" dirty="0" smtClean="0"/>
              <a:t>(surrogate key) </a:t>
            </a:r>
            <a:r>
              <a:rPr lang="ko-KR" altLang="en-US" dirty="0" smtClean="0"/>
              <a:t>혹은 </a:t>
            </a:r>
            <a:r>
              <a:rPr lang="ko-KR" altLang="en-US" dirty="0" err="1" smtClean="0">
                <a:solidFill>
                  <a:srgbClr val="C85873"/>
                </a:solidFill>
              </a:rPr>
              <a:t>인조키</a:t>
            </a:r>
            <a:r>
              <a:rPr lang="en-US" altLang="ko-KR" dirty="0" smtClean="0"/>
              <a:t>(artificial key)</a:t>
            </a:r>
            <a:r>
              <a:rPr lang="ko-KR" altLang="en-US" dirty="0" smtClean="0"/>
              <a:t>라고 함</a:t>
            </a:r>
            <a:r>
              <a:rPr lang="en-US" altLang="ko-KR" dirty="0" smtClean="0"/>
              <a:t>. </a:t>
            </a:r>
          </a:p>
          <a:p>
            <a:r>
              <a:rPr lang="ko-KR" altLang="en-US" dirty="0" err="1" smtClean="0"/>
              <a:t>대리키는</a:t>
            </a:r>
            <a:r>
              <a:rPr lang="ko-KR" altLang="en-US" dirty="0" smtClean="0"/>
              <a:t> </a:t>
            </a:r>
            <a:r>
              <a:rPr lang="en-US" altLang="ko-KR" dirty="0" smtClean="0"/>
              <a:t>DBMS</a:t>
            </a:r>
            <a:r>
              <a:rPr lang="ko-KR" altLang="en-US" dirty="0" smtClean="0"/>
              <a:t>나 관련 소프트웨어에서 임의로 생성하는 값으로 사용자가 직관적으로 그 값의 의미를 알 수 없음</a:t>
            </a:r>
            <a:r>
              <a:rPr lang="en-US" altLang="ko-KR" dirty="0" smtClean="0"/>
              <a:t>.</a:t>
            </a:r>
            <a:endParaRPr lang="ko-KR" altLang="en-US" dirty="0" smtClean="0"/>
          </a:p>
          <a:p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B490ABA-1915-4633-AC75-5EA920D641AB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1224136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대리키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7774BD-4E0D-43F6-8C13-7DEA3E4EBB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3163174"/>
            <a:ext cx="4248472" cy="326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005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  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16D884-663A-430D-B72F-0EF1FCDB4AA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smtClean="0"/>
              <a:t>대체키</a:t>
            </a:r>
            <a:r>
              <a:rPr lang="en-US" altLang="ko-KR" smtClean="0"/>
              <a:t>(alternate key)</a:t>
            </a:r>
            <a:r>
              <a:rPr lang="ko-KR" altLang="en-US" smtClean="0"/>
              <a:t>는 기본키로 선정되지 않은 후보키를 말함</a:t>
            </a:r>
            <a:r>
              <a:rPr lang="en-US" altLang="ko-KR" smtClean="0"/>
              <a:t>. </a:t>
            </a:r>
          </a:p>
          <a:p>
            <a:endParaRPr lang="en-US" altLang="ko-KR" smtClean="0"/>
          </a:p>
          <a:p>
            <a:r>
              <a:rPr lang="ko-KR" altLang="en-US" smtClean="0"/>
              <a:t>고객 릴레이션의 경우 고객번호와 주민번호 중 고객번호를 기본키로 정하면 주민번호가 대체키가 됨</a:t>
            </a:r>
            <a:r>
              <a:rPr lang="en-US" altLang="ko-KR" smtClean="0"/>
              <a:t>.</a:t>
            </a:r>
            <a:endParaRPr lang="ko-KR" altLang="en-US" smtClean="0"/>
          </a:p>
          <a:p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B490ABA-1915-4633-AC75-5EA920D641AB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1224136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대체키</a:t>
            </a:r>
          </a:p>
        </p:txBody>
      </p:sp>
    </p:spTree>
    <p:extLst>
      <p:ext uri="{BB962C8B-B14F-4D97-AF65-F5344CB8AC3E}">
        <p14:creationId xmlns:p14="http://schemas.microsoft.com/office/powerpoint/2010/main" val="10683701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  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16D884-663A-430D-B72F-0EF1FCDB4AA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smtClean="0"/>
              <a:t>다른 릴레이션의 기본키를 참조하는 속성을 말함</a:t>
            </a:r>
            <a:r>
              <a:rPr lang="en-US" altLang="ko-KR" smtClean="0"/>
              <a:t>. </a:t>
            </a:r>
            <a:r>
              <a:rPr lang="ko-KR" altLang="en-US" smtClean="0"/>
              <a:t>다른 릴레이션의 기본키를 참조하여 관계 데이터 모델의 특징인 릴레이션 간의 관계</a:t>
            </a:r>
            <a:r>
              <a:rPr lang="en-US" altLang="ko-KR" smtClean="0"/>
              <a:t>(relationship)</a:t>
            </a:r>
            <a:r>
              <a:rPr lang="ko-KR" altLang="en-US" smtClean="0"/>
              <a:t>를 표현함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외래키의 특징</a:t>
            </a:r>
            <a:endParaRPr lang="en-US" altLang="ko-KR" smtClean="0"/>
          </a:p>
          <a:p>
            <a:endParaRPr lang="en-US" altLang="ko-KR" smtClean="0"/>
          </a:p>
          <a:p>
            <a:pPr lvl="1"/>
            <a:r>
              <a:rPr lang="ko-KR" altLang="en-US" smtClean="0"/>
              <a:t>관계 데이터 모델의 릴레이션 간의 관계를 표현함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다른 릴레이션의 기본키를 참조하는 속성임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참조하고</a:t>
            </a:r>
            <a:r>
              <a:rPr lang="en-US" altLang="ko-KR" smtClean="0"/>
              <a:t>(</a:t>
            </a:r>
            <a:r>
              <a:rPr lang="ko-KR" altLang="en-US" smtClean="0"/>
              <a:t>외래키</a:t>
            </a:r>
            <a:r>
              <a:rPr lang="en-US" altLang="ko-KR" smtClean="0"/>
              <a:t>) </a:t>
            </a:r>
            <a:r>
              <a:rPr lang="ko-KR" altLang="en-US" smtClean="0"/>
              <a:t>참조되는</a:t>
            </a:r>
            <a:r>
              <a:rPr lang="en-US" altLang="ko-KR" smtClean="0"/>
              <a:t>(</a:t>
            </a:r>
            <a:r>
              <a:rPr lang="ko-KR" altLang="en-US" smtClean="0"/>
              <a:t>기본키</a:t>
            </a:r>
            <a:r>
              <a:rPr lang="en-US" altLang="ko-KR" smtClean="0"/>
              <a:t>) </a:t>
            </a:r>
            <a:r>
              <a:rPr lang="ko-KR" altLang="en-US" smtClean="0"/>
              <a:t>양쪽 릴레이션의 도메인은 서로 같아야 함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참조되는</a:t>
            </a:r>
            <a:r>
              <a:rPr lang="en-US" altLang="ko-KR" smtClean="0"/>
              <a:t>(</a:t>
            </a:r>
            <a:r>
              <a:rPr lang="ko-KR" altLang="en-US" smtClean="0"/>
              <a:t>기본키</a:t>
            </a:r>
            <a:r>
              <a:rPr lang="en-US" altLang="ko-KR" smtClean="0"/>
              <a:t>) </a:t>
            </a:r>
            <a:r>
              <a:rPr lang="ko-KR" altLang="en-US" smtClean="0"/>
              <a:t>값이 변경되면 참조하는</a:t>
            </a:r>
            <a:r>
              <a:rPr lang="en-US" altLang="ko-KR" smtClean="0"/>
              <a:t>(</a:t>
            </a:r>
            <a:r>
              <a:rPr lang="ko-KR" altLang="en-US" smtClean="0"/>
              <a:t>외래키</a:t>
            </a:r>
            <a:r>
              <a:rPr lang="en-US" altLang="ko-KR" smtClean="0"/>
              <a:t>) </a:t>
            </a:r>
            <a:r>
              <a:rPr lang="ko-KR" altLang="en-US" smtClean="0"/>
              <a:t>값도 변경됨</a:t>
            </a:r>
            <a:r>
              <a:rPr lang="en-US" altLang="ko-KR" smtClean="0"/>
              <a:t>.</a:t>
            </a:r>
          </a:p>
          <a:p>
            <a:pPr lvl="1"/>
            <a:r>
              <a:rPr lang="en-US" altLang="ko-KR" smtClean="0"/>
              <a:t>NULL </a:t>
            </a:r>
            <a:r>
              <a:rPr lang="ko-KR" altLang="en-US" smtClean="0"/>
              <a:t>값과 중복 값 등이 허용됨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자기 자신의 기본키를 참조하는 외래키도 가능함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외래키가 기본키의 일부가 될 수 있음</a:t>
            </a:r>
            <a:r>
              <a:rPr lang="en-US" altLang="ko-KR" smtClean="0"/>
              <a:t>.</a:t>
            </a:r>
            <a:endParaRPr lang="ko-KR" altLang="en-US" smtClean="0"/>
          </a:p>
          <a:p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B490ABA-1915-4633-AC75-5EA920D641AB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1224136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/>
              <a:t>외래키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16004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  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EBBE2C4-DF29-48A0-8054-DBD0F1EC693A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25" y="1265678"/>
            <a:ext cx="8178963" cy="5118807"/>
          </a:xfr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6AF7BB36-3039-46BC-8150-AD68C8DC37E1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1224136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/>
              <a:t>외래키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08580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  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E59C09C-56DC-4253-9A80-69B87397E78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smtClean="0"/>
              <a:t>외래키 사용 시 참조하는 릴레이션과 참조되는 릴레이션이 꼭 다른 릴레이션일 필요는 없음</a:t>
            </a:r>
            <a:r>
              <a:rPr lang="en-US" altLang="ko-KR" smtClean="0"/>
              <a:t>. </a:t>
            </a:r>
            <a:r>
              <a:rPr lang="ko-KR" altLang="en-US" smtClean="0"/>
              <a:t>즉 자기 자신의 기본키를 참조할 수도 있음</a:t>
            </a:r>
            <a:r>
              <a:rPr lang="en-US" altLang="ko-KR" smtClean="0"/>
              <a:t>.</a:t>
            </a:r>
            <a:endParaRPr lang="ko-KR" altLang="en-US" smtClean="0"/>
          </a:p>
          <a:p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6AF7BB36-3039-46BC-8150-AD68C8DC37E1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1224136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/>
              <a:t>외래키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7025A2F-FAAD-4902-A4E1-641C933E6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258" y="2060848"/>
            <a:ext cx="4350952" cy="299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9272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2.1 </a:t>
            </a:r>
            <a:r>
              <a:rPr lang="ko-KR" altLang="en-US" smtClean="0"/>
              <a:t>키 </a:t>
            </a:r>
            <a:r>
              <a:rPr lang="en-US" altLang="ko-KR" smtClean="0"/>
              <a:t>– </a:t>
            </a:r>
            <a:r>
              <a:rPr lang="ko-KR" altLang="en-US" smtClean="0"/>
              <a:t>내용 요약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A293511-6710-47D2-A829-1D7C94AF0594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226" y="1839328"/>
            <a:ext cx="8160960" cy="3971506"/>
          </a:xfrm>
        </p:spPr>
      </p:pic>
    </p:spTree>
    <p:extLst>
      <p:ext uri="{BB962C8B-B14F-4D97-AF65-F5344CB8AC3E}">
        <p14:creationId xmlns:p14="http://schemas.microsoft.com/office/powerpoint/2010/main" val="33780807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2.2 </a:t>
            </a:r>
            <a:r>
              <a:rPr lang="ko-KR" altLang="en-US" smtClean="0"/>
              <a:t>무결성 제약조건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DC39D0D-2725-4B0D-9244-E9EB2BF9ED7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smtClean="0"/>
              <a:t>데이터 무결성</a:t>
            </a:r>
            <a:r>
              <a:rPr lang="en-US" altLang="ko-KR" smtClean="0"/>
              <a:t>(integrity, </a:t>
            </a:r>
            <a:r>
              <a:rPr lang="ko-KR" altLang="en-US" smtClean="0"/>
              <a:t>無缺性</a:t>
            </a:r>
            <a:r>
              <a:rPr lang="en-US" altLang="ko-KR" smtClean="0"/>
              <a:t>)</a:t>
            </a:r>
          </a:p>
          <a:p>
            <a:pPr lvl="2"/>
            <a:r>
              <a:rPr lang="ko-KR" altLang="en-US" smtClean="0"/>
              <a:t>데이터베이스에 저장된 데이터의 일관성과 정확성을 지키는 것을 말함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도메인 무결성 제약조건</a:t>
            </a:r>
          </a:p>
          <a:p>
            <a:pPr lvl="2"/>
            <a:r>
              <a:rPr lang="ko-KR" altLang="en-US" smtClean="0"/>
              <a:t>도메인 제약</a:t>
            </a:r>
            <a:r>
              <a:rPr lang="en-US" altLang="ko-KR" smtClean="0"/>
              <a:t>(domain constraint)</a:t>
            </a:r>
            <a:r>
              <a:rPr lang="ko-KR" altLang="en-US" smtClean="0"/>
              <a:t>이라고도 하며</a:t>
            </a:r>
            <a:r>
              <a:rPr lang="en-US" altLang="ko-KR" smtClean="0"/>
              <a:t>, </a:t>
            </a:r>
            <a:r>
              <a:rPr lang="ko-KR" altLang="en-US" smtClean="0"/>
              <a:t>릴레이션 내의 투플들이 각 속성의 도메인에 지정된 값만을 가져야 한다는 조건</a:t>
            </a:r>
            <a:endParaRPr lang="en-US" altLang="ko-KR" smtClean="0"/>
          </a:p>
          <a:p>
            <a:pPr lvl="2"/>
            <a:r>
              <a:rPr lang="en-US" altLang="ko-KR" smtClean="0"/>
              <a:t>SQL </a:t>
            </a:r>
            <a:r>
              <a:rPr lang="ko-KR" altLang="en-US" smtClean="0"/>
              <a:t>문에서 데이터 형식</a:t>
            </a:r>
            <a:r>
              <a:rPr lang="en-US" altLang="ko-KR" smtClean="0"/>
              <a:t>(type), </a:t>
            </a:r>
            <a:r>
              <a:rPr lang="ko-KR" altLang="en-US" smtClean="0"/>
              <a:t>널</a:t>
            </a:r>
            <a:r>
              <a:rPr lang="en-US" altLang="ko-KR" smtClean="0"/>
              <a:t>(null/not null), </a:t>
            </a:r>
            <a:r>
              <a:rPr lang="ko-KR" altLang="en-US" smtClean="0"/>
              <a:t>기본 값</a:t>
            </a:r>
            <a:r>
              <a:rPr lang="en-US" altLang="ko-KR" smtClean="0"/>
              <a:t>(default), </a:t>
            </a:r>
            <a:r>
              <a:rPr lang="ko-KR" altLang="en-US" smtClean="0"/>
              <a:t>체크</a:t>
            </a:r>
            <a:r>
              <a:rPr lang="en-US" altLang="ko-KR" smtClean="0"/>
              <a:t>(check) </a:t>
            </a:r>
            <a:r>
              <a:rPr lang="ko-KR" altLang="en-US" smtClean="0"/>
              <a:t>등을 사용하여 지정할 수 있음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개체 무결성 제약조건</a:t>
            </a:r>
          </a:p>
          <a:p>
            <a:pPr lvl="2"/>
            <a:r>
              <a:rPr lang="ko-KR" altLang="en-US" smtClean="0"/>
              <a:t>기본키 제약</a:t>
            </a:r>
            <a:r>
              <a:rPr lang="en-US" altLang="ko-KR" smtClean="0"/>
              <a:t>(primary key constraint)</a:t>
            </a:r>
            <a:r>
              <a:rPr lang="ko-KR" altLang="en-US" smtClean="0"/>
              <a:t>이라고도 함</a:t>
            </a:r>
            <a:r>
              <a:rPr lang="en-US" altLang="ko-KR" smtClean="0"/>
              <a:t>. </a:t>
            </a:r>
          </a:p>
          <a:p>
            <a:pPr lvl="2"/>
            <a:r>
              <a:rPr lang="ko-KR" altLang="en-US" smtClean="0"/>
              <a:t>릴레이션은 기본키를 지정하고 그에 따른 무결성 원칙 즉</a:t>
            </a:r>
            <a:r>
              <a:rPr lang="en-US" altLang="ko-KR" smtClean="0"/>
              <a:t>, </a:t>
            </a:r>
            <a:r>
              <a:rPr lang="ko-KR" altLang="en-US" smtClean="0"/>
              <a:t>기본키는 </a:t>
            </a:r>
            <a:r>
              <a:rPr lang="en-US" altLang="ko-KR" smtClean="0"/>
              <a:t>NULL </a:t>
            </a:r>
            <a:r>
              <a:rPr lang="ko-KR" altLang="en-US" smtClean="0"/>
              <a:t>값을 가져서는 안 되며 릴레이션 내에 오직 하나의 값만 존재해야 한다는 조건임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참조 무결성 제약조건</a:t>
            </a:r>
          </a:p>
          <a:p>
            <a:pPr lvl="2"/>
            <a:r>
              <a:rPr lang="ko-KR" altLang="en-US" smtClean="0"/>
              <a:t>외래키 제약</a:t>
            </a:r>
            <a:r>
              <a:rPr lang="en-US" altLang="ko-KR" smtClean="0"/>
              <a:t>(foreign key constraint)</a:t>
            </a:r>
            <a:r>
              <a:rPr lang="ko-KR" altLang="en-US" smtClean="0"/>
              <a:t>이라고도 하며</a:t>
            </a:r>
            <a:r>
              <a:rPr lang="en-US" altLang="ko-KR" smtClean="0"/>
              <a:t>, </a:t>
            </a:r>
            <a:r>
              <a:rPr lang="ko-KR" altLang="en-US" smtClean="0"/>
              <a:t>릴레이션 간의 참조 관계를 선언하는 제약조건</a:t>
            </a:r>
            <a:endParaRPr lang="en-US" altLang="ko-KR" smtClean="0"/>
          </a:p>
          <a:p>
            <a:pPr lvl="2"/>
            <a:r>
              <a:rPr lang="ko-KR" altLang="en-US" smtClean="0"/>
              <a:t>자식 릴레이션의 외래키는 부모 릴레이션의 기본키와 도메인이 동일해야 하며</a:t>
            </a:r>
            <a:r>
              <a:rPr lang="en-US" altLang="ko-KR" smtClean="0"/>
              <a:t>, </a:t>
            </a:r>
            <a:r>
              <a:rPr lang="ko-KR" altLang="en-US" smtClean="0"/>
              <a:t>자식 릴레이션의 값이 변경될 때 부모 릴레이션의 제약을 받는다는 것</a:t>
            </a:r>
            <a:endParaRPr lang="en-US" altLang="ko-KR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877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2.2 </a:t>
            </a:r>
            <a:r>
              <a:rPr lang="ko-KR" altLang="en-US" smtClean="0"/>
              <a:t>무결성 제약조건</a:t>
            </a:r>
            <a:endParaRPr lang="ko-KR" altLang="en-US" dirty="0"/>
          </a:p>
        </p:txBody>
      </p:sp>
      <p:pic>
        <p:nvPicPr>
          <p:cNvPr id="10" name="내용 개체 틀 9" descr="스크린샷이(가) 표시된 사진&#10;&#10;자동 생성된 설명">
            <a:extLst>
              <a:ext uri="{FF2B5EF4-FFF2-40B4-BE49-F238E27FC236}">
                <a16:creationId xmlns:a16="http://schemas.microsoft.com/office/drawing/2014/main" id="{1D1FC255-1B8E-44FB-9E14-DC536762E574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602" y="1268760"/>
            <a:ext cx="6192739" cy="3425770"/>
          </a:xfrm>
        </p:spPr>
      </p:pic>
      <p:sp>
        <p:nvSpPr>
          <p:cNvPr id="8" name="내용 개체 틀 6">
            <a:extLst>
              <a:ext uri="{FF2B5EF4-FFF2-40B4-BE49-F238E27FC236}">
                <a16:creationId xmlns:a16="http://schemas.microsoft.com/office/drawing/2014/main" id="{F6B8F734-E038-48D9-84EB-558CEF09BBC7}"/>
              </a:ext>
            </a:extLst>
          </p:cNvPr>
          <p:cNvSpPr txBox="1">
            <a:spLocks/>
          </p:cNvSpPr>
          <p:nvPr/>
        </p:nvSpPr>
        <p:spPr>
          <a:xfrm>
            <a:off x="467544" y="5055507"/>
            <a:ext cx="8496945" cy="165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685800" rtl="0" eaLnBrk="1" latinLnBrk="1" hangingPunct="1">
              <a:lnSpc>
                <a:spcPct val="150000"/>
              </a:lnSpc>
              <a:spcBef>
                <a:spcPts val="0"/>
              </a:spcBef>
              <a:buClr>
                <a:srgbClr val="559E5B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400"/>
              </a:spcAft>
              <a:buClr>
                <a:srgbClr val="9DCBA0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9DCBA0"/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9DCBA0"/>
              </a:buClr>
              <a:buSzPct val="96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buClr>
                <a:srgbClr val="9DCBA0"/>
              </a:buClr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Clr>
                <a:srgbClr val="E6B4C0"/>
              </a:buClr>
            </a:pPr>
            <a:r>
              <a:rPr lang="en-US" altLang="ko-KR" b="1" dirty="0"/>
              <a:t>&lt;</a:t>
            </a:r>
            <a:r>
              <a:rPr lang="ko-KR" altLang="en-US" b="1" dirty="0"/>
              <a:t>여기서 잠깐</a:t>
            </a:r>
            <a:r>
              <a:rPr lang="en-US" altLang="ko-KR" b="1" dirty="0"/>
              <a:t>&gt; UNIQUE </a:t>
            </a:r>
            <a:r>
              <a:rPr lang="ko-KR" altLang="en-US" b="1" dirty="0"/>
              <a:t>제약조건</a:t>
            </a:r>
            <a:r>
              <a:rPr lang="en-US" altLang="ko-KR" b="1" dirty="0"/>
              <a:t>(unique constraint, </a:t>
            </a:r>
            <a:r>
              <a:rPr lang="ko-KR" altLang="en-US" b="1" dirty="0"/>
              <a:t>유일성 제약조건</a:t>
            </a:r>
            <a:r>
              <a:rPr lang="en-US" altLang="ko-KR" b="1" dirty="0"/>
              <a:t>, </a:t>
            </a:r>
            <a:r>
              <a:rPr lang="ko-KR" altLang="en-US" b="1" dirty="0"/>
              <a:t>고유성 제약조건</a:t>
            </a:r>
            <a:r>
              <a:rPr lang="en-US" altLang="ko-KR" b="1" dirty="0"/>
              <a:t>) </a:t>
            </a:r>
          </a:p>
          <a:p>
            <a:pPr lvl="2">
              <a:lnSpc>
                <a:spcPct val="150000"/>
              </a:lnSpc>
              <a:buClr>
                <a:srgbClr val="E6B4C0"/>
              </a:buClr>
            </a:pPr>
            <a:r>
              <a:rPr lang="ko-KR" altLang="en-US" dirty="0"/>
              <a:t>실제 </a:t>
            </a:r>
            <a:r>
              <a:rPr lang="en-US" altLang="ko-KR" dirty="0"/>
              <a:t>DBMS</a:t>
            </a:r>
            <a:r>
              <a:rPr lang="ko-KR" altLang="en-US" dirty="0"/>
              <a:t>에서는 위에서 설명한 세 가지 무결성 제약조건과 함께 </a:t>
            </a:r>
            <a:r>
              <a:rPr lang="en-US" altLang="ko-KR" dirty="0"/>
              <a:t>UNIQUE </a:t>
            </a:r>
            <a:r>
              <a:rPr lang="ko-KR" altLang="en-US" dirty="0"/>
              <a:t>제약조건도 사용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UNIQUE </a:t>
            </a:r>
            <a:r>
              <a:rPr lang="ko-KR" altLang="en-US" dirty="0"/>
              <a:t>제약조건은 속성의 모든 값은 서로 같은 값이 없어야 한다는 것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이는 릴레이션 내의 각각의 </a:t>
            </a:r>
            <a:r>
              <a:rPr lang="ko-KR" altLang="en-US" dirty="0" err="1"/>
              <a:t>투플을</a:t>
            </a:r>
            <a:r>
              <a:rPr lang="ko-KR" altLang="en-US" dirty="0"/>
              <a:t> 유일하게 식별할 수 있는 속성들의 집합으로 볼 수 있음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en-US" altLang="ko-KR" dirty="0"/>
              <a:t>UNIQUE </a:t>
            </a:r>
            <a:r>
              <a:rPr lang="ko-KR" altLang="en-US" dirty="0"/>
              <a:t>제약조건은 </a:t>
            </a:r>
            <a:r>
              <a:rPr lang="ko-KR" altLang="en-US" dirty="0" err="1"/>
              <a:t>기본키</a:t>
            </a:r>
            <a:r>
              <a:rPr lang="ko-KR" altLang="en-US" dirty="0"/>
              <a:t> 제약과는 달리 </a:t>
            </a:r>
            <a:r>
              <a:rPr lang="en-US" altLang="ko-KR" dirty="0"/>
              <a:t>NULL </a:t>
            </a:r>
            <a:r>
              <a:rPr lang="ko-KR" altLang="en-US" dirty="0"/>
              <a:t>값을 허용</a:t>
            </a:r>
            <a:endParaRPr lang="en-US" altLang="ko-KR" dirty="0"/>
          </a:p>
          <a:p>
            <a:pPr>
              <a:buClr>
                <a:srgbClr val="E6B4C0"/>
              </a:buClr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97389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2.3 </a:t>
            </a:r>
            <a:r>
              <a:rPr lang="ko-KR" altLang="en-US" smtClean="0"/>
              <a:t>무결성의 제약조건의 수행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29612C-2AA4-43B9-8BC7-6C8E80A1515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1"/>
            <a:endParaRPr lang="en-US" altLang="ko-KR" smtClean="0"/>
          </a:p>
          <a:p>
            <a:pPr lvl="1"/>
            <a:endParaRPr lang="en-US" altLang="ko-KR" smtClean="0"/>
          </a:p>
          <a:p>
            <a:pPr lvl="1"/>
            <a:r>
              <a:rPr lang="ko-KR" altLang="en-US" smtClean="0"/>
              <a:t>삽입 </a:t>
            </a:r>
            <a:r>
              <a:rPr lang="en-US" altLang="ko-KR" smtClean="0"/>
              <a:t>: </a:t>
            </a:r>
            <a:r>
              <a:rPr lang="ko-KR" altLang="en-US" smtClean="0"/>
              <a:t>기본키 값이 같으면 삽입이 금지됨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수정 </a:t>
            </a:r>
            <a:r>
              <a:rPr lang="en-US" altLang="ko-KR" smtClean="0"/>
              <a:t>: </a:t>
            </a:r>
            <a:r>
              <a:rPr lang="ko-KR" altLang="en-US" smtClean="0"/>
              <a:t>기본키 값이 같거나 </a:t>
            </a:r>
            <a:r>
              <a:rPr lang="en-US" altLang="ko-KR" smtClean="0"/>
              <a:t>NULL</a:t>
            </a:r>
            <a:r>
              <a:rPr lang="ko-KR" altLang="en-US" smtClean="0"/>
              <a:t>로도 수정이 금지됨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삭제 </a:t>
            </a:r>
            <a:r>
              <a:rPr lang="en-US" altLang="ko-KR" smtClean="0"/>
              <a:t>: </a:t>
            </a:r>
            <a:r>
              <a:rPr lang="ko-KR" altLang="en-US" smtClean="0"/>
              <a:t>특별한 확인이 필요하지 않으며 즉시 수행함</a:t>
            </a:r>
            <a:r>
              <a:rPr lang="en-US" altLang="ko-KR" smtClean="0"/>
              <a:t>.</a:t>
            </a:r>
          </a:p>
          <a:p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6DC3CCE0-8145-4C48-96FC-39D43167DDA9}"/>
              </a:ext>
            </a:extLst>
          </p:cNvPr>
          <p:cNvSpPr txBox="1">
            <a:spLocks/>
          </p:cNvSpPr>
          <p:nvPr/>
        </p:nvSpPr>
        <p:spPr bwMode="auto">
          <a:xfrm>
            <a:off x="899592" y="1052736"/>
            <a:ext cx="3024336" cy="548680"/>
          </a:xfrm>
          <a:prstGeom prst="rect">
            <a:avLst/>
          </a:prstGeom>
          <a:solidFill>
            <a:srgbClr val="F7E9EC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sz="2000" dirty="0"/>
              <a:t>개체 무결성 제약조건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DF2EEBB-9497-4037-BBC3-A85CCFAA8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43" y="2600786"/>
            <a:ext cx="1929631" cy="183805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0AAD21B-2D9F-4708-A5B0-27D146BCD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74" y="4438841"/>
            <a:ext cx="3858941" cy="219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7218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2.3 </a:t>
            </a:r>
            <a:r>
              <a:rPr lang="ko-KR" altLang="en-US" smtClean="0"/>
              <a:t>무결성의 수행 제약조건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29612C-2AA4-43B9-8BC7-6C8E80A1515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1"/>
            <a:endParaRPr lang="en-US" altLang="ko-KR" smtClean="0"/>
          </a:p>
          <a:p>
            <a:pPr lvl="1"/>
            <a:endParaRPr lang="en-US" altLang="ko-KR" smtClean="0"/>
          </a:p>
          <a:p>
            <a:pPr lvl="1"/>
            <a:r>
              <a:rPr lang="ko-KR" altLang="en-US" smtClean="0"/>
              <a:t>학과</a:t>
            </a:r>
            <a:r>
              <a:rPr lang="en-US" altLang="ko-KR" smtClean="0"/>
              <a:t>(</a:t>
            </a:r>
            <a:r>
              <a:rPr lang="ko-KR" altLang="en-US" smtClean="0"/>
              <a:t>부모 릴레이션</a:t>
            </a:r>
            <a:r>
              <a:rPr lang="en-US" altLang="ko-KR" smtClean="0"/>
              <a:t>) : </a:t>
            </a:r>
            <a:r>
              <a:rPr lang="ko-KR" altLang="en-US" smtClean="0"/>
              <a:t>투플 삽입한 후 수행하면 정상적으로 진행</a:t>
            </a:r>
            <a:endParaRPr lang="en-US" altLang="ko-KR" smtClean="0"/>
          </a:p>
          <a:p>
            <a:pPr lvl="1"/>
            <a:r>
              <a:rPr lang="ko-KR" altLang="en-US" smtClean="0"/>
              <a:t>학생</a:t>
            </a:r>
            <a:r>
              <a:rPr lang="en-US" altLang="ko-KR" smtClean="0"/>
              <a:t>(</a:t>
            </a:r>
            <a:r>
              <a:rPr lang="ko-KR" altLang="en-US" smtClean="0"/>
              <a:t>자식 릴레이션</a:t>
            </a:r>
            <a:r>
              <a:rPr lang="en-US" altLang="ko-KR" smtClean="0"/>
              <a:t>) : </a:t>
            </a:r>
            <a:r>
              <a:rPr lang="ko-KR" altLang="en-US" smtClean="0"/>
              <a:t>참조받는 테이블에 외래키 값이 없으므로 삽입이 금지</a:t>
            </a:r>
          </a:p>
          <a:p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6DC3CCE0-8145-4C48-96FC-39D43167DDA9}"/>
              </a:ext>
            </a:extLst>
          </p:cNvPr>
          <p:cNvSpPr txBox="1">
            <a:spLocks/>
          </p:cNvSpPr>
          <p:nvPr/>
        </p:nvSpPr>
        <p:spPr bwMode="auto">
          <a:xfrm>
            <a:off x="899592" y="1052736"/>
            <a:ext cx="3230540" cy="548680"/>
          </a:xfrm>
          <a:prstGeom prst="rect">
            <a:avLst/>
          </a:prstGeom>
          <a:solidFill>
            <a:srgbClr val="F7E9EC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sz="2000" dirty="0"/>
              <a:t>참조 무결성 제약조건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4560AF-57B1-49AB-BC15-62B13C696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780928"/>
            <a:ext cx="4863793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2477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2.3 </a:t>
            </a:r>
            <a:r>
              <a:rPr lang="ko-KR" altLang="en-US" smtClean="0"/>
              <a:t>무결성의 수행 제약조건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29612C-2AA4-43B9-8BC7-6C8E80A1515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 smtClean="0"/>
              <a:t>삭제</a:t>
            </a:r>
          </a:p>
          <a:p>
            <a:pPr lvl="1"/>
            <a:r>
              <a:rPr lang="ko-KR" altLang="en-US" dirty="0" smtClean="0"/>
              <a:t>학과</a:t>
            </a:r>
            <a:r>
              <a:rPr lang="en-US" altLang="ko-KR" dirty="0" smtClean="0"/>
              <a:t>(</a:t>
            </a:r>
            <a:r>
              <a:rPr lang="ko-KR" altLang="en-US" dirty="0" smtClean="0"/>
              <a:t>부모 </a:t>
            </a:r>
            <a:r>
              <a:rPr lang="ko-KR" altLang="en-US" dirty="0" err="1" smtClean="0"/>
              <a:t>릴레이션</a:t>
            </a:r>
            <a:r>
              <a:rPr lang="en-US" altLang="ko-KR" dirty="0" smtClean="0"/>
              <a:t>) : </a:t>
            </a:r>
            <a:r>
              <a:rPr lang="ko-KR" altLang="en-US" dirty="0" smtClean="0"/>
              <a:t>참조하는 테이블을 같이 삭제할 수 있어서 금지하거나 다른 추가 작업이 필요함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학생</a:t>
            </a:r>
            <a:r>
              <a:rPr lang="en-US" altLang="ko-KR" dirty="0" smtClean="0"/>
              <a:t>(</a:t>
            </a:r>
            <a:r>
              <a:rPr lang="ko-KR" altLang="en-US" dirty="0" smtClean="0"/>
              <a:t>자식 </a:t>
            </a:r>
            <a:r>
              <a:rPr lang="ko-KR" altLang="en-US" dirty="0" err="1" smtClean="0"/>
              <a:t>릴레이션</a:t>
            </a:r>
            <a:r>
              <a:rPr lang="en-US" altLang="ko-KR" dirty="0" smtClean="0"/>
              <a:t>) : </a:t>
            </a:r>
            <a:r>
              <a:rPr lang="ko-KR" altLang="en-US" dirty="0" smtClean="0"/>
              <a:t>바로 삭제 가능함</a:t>
            </a:r>
            <a:r>
              <a:rPr lang="en-US" altLang="ko-KR" dirty="0" smtClean="0"/>
              <a:t>. </a:t>
            </a:r>
          </a:p>
          <a:p>
            <a:endParaRPr lang="en-US" altLang="ko-KR" dirty="0" smtClean="0"/>
          </a:p>
          <a:p>
            <a:pPr marL="266700" lvl="1" indent="0">
              <a:buNone/>
            </a:pPr>
            <a:r>
              <a:rPr lang="en-US" altLang="ko-KR" dirty="0" smtClean="0"/>
              <a:t>※ </a:t>
            </a:r>
            <a:r>
              <a:rPr lang="ko-KR" altLang="en-US" dirty="0" smtClean="0"/>
              <a:t>부모 릴레이션에서 </a:t>
            </a:r>
            <a:r>
              <a:rPr lang="ko-KR" altLang="en-US" dirty="0" err="1" smtClean="0"/>
              <a:t>투플을</a:t>
            </a:r>
            <a:r>
              <a:rPr lang="ko-KR" altLang="en-US" dirty="0" smtClean="0"/>
              <a:t> 삭제할 경우 참조 무결성 조건을 수행하기 위한 고려사항</a:t>
            </a:r>
          </a:p>
          <a:p>
            <a:pPr marL="676275" lvl="2" indent="-228600">
              <a:buClr>
                <a:srgbClr val="C85873"/>
              </a:buClr>
              <a:buFont typeface="+mj-ea"/>
              <a:buAutoNum type="circleNumDbPlain"/>
            </a:pPr>
            <a:r>
              <a:rPr lang="ko-KR" altLang="en-US" dirty="0" smtClean="0"/>
              <a:t>즉시 작업을 중지</a:t>
            </a:r>
          </a:p>
          <a:p>
            <a:pPr marL="676275" lvl="2" indent="-228600">
              <a:buClr>
                <a:srgbClr val="C85873"/>
              </a:buClr>
              <a:buFont typeface="+mj-ea"/>
              <a:buAutoNum type="circleNumDbPlain"/>
            </a:pPr>
            <a:r>
              <a:rPr lang="ko-KR" altLang="en-US" dirty="0" smtClean="0"/>
              <a:t>자식 </a:t>
            </a:r>
            <a:r>
              <a:rPr lang="ko-KR" altLang="en-US" dirty="0" err="1" smtClean="0"/>
              <a:t>릴레이션의</a:t>
            </a:r>
            <a:r>
              <a:rPr lang="ko-KR" altLang="en-US" dirty="0" smtClean="0"/>
              <a:t> 관련 </a:t>
            </a:r>
            <a:r>
              <a:rPr lang="ko-KR" altLang="en-US" dirty="0" err="1" smtClean="0"/>
              <a:t>투플을</a:t>
            </a:r>
            <a:r>
              <a:rPr lang="ko-KR" altLang="en-US" dirty="0" smtClean="0"/>
              <a:t> 삭제</a:t>
            </a:r>
          </a:p>
          <a:p>
            <a:pPr marL="676275" lvl="2" indent="-228600">
              <a:buClr>
                <a:srgbClr val="C85873"/>
              </a:buClr>
              <a:buFont typeface="+mj-ea"/>
              <a:buAutoNum type="circleNumDbPlain"/>
            </a:pPr>
            <a:r>
              <a:rPr lang="ko-KR" altLang="en-US" dirty="0" smtClean="0"/>
              <a:t>초기에 설정된 다른 어떤 값으로 변경</a:t>
            </a:r>
          </a:p>
          <a:p>
            <a:pPr marL="676275" lvl="2" indent="-228600">
              <a:buClr>
                <a:srgbClr val="C85873"/>
              </a:buClr>
              <a:buFont typeface="+mj-ea"/>
              <a:buAutoNum type="circleNumDbPlain"/>
            </a:pPr>
            <a:r>
              <a:rPr lang="ko-KR" altLang="en-US" dirty="0" smtClean="0"/>
              <a:t> </a:t>
            </a:r>
            <a:r>
              <a:rPr lang="en-US" altLang="ko-KR" dirty="0" smtClean="0"/>
              <a:t>NULL </a:t>
            </a:r>
            <a:r>
              <a:rPr lang="ko-KR" altLang="en-US" dirty="0" smtClean="0"/>
              <a:t>값으로 설정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수정</a:t>
            </a:r>
          </a:p>
          <a:p>
            <a:pPr lvl="1"/>
            <a:r>
              <a:rPr lang="ko-KR" altLang="en-US" dirty="0" smtClean="0"/>
              <a:t>삭제와 삽입 명령이 연속해서 수행됨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부모 </a:t>
            </a:r>
            <a:r>
              <a:rPr lang="ko-KR" altLang="en-US" dirty="0" err="1" smtClean="0"/>
              <a:t>릴레이션의</a:t>
            </a:r>
            <a:r>
              <a:rPr lang="ko-KR" altLang="en-US" dirty="0" smtClean="0"/>
              <a:t> 수정이 일어날 경우 삭제 옵션에 따라 처리된 후 문제가 없으면 다시 삽입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제약조건에 따라 처리됨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08284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2.3 </a:t>
            </a:r>
            <a:r>
              <a:rPr lang="ko-KR" altLang="en-US" smtClean="0"/>
              <a:t>무결성의 수행 제약조건</a:t>
            </a:r>
            <a:endParaRPr lang="ko-KR" altLang="en-US" dirty="0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380C7658-D801-45E6-B56B-5454C4C0C7C2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25" y="2285511"/>
            <a:ext cx="8208963" cy="3079140"/>
          </a:xfrm>
        </p:spPr>
      </p:pic>
    </p:spTree>
    <p:extLst>
      <p:ext uri="{BB962C8B-B14F-4D97-AF65-F5344CB8AC3E}">
        <p14:creationId xmlns:p14="http://schemas.microsoft.com/office/powerpoint/2010/main" val="38532202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2.3.2 </a:t>
            </a:r>
            <a:r>
              <a:rPr lang="ko-KR" altLang="en-US" smtClean="0"/>
              <a:t>참조 무결성 제약조건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348DF868-B087-4EC0-AE83-C6FF7AA28951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412776"/>
            <a:ext cx="6288449" cy="5001049"/>
          </a:xfrm>
        </p:spPr>
      </p:pic>
    </p:spTree>
    <p:extLst>
      <p:ext uri="{BB962C8B-B14F-4D97-AF65-F5344CB8AC3E}">
        <p14:creationId xmlns:p14="http://schemas.microsoft.com/office/powerpoint/2010/main" val="5606248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연습문제 풀이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E8F827-F0C9-430B-9157-8E104FDDCB2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Autofit/>
          </a:bodyPr>
          <a:lstStyle/>
          <a:p>
            <a:pPr>
              <a:buFont typeface="+mj-lt"/>
              <a:buAutoNum type="arabicPeriod" startAt="4"/>
            </a:pPr>
            <a:r>
              <a:rPr lang="ko-KR" altLang="en-US" sz="1200" dirty="0" err="1" smtClean="0"/>
              <a:t>외래키</a:t>
            </a:r>
            <a:r>
              <a:rPr lang="en-US" altLang="ko-KR" sz="1200" dirty="0" smtClean="0"/>
              <a:t>(FK, Foreign Key)</a:t>
            </a:r>
            <a:r>
              <a:rPr lang="ko-KR" altLang="en-US" sz="1200" dirty="0" smtClean="0"/>
              <a:t>에 대한 설명으로 옳은 것은</a:t>
            </a:r>
            <a:r>
              <a:rPr lang="en-US" altLang="ko-KR" sz="1200" dirty="0" smtClean="0"/>
              <a:t>?</a:t>
            </a:r>
          </a:p>
          <a:p>
            <a:pPr marL="266700" lvl="1" indent="0">
              <a:buNone/>
            </a:pPr>
            <a:r>
              <a:rPr lang="ko-KR" altLang="en-US" sz="1200" dirty="0" smtClean="0"/>
              <a:t>   ① </a:t>
            </a:r>
            <a:r>
              <a:rPr lang="ko-KR" altLang="en-US" sz="1200" dirty="0" err="1" smtClean="0"/>
              <a:t>릴레이션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R1</a:t>
            </a:r>
            <a:r>
              <a:rPr lang="ko-KR" altLang="en-US" sz="1200" dirty="0" smtClean="0"/>
              <a:t>에 속한 속성 집합 </a:t>
            </a:r>
            <a:r>
              <a:rPr lang="en-US" altLang="ko-KR" sz="1200" dirty="0" smtClean="0"/>
              <a:t>FK</a:t>
            </a:r>
            <a:r>
              <a:rPr lang="ko-KR" altLang="en-US" sz="1200" dirty="0" smtClean="0"/>
              <a:t>가 다른 </a:t>
            </a:r>
            <a:r>
              <a:rPr lang="ko-KR" altLang="en-US" sz="1200" dirty="0" err="1" smtClean="0"/>
              <a:t>릴레이션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R2</a:t>
            </a:r>
            <a:r>
              <a:rPr lang="ko-KR" altLang="en-US" sz="1200" dirty="0" smtClean="0"/>
              <a:t>의 </a:t>
            </a:r>
            <a:r>
              <a:rPr lang="ko-KR" altLang="en-US" sz="1200" dirty="0" err="1" smtClean="0"/>
              <a:t>기본키인</a:t>
            </a:r>
            <a:r>
              <a:rPr lang="ko-KR" altLang="en-US" sz="1200" dirty="0" smtClean="0"/>
              <a:t> 것을 말한다</a:t>
            </a:r>
            <a:r>
              <a:rPr lang="en-US" altLang="ko-KR" sz="1200" dirty="0" smtClean="0"/>
              <a:t>.</a:t>
            </a:r>
            <a:endParaRPr lang="ko-KR" altLang="en-US" sz="1200" dirty="0" smtClean="0"/>
          </a:p>
          <a:p>
            <a:pPr marL="266700" lvl="1" indent="0">
              <a:buNone/>
            </a:pPr>
            <a:r>
              <a:rPr lang="ko-KR" altLang="en-US" sz="1200" dirty="0" smtClean="0"/>
              <a:t>   ② </a:t>
            </a:r>
            <a:r>
              <a:rPr lang="ko-KR" altLang="en-US" sz="1200" dirty="0" err="1" smtClean="0"/>
              <a:t>외래키와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외래키가</a:t>
            </a:r>
            <a:r>
              <a:rPr lang="ko-KR" altLang="en-US" sz="1200" dirty="0" smtClean="0"/>
              <a:t> 참조하는 </a:t>
            </a:r>
            <a:r>
              <a:rPr lang="ko-KR" altLang="en-US" sz="1200" dirty="0" err="1" smtClean="0"/>
              <a:t>기본키가</a:t>
            </a:r>
            <a:r>
              <a:rPr lang="ko-KR" altLang="en-US" sz="1200" dirty="0" smtClean="0"/>
              <a:t> 정의된 도메인은 다를 수도 있다</a:t>
            </a:r>
            <a:r>
              <a:rPr lang="en-US" altLang="ko-KR" sz="1200" dirty="0" smtClean="0"/>
              <a:t>.</a:t>
            </a:r>
            <a:endParaRPr lang="ko-KR" altLang="en-US" sz="1200" dirty="0" smtClean="0"/>
          </a:p>
          <a:p>
            <a:pPr marL="266700" lvl="1" indent="0">
              <a:buNone/>
            </a:pPr>
            <a:r>
              <a:rPr lang="ko-KR" altLang="en-US" sz="1200" dirty="0" smtClean="0"/>
              <a:t>   ③ </a:t>
            </a:r>
            <a:r>
              <a:rPr lang="ko-KR" altLang="en-US" sz="1200" dirty="0" err="1" smtClean="0"/>
              <a:t>외래키는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NULL </a:t>
            </a:r>
            <a:r>
              <a:rPr lang="ko-KR" altLang="en-US" sz="1200" dirty="0" smtClean="0"/>
              <a:t>값을 가질 수 없다</a:t>
            </a:r>
            <a:r>
              <a:rPr lang="en-US" altLang="ko-KR" sz="1200" dirty="0" smtClean="0"/>
              <a:t>.</a:t>
            </a:r>
            <a:endParaRPr lang="ko-KR" altLang="en-US" sz="1200" dirty="0" smtClean="0"/>
          </a:p>
          <a:p>
            <a:pPr marL="266700" lvl="1" indent="0">
              <a:buNone/>
            </a:pPr>
            <a:r>
              <a:rPr lang="ko-KR" altLang="en-US" sz="1200" dirty="0" smtClean="0"/>
              <a:t>   ④ 둘 이상의 </a:t>
            </a:r>
            <a:r>
              <a:rPr lang="ko-KR" altLang="en-US" sz="1200" dirty="0" err="1" smtClean="0"/>
              <a:t>후보키</a:t>
            </a:r>
            <a:r>
              <a:rPr lang="ko-KR" altLang="en-US" sz="1200" dirty="0" smtClean="0"/>
              <a:t> 중에서 하나를 선정하여 대표로 삼은 키를 말한다</a:t>
            </a:r>
            <a:r>
              <a:rPr lang="en-US" altLang="ko-KR" sz="1200" dirty="0" smtClean="0"/>
              <a:t>.</a:t>
            </a:r>
          </a:p>
          <a:p>
            <a:pPr lvl="1"/>
            <a:endParaRPr lang="ko-KR" altLang="en-US" dirty="0" smtClean="0"/>
          </a:p>
          <a:p>
            <a:pPr>
              <a:buFont typeface="+mj-lt"/>
              <a:buAutoNum type="arabicPeriod" startAt="5"/>
            </a:pPr>
            <a:r>
              <a:rPr lang="ko-KR" altLang="en-US" sz="1200" dirty="0" smtClean="0"/>
              <a:t>한 </a:t>
            </a:r>
            <a:r>
              <a:rPr lang="ko-KR" altLang="en-US" sz="1200" dirty="0" err="1" smtClean="0"/>
              <a:t>릴레이션의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기본키를</a:t>
            </a:r>
            <a:r>
              <a:rPr lang="ko-KR" altLang="en-US" sz="1200" dirty="0" smtClean="0"/>
              <a:t> 구성하는 어떠한 속성 값도 </a:t>
            </a:r>
            <a:r>
              <a:rPr lang="en-US" altLang="ko-KR" sz="1200" dirty="0" smtClean="0"/>
              <a:t>NULL </a:t>
            </a:r>
            <a:r>
              <a:rPr lang="ko-KR" altLang="en-US" sz="1200" dirty="0" smtClean="0"/>
              <a:t>값이나 </a:t>
            </a:r>
            <a:r>
              <a:rPr lang="ko-KR" altLang="en-US" sz="1200" dirty="0" err="1" smtClean="0"/>
              <a:t>중복값을</a:t>
            </a:r>
            <a:r>
              <a:rPr lang="ko-KR" altLang="en-US" sz="1200" dirty="0" smtClean="0"/>
              <a:t> 가질 수 없다는 것을    </a:t>
            </a:r>
            <a:r>
              <a:rPr lang="en-US" altLang="ko-KR" sz="1200" dirty="0" smtClean="0"/>
              <a:t/>
            </a:r>
            <a:br>
              <a:rPr lang="en-US" altLang="ko-KR" sz="1200" dirty="0" smtClean="0"/>
            </a:br>
            <a:r>
              <a:rPr lang="ko-KR" altLang="en-US" sz="1200" dirty="0" smtClean="0"/>
              <a:t>의미하는 제약조건은</a:t>
            </a:r>
            <a:r>
              <a:rPr lang="en-US" altLang="ko-KR" sz="1200" dirty="0" smtClean="0"/>
              <a:t>?</a:t>
            </a:r>
          </a:p>
          <a:p>
            <a:pPr marL="266700" lvl="1" indent="0">
              <a:buNone/>
            </a:pPr>
            <a:r>
              <a:rPr lang="ko-KR" altLang="en-US" dirty="0" smtClean="0"/>
              <a:t>   </a:t>
            </a:r>
            <a:r>
              <a:rPr lang="ko-KR" altLang="en-US" sz="1200" dirty="0" smtClean="0"/>
              <a:t>① 개체 무결성 제약조건 </a:t>
            </a:r>
            <a:r>
              <a:rPr lang="en-US" altLang="ko-KR" sz="1200" dirty="0" smtClean="0"/>
              <a:t>	   </a:t>
            </a:r>
            <a:r>
              <a:rPr lang="ko-KR" altLang="en-US" sz="1200" dirty="0" smtClean="0"/>
              <a:t>② 참조 무결성 제약조건</a:t>
            </a:r>
          </a:p>
          <a:p>
            <a:pPr marL="266700" lvl="1" indent="0">
              <a:buNone/>
            </a:pPr>
            <a:r>
              <a:rPr lang="ko-KR" altLang="en-US" sz="1200" dirty="0" smtClean="0"/>
              <a:t>   ③ 보안 무결성 제약조건 </a:t>
            </a:r>
            <a:r>
              <a:rPr lang="en-US" altLang="ko-KR" sz="1200" dirty="0" smtClean="0"/>
              <a:t>	   </a:t>
            </a:r>
            <a:r>
              <a:rPr lang="ko-KR" altLang="en-US" sz="1200" dirty="0" smtClean="0"/>
              <a:t>④ 정보 무결성 제약조건</a:t>
            </a:r>
          </a:p>
          <a:p>
            <a:endParaRPr lang="en-US" altLang="ko-KR" dirty="0" smtClean="0"/>
          </a:p>
          <a:p>
            <a:pPr lvl="0">
              <a:buFont typeface="+mj-lt"/>
              <a:buAutoNum type="arabicPeriod" startAt="6"/>
            </a:pPr>
            <a:r>
              <a:rPr lang="ko-KR" altLang="en-US" sz="1200" dirty="0" smtClean="0"/>
              <a:t>다음은 릴레이션에서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더는 삽입되는 데이터가 없다고 가정한다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다음 물음에 답하여라</a:t>
            </a:r>
            <a:r>
              <a:rPr lang="en-US" altLang="ko-KR" sz="1200" dirty="0" smtClean="0"/>
              <a:t>.</a:t>
            </a:r>
          </a:p>
          <a:p>
            <a:pPr lvl="0">
              <a:buFont typeface="+mj-lt"/>
              <a:buAutoNum type="arabicPeriod" startAt="6"/>
            </a:pPr>
            <a:endParaRPr lang="en-US" altLang="ko-KR" sz="1200" dirty="0" smtClean="0"/>
          </a:p>
          <a:p>
            <a:pPr marL="266700" lvl="1" indent="0">
              <a:buNone/>
            </a:pPr>
            <a:r>
              <a:rPr lang="en-US" altLang="ko-KR" sz="1200" dirty="0" smtClean="0"/>
              <a:t>(1) </a:t>
            </a:r>
            <a:r>
              <a:rPr lang="ko-KR" altLang="en-US" sz="1200" dirty="0" err="1" smtClean="0"/>
              <a:t>릴레이션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R</a:t>
            </a:r>
            <a:r>
              <a:rPr lang="ko-KR" altLang="en-US" sz="1200" dirty="0" smtClean="0"/>
              <a:t>과 </a:t>
            </a:r>
            <a:r>
              <a:rPr lang="en-US" altLang="ko-KR" sz="1200" dirty="0" smtClean="0"/>
              <a:t>S</a:t>
            </a:r>
            <a:r>
              <a:rPr lang="ko-KR" altLang="en-US" sz="1200" dirty="0" smtClean="0"/>
              <a:t>의 </a:t>
            </a:r>
            <a:r>
              <a:rPr lang="ko-KR" altLang="en-US" sz="1200" dirty="0" err="1" smtClean="0"/>
              <a:t>후보키를</a:t>
            </a:r>
            <a:r>
              <a:rPr lang="ko-KR" altLang="en-US" sz="1200" dirty="0" smtClean="0"/>
              <a:t> 모두 보이시오</a:t>
            </a:r>
            <a:r>
              <a:rPr lang="en-US" altLang="ko-KR" sz="1200" dirty="0" smtClean="0"/>
              <a:t>.</a:t>
            </a:r>
          </a:p>
          <a:p>
            <a:pPr marL="266700" lvl="1" indent="0">
              <a:buNone/>
            </a:pPr>
            <a:r>
              <a:rPr lang="en-US" altLang="ko-KR" sz="1200" dirty="0" smtClean="0"/>
              <a:t>(2) </a:t>
            </a:r>
            <a:r>
              <a:rPr lang="ko-KR" altLang="en-US" sz="1200" dirty="0" err="1" smtClean="0"/>
              <a:t>릴레이션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R</a:t>
            </a:r>
            <a:r>
              <a:rPr lang="ko-KR" altLang="en-US" sz="1200" dirty="0" smtClean="0"/>
              <a:t>과 </a:t>
            </a:r>
            <a:r>
              <a:rPr lang="en-US" altLang="ko-KR" sz="1200" dirty="0" smtClean="0"/>
              <a:t>S</a:t>
            </a:r>
            <a:r>
              <a:rPr lang="ko-KR" altLang="en-US" sz="1200" dirty="0" smtClean="0"/>
              <a:t>의 </a:t>
            </a:r>
            <a:r>
              <a:rPr lang="ko-KR" altLang="en-US" sz="1200" dirty="0" err="1" smtClean="0"/>
              <a:t>기본키는</a:t>
            </a:r>
            <a:r>
              <a:rPr lang="ko-KR" altLang="en-US" sz="1200" dirty="0" smtClean="0"/>
              <a:t> 어떤 것이 좋을지 </a:t>
            </a:r>
            <a:r>
              <a:rPr lang="ko-KR" altLang="en-US" sz="1200" dirty="0" err="1" smtClean="0"/>
              <a:t>선택하시오</a:t>
            </a:r>
            <a:r>
              <a:rPr lang="en-US" altLang="ko-KR" sz="1200" dirty="0" smtClean="0"/>
              <a:t>.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7583225-784E-4453-A844-2BBCC7C94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4581128"/>
            <a:ext cx="2664296" cy="167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6359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03. </a:t>
            </a:r>
            <a:r>
              <a:rPr lang="ko-KR" altLang="en-US" smtClean="0"/>
              <a:t>관계대수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E8F827-F0C9-430B-9157-8E104FDDCB2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smtClean="0"/>
              <a:t>관계대수</a:t>
            </a:r>
            <a:endParaRPr lang="en-US" altLang="ko-KR" smtClean="0"/>
          </a:p>
          <a:p>
            <a:r>
              <a:rPr lang="ko-KR" altLang="en-US" smtClean="0"/>
              <a:t>셀렉션과 프로젝션</a:t>
            </a:r>
            <a:endParaRPr lang="en-US" altLang="ko-KR" smtClean="0"/>
          </a:p>
          <a:p>
            <a:r>
              <a:rPr lang="ko-KR" altLang="en-US" smtClean="0"/>
              <a:t>집합연산</a:t>
            </a:r>
            <a:endParaRPr lang="en-US" altLang="ko-KR" smtClean="0"/>
          </a:p>
          <a:p>
            <a:r>
              <a:rPr lang="ko-KR" altLang="en-US" smtClean="0"/>
              <a:t>조인</a:t>
            </a:r>
            <a:endParaRPr lang="en-US" altLang="ko-KR" smtClean="0"/>
          </a:p>
          <a:p>
            <a:r>
              <a:rPr lang="ko-KR" altLang="en-US" smtClean="0"/>
              <a:t>디비전</a:t>
            </a:r>
            <a:endParaRPr lang="en-US" altLang="ko-KR" smtClean="0"/>
          </a:p>
          <a:p>
            <a:r>
              <a:rPr lang="ko-KR" altLang="en-US" smtClean="0"/>
              <a:t>관계대수 예제</a:t>
            </a:r>
            <a:endParaRPr lang="en-US" altLang="ko-KR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38867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3.1 </a:t>
            </a:r>
            <a:r>
              <a:rPr lang="ko-KR" altLang="en-US" smtClean="0"/>
              <a:t>관계대수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E8F827-F0C9-430B-9157-8E104FDDCB2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 err="1" smtClean="0"/>
              <a:t>관계대수</a:t>
            </a:r>
            <a:r>
              <a:rPr lang="en-US" altLang="ko-KR" dirty="0" smtClean="0"/>
              <a:t>(relational algebra, </a:t>
            </a:r>
            <a:r>
              <a:rPr lang="ko-KR" altLang="en-US" dirty="0" smtClean="0"/>
              <a:t>關係代數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ko-KR" altLang="en-US" sz="1400" b="0" dirty="0" smtClean="0"/>
              <a:t>릴레이션에서 원하는 결과를 얻기 위해 수학의 대수와 같은 연산을 이용하여 질의하는 방법을 기술하는 언어</a:t>
            </a:r>
            <a:endParaRPr lang="en-US" altLang="ko-KR" sz="1400" b="0" dirty="0" smtClean="0"/>
          </a:p>
          <a:p>
            <a:endParaRPr lang="en-US" altLang="ko-KR" dirty="0" smtClean="0"/>
          </a:p>
          <a:p>
            <a:r>
              <a:rPr lang="ko-KR" altLang="en-US" dirty="0" err="1" smtClean="0"/>
              <a:t>관계대수와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관계해석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관계대수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어떤 데이터를 어떻게 찾는지에 대한 처리 절차를 명시하는 절차적인 언어이며</a:t>
            </a:r>
            <a:endParaRPr lang="en-US" altLang="ko-KR" dirty="0"/>
          </a:p>
          <a:p>
            <a:pPr marL="266700" lvl="1" indent="0">
              <a:buNone/>
            </a:pPr>
            <a:r>
              <a:rPr lang="en-US" altLang="ko-KR" dirty="0" smtClean="0"/>
              <a:t>                 DBMS </a:t>
            </a:r>
            <a:r>
              <a:rPr lang="ko-KR" altLang="en-US" dirty="0" smtClean="0"/>
              <a:t>내부의 처리 언어로 사용됨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관계해석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어떤 데이터를 찾는지 명시하는 선언적인 언어로 </a:t>
            </a:r>
            <a:r>
              <a:rPr lang="ko-KR" altLang="en-US" dirty="0" err="1" smtClean="0"/>
              <a:t>관계대수와</a:t>
            </a:r>
            <a:r>
              <a:rPr lang="ko-KR" altLang="en-US" dirty="0" smtClean="0"/>
              <a:t> 함께 관계 </a:t>
            </a:r>
            <a:r>
              <a:rPr lang="en-US" altLang="ko-KR" dirty="0" smtClean="0"/>
              <a:t>DBMS</a:t>
            </a:r>
            <a:r>
              <a:rPr lang="ko-KR" altLang="en-US" dirty="0" smtClean="0"/>
              <a:t>의 표</a:t>
            </a:r>
            <a:endParaRPr lang="en-US" altLang="ko-KR" dirty="0" smtClean="0"/>
          </a:p>
          <a:p>
            <a:pPr marL="266700" lvl="1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            </a:t>
            </a:r>
            <a:r>
              <a:rPr lang="ko-KR" altLang="en-US" dirty="0" smtClean="0"/>
              <a:t>준 언어인 </a:t>
            </a:r>
            <a:r>
              <a:rPr lang="en-US" altLang="ko-KR" dirty="0" smtClean="0"/>
              <a:t>SQL</a:t>
            </a:r>
            <a:r>
              <a:rPr lang="ko-KR" altLang="en-US" dirty="0" smtClean="0"/>
              <a:t>의 이론적인 기반을 제공함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→ </a:t>
            </a:r>
            <a:r>
              <a:rPr lang="ko-KR" altLang="en-US" dirty="0" err="1" smtClean="0"/>
              <a:t>관계대수와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관계해석은</a:t>
            </a:r>
            <a:r>
              <a:rPr lang="ko-KR" altLang="en-US" dirty="0" smtClean="0"/>
              <a:t> 모두 관계 데이터 모델의 중요한 언어이며 실제 동일한 표현 </a:t>
            </a:r>
            <a:r>
              <a:rPr lang="ko-KR" altLang="en-US" dirty="0" smtClean="0"/>
              <a:t>  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  </a:t>
            </a:r>
            <a:r>
              <a:rPr lang="ko-KR" altLang="en-US" dirty="0" smtClean="0"/>
              <a:t>능력을 </a:t>
            </a:r>
            <a:r>
              <a:rPr lang="en-US" altLang="ko-KR" dirty="0" smtClean="0"/>
              <a:t> </a:t>
            </a:r>
            <a:r>
              <a:rPr lang="ko-KR" altLang="en-US" dirty="0" smtClean="0"/>
              <a:t>가지고 있음</a:t>
            </a:r>
            <a:r>
              <a:rPr lang="en-US" altLang="ko-KR" dirty="0" smtClean="0"/>
              <a:t>.</a:t>
            </a:r>
            <a:endParaRPr lang="ko-KR" altLang="en-US" dirty="0" smtClean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15270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E8F827-F0C9-430B-9157-8E104FDDCB2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Autofit/>
          </a:bodyPr>
          <a:lstStyle/>
          <a:p>
            <a:r>
              <a:rPr lang="ko-KR" altLang="en-US" dirty="0" err="1" smtClean="0"/>
              <a:t>릴레이션</a:t>
            </a:r>
            <a:r>
              <a:rPr lang="en-US" altLang="ko-KR" dirty="0" smtClean="0"/>
              <a:t>(relation)</a:t>
            </a:r>
            <a:r>
              <a:rPr lang="ko-KR" altLang="en-US" dirty="0" smtClean="0"/>
              <a:t>의 수학적 개념</a:t>
            </a:r>
          </a:p>
          <a:p>
            <a:pPr marL="0" lvl="0" indent="0">
              <a:buNone/>
            </a:pPr>
            <a:r>
              <a:rPr lang="ko-KR" altLang="en-US" dirty="0" smtClean="0">
                <a:sym typeface="Symbol" pitchFamily="18" charset="2"/>
              </a:rPr>
              <a:t>       </a:t>
            </a:r>
            <a:r>
              <a:rPr lang="ko-KR" altLang="en-US" sz="1200" b="0" dirty="0" smtClean="0">
                <a:sym typeface="Symbol" pitchFamily="18" charset="2"/>
              </a:rPr>
              <a:t>예</a:t>
            </a:r>
            <a:r>
              <a:rPr lang="en-US" altLang="ko-KR" sz="1200" b="0" dirty="0" smtClean="0">
                <a:sym typeface="Symbol" pitchFamily="18" charset="2"/>
              </a:rPr>
              <a:t>) </a:t>
            </a:r>
            <a:r>
              <a:rPr lang="en-US" altLang="ko-KR" sz="1200" b="0" dirty="0" smtClean="0"/>
              <a:t>A </a:t>
            </a:r>
            <a:r>
              <a:rPr lang="en-US" altLang="ko-KR" sz="1200" b="0" dirty="0" smtClean="0">
                <a:sym typeface="Symbol" pitchFamily="18" charset="2"/>
              </a:rPr>
              <a:t> {2, 4}, B  {1, 3, 5} </a:t>
            </a:r>
            <a:r>
              <a:rPr lang="ko-KR" altLang="en-US" sz="1200" b="0" dirty="0" smtClean="0">
                <a:sym typeface="Symbol" pitchFamily="18" charset="2"/>
              </a:rPr>
              <a:t>일 때</a:t>
            </a:r>
            <a:endParaRPr lang="en-US" altLang="ko-KR" sz="1200" b="0" dirty="0" smtClean="0">
              <a:sym typeface="Symbol" pitchFamily="18" charset="2"/>
            </a:endParaRPr>
          </a:p>
          <a:p>
            <a:pPr marL="0" lvl="0" indent="0">
              <a:buNone/>
            </a:pPr>
            <a:r>
              <a:rPr lang="en-US" altLang="ko-KR" sz="1200" b="0" dirty="0" smtClean="0">
                <a:sym typeface="Symbol" pitchFamily="18" charset="2"/>
              </a:rPr>
              <a:t>	</a:t>
            </a:r>
            <a:r>
              <a:rPr lang="en-US" altLang="ko-KR" sz="1200" b="0" dirty="0" smtClean="0"/>
              <a:t>A</a:t>
            </a:r>
            <a:r>
              <a:rPr lang="en-US" altLang="ko-KR" sz="1200" b="0" dirty="0" smtClean="0">
                <a:sym typeface="Symbol" pitchFamily="18" charset="2"/>
              </a:rPr>
              <a:t>B  {(2,1), (2,3), (2,5), (4,1), (4,3), (4,5)}</a:t>
            </a:r>
          </a:p>
          <a:p>
            <a:pPr marL="0" lvl="0" indent="0">
              <a:buNone/>
            </a:pPr>
            <a:endParaRPr lang="en-US" altLang="ko-KR" sz="1200" b="0" dirty="0" smtClean="0">
              <a:sym typeface="Symbol" pitchFamily="18" charset="2"/>
            </a:endParaRPr>
          </a:p>
          <a:p>
            <a:pPr marL="0" lvl="0" indent="0">
              <a:buNone/>
            </a:pPr>
            <a:r>
              <a:rPr lang="en-US" altLang="ko-KR" sz="1200" b="0" dirty="0" smtClean="0">
                <a:sym typeface="Symbol" pitchFamily="18" charset="2"/>
              </a:rPr>
              <a:t>	</a:t>
            </a:r>
            <a:r>
              <a:rPr lang="ko-KR" altLang="en-US" sz="1200" b="0" dirty="0" err="1" smtClean="0">
                <a:sym typeface="Symbol" pitchFamily="18" charset="2"/>
              </a:rPr>
              <a:t>릴레이션</a:t>
            </a:r>
            <a:r>
              <a:rPr lang="ko-KR" altLang="en-US" sz="1200" b="0" dirty="0" smtClean="0">
                <a:sym typeface="Symbol" pitchFamily="18" charset="2"/>
              </a:rPr>
              <a:t> </a:t>
            </a:r>
            <a:r>
              <a:rPr lang="en-US" altLang="ko-KR" sz="1200" b="0" dirty="0" smtClean="0">
                <a:sym typeface="Symbol" pitchFamily="18" charset="2"/>
              </a:rPr>
              <a:t>R</a:t>
            </a:r>
            <a:r>
              <a:rPr lang="ko-KR" altLang="en-US" sz="1200" b="0" dirty="0" smtClean="0">
                <a:sym typeface="Symbol" pitchFamily="18" charset="2"/>
              </a:rPr>
              <a:t>은 </a:t>
            </a:r>
            <a:r>
              <a:rPr lang="ko-KR" altLang="en-US" sz="1200" b="0" dirty="0" err="1" smtClean="0">
                <a:sym typeface="Symbol" pitchFamily="18" charset="2"/>
              </a:rPr>
              <a:t>카티전</a:t>
            </a:r>
            <a:r>
              <a:rPr lang="ko-KR" altLang="en-US" sz="1200" b="0" dirty="0" smtClean="0">
                <a:sym typeface="Symbol" pitchFamily="18" charset="2"/>
              </a:rPr>
              <a:t> </a:t>
            </a:r>
            <a:r>
              <a:rPr lang="ko-KR" altLang="en-US" sz="1200" b="0" dirty="0" err="1" smtClean="0">
                <a:sym typeface="Symbol" pitchFamily="18" charset="2"/>
              </a:rPr>
              <a:t>프로덕트의</a:t>
            </a:r>
            <a:r>
              <a:rPr lang="ko-KR" altLang="en-US" sz="1200" b="0" dirty="0" smtClean="0">
                <a:sym typeface="Symbol" pitchFamily="18" charset="2"/>
              </a:rPr>
              <a:t> 부분집합으로 정의</a:t>
            </a:r>
            <a:endParaRPr lang="en-US" altLang="ko-KR" sz="1200" b="0" dirty="0" smtClean="0">
              <a:sym typeface="Symbol" pitchFamily="18" charset="2"/>
            </a:endParaRPr>
          </a:p>
          <a:p>
            <a:pPr marL="0" lvl="0" indent="0">
              <a:buNone/>
            </a:pPr>
            <a:r>
              <a:rPr lang="en-US" altLang="ko-KR" sz="1200" b="0" dirty="0" smtClean="0">
                <a:sym typeface="Symbol" pitchFamily="18" charset="2"/>
              </a:rPr>
              <a:t>	</a:t>
            </a:r>
            <a:r>
              <a:rPr lang="ko-KR" altLang="en-US" sz="1200" b="0" dirty="0" smtClean="0">
                <a:sym typeface="Symbol" pitchFamily="18" charset="2"/>
              </a:rPr>
              <a:t>예</a:t>
            </a:r>
            <a:r>
              <a:rPr lang="en-US" altLang="ko-KR" sz="1200" b="0" dirty="0" smtClean="0">
                <a:sym typeface="Symbol" pitchFamily="18" charset="2"/>
              </a:rPr>
              <a:t>) R1  {(2,1), (4,1)}, </a:t>
            </a:r>
            <a:r>
              <a:rPr lang="pt-BR" altLang="ko-KR" sz="1200" b="0" dirty="0" smtClean="0"/>
              <a:t>R2={(2, 1), (2, 3), (2, </a:t>
            </a:r>
            <a:r>
              <a:rPr lang="en-US" altLang="ko-KR" sz="1200" b="0" dirty="0" smtClean="0"/>
              <a:t>5)}, </a:t>
            </a:r>
            <a:r>
              <a:rPr lang="pt-BR" altLang="ko-KR" sz="1200" b="0" dirty="0" smtClean="0"/>
              <a:t>R3={(2, 3), (2, 5), (4, 3), (4, 5)}</a:t>
            </a:r>
          </a:p>
          <a:p>
            <a:pPr marL="0" lvl="0" indent="0">
              <a:buNone/>
            </a:pPr>
            <a:endParaRPr lang="pt-BR" altLang="ko-KR" sz="1200" b="0" dirty="0" smtClean="0">
              <a:sym typeface="Symbol" pitchFamily="18" charset="2"/>
            </a:endParaRPr>
          </a:p>
          <a:p>
            <a:pPr marL="0" lvl="0" indent="0">
              <a:buNone/>
            </a:pPr>
            <a:r>
              <a:rPr lang="pt-BR" altLang="ko-KR" sz="1200" b="0" dirty="0" smtClean="0">
                <a:sym typeface="Symbol" pitchFamily="18" charset="2"/>
              </a:rPr>
              <a:t>	</a:t>
            </a:r>
            <a:r>
              <a:rPr lang="ko-KR" altLang="en-US" sz="1200" b="0" dirty="0" smtClean="0"/>
              <a:t>원소 개수가 </a:t>
            </a:r>
            <a:r>
              <a:rPr lang="en-US" altLang="ko-KR" sz="1200" b="0" dirty="0" smtClean="0"/>
              <a:t>n</a:t>
            </a:r>
            <a:r>
              <a:rPr lang="ko-KR" altLang="en-US" sz="1200" b="0" dirty="0" smtClean="0"/>
              <a:t>인 집합 </a:t>
            </a:r>
            <a:r>
              <a:rPr lang="en-US" altLang="ko-KR" sz="1200" b="0" dirty="0" smtClean="0"/>
              <a:t>S</a:t>
            </a:r>
            <a:r>
              <a:rPr lang="ko-KR" altLang="en-US" sz="1200" b="0" dirty="0" smtClean="0"/>
              <a:t>의 부분집합의 개수는 </a:t>
            </a:r>
            <a:r>
              <a:rPr lang="en-US" altLang="ko-KR" sz="1200" b="0" dirty="0" smtClean="0"/>
              <a:t>2ⁿ</a:t>
            </a:r>
            <a:r>
              <a:rPr lang="ko-KR" altLang="en-US" sz="1200" b="0" dirty="0" smtClean="0"/>
              <a:t>이므로</a:t>
            </a:r>
            <a:r>
              <a:rPr lang="en-US" altLang="ko-KR" sz="1200" b="0" dirty="0" smtClean="0"/>
              <a:t>, </a:t>
            </a:r>
            <a:r>
              <a:rPr lang="ko-KR" altLang="en-US" sz="1200" b="0" dirty="0" err="1" smtClean="0"/>
              <a:t>카티전</a:t>
            </a:r>
            <a:r>
              <a:rPr lang="ko-KR" altLang="en-US" sz="1200" b="0" dirty="0" smtClean="0"/>
              <a:t> </a:t>
            </a:r>
            <a:r>
              <a:rPr lang="ko-KR" altLang="en-US" sz="1200" b="0" dirty="0" err="1" smtClean="0"/>
              <a:t>프로덕트</a:t>
            </a:r>
            <a:r>
              <a:rPr lang="ko-KR" altLang="en-US" sz="1200" b="0" dirty="0" smtClean="0"/>
              <a:t> </a:t>
            </a:r>
            <a:r>
              <a:rPr lang="en-US" altLang="ko-KR" sz="1200" b="0" dirty="0" smtClean="0"/>
              <a:t>A×B</a:t>
            </a:r>
            <a:r>
              <a:rPr lang="ko-KR" altLang="en-US" sz="1200" b="0" dirty="0" smtClean="0"/>
              <a:t>의</a:t>
            </a:r>
            <a:endParaRPr lang="en-US" altLang="ko-KR" sz="1200" b="0" dirty="0" smtClean="0"/>
          </a:p>
          <a:p>
            <a:pPr marL="0" lvl="0" indent="0">
              <a:buNone/>
            </a:pPr>
            <a:r>
              <a:rPr lang="en-US" altLang="ko-KR" sz="1200" b="0" dirty="0" smtClean="0"/>
              <a:t>	</a:t>
            </a:r>
            <a:r>
              <a:rPr lang="ko-KR" altLang="en-US" sz="1200" b="0" dirty="0" smtClean="0"/>
              <a:t>부분집합의 개수는            </a:t>
            </a:r>
            <a:endParaRPr lang="en-US" altLang="ko-KR" sz="1200" b="0" dirty="0" smtClean="0">
              <a:sym typeface="Symbol" pitchFamily="18" charset="2"/>
            </a:endParaRPr>
          </a:p>
          <a:p>
            <a:pPr marL="0" lvl="0" indent="0">
              <a:buNone/>
            </a:pPr>
            <a:endParaRPr lang="en-US" altLang="ko-KR" sz="1200" b="0" dirty="0" smtClean="0">
              <a:sym typeface="Symbol" pitchFamily="18" charset="2"/>
            </a:endParaRPr>
          </a:p>
          <a:p>
            <a:pPr marL="0" lvl="0" indent="0">
              <a:buNone/>
            </a:pPr>
            <a:r>
              <a:rPr lang="en-US" altLang="ko-KR" sz="1200" b="0" dirty="0" smtClean="0">
                <a:sym typeface="Symbol" pitchFamily="18" charset="2"/>
              </a:rPr>
              <a:t>	</a:t>
            </a:r>
            <a:r>
              <a:rPr lang="ko-KR" altLang="en-US" sz="1200" b="0" dirty="0" err="1" smtClean="0"/>
              <a:t>카티전</a:t>
            </a:r>
            <a:r>
              <a:rPr lang="ko-KR" altLang="en-US" sz="1200" b="0" dirty="0" smtClean="0"/>
              <a:t> </a:t>
            </a:r>
            <a:r>
              <a:rPr lang="ko-KR" altLang="en-US" sz="1200" b="0" dirty="0" err="1" smtClean="0"/>
              <a:t>프로덕트의</a:t>
            </a:r>
            <a:r>
              <a:rPr lang="ko-KR" altLang="en-US" sz="1200" b="0" dirty="0" smtClean="0"/>
              <a:t> 기초 집합 </a:t>
            </a:r>
            <a:r>
              <a:rPr lang="en-US" altLang="ko-KR" sz="1200" b="0" dirty="0" smtClean="0"/>
              <a:t>A, B </a:t>
            </a:r>
            <a:r>
              <a:rPr lang="ko-KR" altLang="en-US" sz="1200" b="0" dirty="0" smtClean="0"/>
              <a:t>각각이 가질 수 있는 값의 범위를 도메인</a:t>
            </a:r>
            <a:r>
              <a:rPr lang="en-US" altLang="ko-KR" sz="1200" b="0" dirty="0" smtClean="0"/>
              <a:t>(domain)</a:t>
            </a:r>
            <a:r>
              <a:rPr lang="ko-KR" altLang="en-US" sz="1200" b="0" dirty="0" smtClean="0"/>
              <a:t>이라고 함</a:t>
            </a:r>
            <a:r>
              <a:rPr lang="en-US" altLang="ko-KR" sz="1200" b="0" dirty="0" smtClean="0"/>
              <a:t>. </a:t>
            </a:r>
            <a:br>
              <a:rPr lang="en-US" altLang="ko-KR" sz="1200" b="0" dirty="0" smtClean="0"/>
            </a:br>
            <a:r>
              <a:rPr lang="en-US" altLang="ko-KR" sz="1200" b="0" dirty="0" smtClean="0"/>
              <a:t>            </a:t>
            </a:r>
            <a:r>
              <a:rPr lang="ko-KR" altLang="en-US" sz="1200" b="0" dirty="0" smtClean="0"/>
              <a:t>즉 집합 </a:t>
            </a:r>
            <a:r>
              <a:rPr lang="en-US" altLang="ko-KR" sz="1200" b="0" dirty="0" smtClean="0"/>
              <a:t>A</a:t>
            </a:r>
            <a:r>
              <a:rPr lang="ko-KR" altLang="en-US" sz="1200" b="0" dirty="0" smtClean="0"/>
              <a:t>의 도메인은 </a:t>
            </a:r>
            <a:r>
              <a:rPr lang="en-US" altLang="ko-KR" sz="1200" b="0" dirty="0" smtClean="0"/>
              <a:t>{2, 4}</a:t>
            </a:r>
          </a:p>
          <a:p>
            <a:pPr marL="0" lvl="0" indent="0">
              <a:buNone/>
            </a:pPr>
            <a:endParaRPr lang="en-US" altLang="ko-KR" sz="1200" b="0" dirty="0" smtClean="0"/>
          </a:p>
          <a:p>
            <a:pPr marL="0" lvl="0" indent="0">
              <a:buNone/>
            </a:pPr>
            <a:r>
              <a:rPr lang="en-US" altLang="ko-KR" sz="1200" b="0" dirty="0" smtClean="0"/>
              <a:t>	</a:t>
            </a:r>
            <a:r>
              <a:rPr lang="ko-KR" altLang="en-US" sz="1200" b="0" dirty="0" err="1" smtClean="0"/>
              <a:t>릴레이션</a:t>
            </a:r>
            <a:r>
              <a:rPr lang="ko-KR" altLang="en-US" sz="1200" b="0" dirty="0" smtClean="0"/>
              <a:t> 역시 집합이므로 집합에서 </a:t>
            </a:r>
            <a:r>
              <a:rPr lang="ko-KR" altLang="en-US" sz="1200" b="0" dirty="0" err="1" smtClean="0"/>
              <a:t>집합에서</a:t>
            </a:r>
            <a:r>
              <a:rPr lang="ko-KR" altLang="en-US" sz="1200" b="0" dirty="0" smtClean="0"/>
              <a:t> 가능한 연산은 합집합</a:t>
            </a:r>
            <a:r>
              <a:rPr lang="en-US" altLang="ko-KR" sz="1200" b="0" dirty="0" smtClean="0"/>
              <a:t>(∪), </a:t>
            </a:r>
            <a:r>
              <a:rPr lang="ko-KR" altLang="en-US" sz="1200" b="0" dirty="0" smtClean="0"/>
              <a:t>교집합</a:t>
            </a:r>
            <a:r>
              <a:rPr lang="en-US" altLang="ko-KR" sz="1200" b="0" dirty="0" smtClean="0"/>
              <a:t>(∩), </a:t>
            </a:r>
            <a:r>
              <a:rPr lang="ko-KR" altLang="en-US" sz="1200" b="0" dirty="0" err="1" smtClean="0"/>
              <a:t>카티전</a:t>
            </a:r>
            <a:r>
              <a:rPr lang="ko-KR" altLang="en-US" sz="1200" b="0" dirty="0" smtClean="0"/>
              <a:t> </a:t>
            </a:r>
            <a:r>
              <a:rPr lang="ko-KR" altLang="en-US" sz="1200" b="0" dirty="0" err="1" smtClean="0"/>
              <a:t>프로덕트</a:t>
            </a:r>
            <a:r>
              <a:rPr lang="en-US" altLang="ko-KR" sz="1200" b="0" dirty="0" smtClean="0"/>
              <a:t>(×) </a:t>
            </a:r>
            <a:br>
              <a:rPr lang="en-US" altLang="ko-KR" sz="1200" b="0" dirty="0" smtClean="0"/>
            </a:br>
            <a:r>
              <a:rPr lang="en-US" altLang="ko-KR" sz="1200" b="0" dirty="0" smtClean="0"/>
              <a:t>             </a:t>
            </a:r>
            <a:r>
              <a:rPr lang="ko-KR" altLang="en-US" sz="1200" b="0" dirty="0" smtClean="0"/>
              <a:t>등이 있음</a:t>
            </a:r>
            <a:r>
              <a:rPr lang="en-US" altLang="ko-KR" sz="1200" b="0" dirty="0" smtClean="0"/>
              <a:t>.</a:t>
            </a:r>
          </a:p>
          <a:p>
            <a:pPr marL="0" lvl="0" indent="0">
              <a:buNone/>
            </a:pPr>
            <a:r>
              <a:rPr lang="en-US" altLang="ko-KR" sz="1200" b="0" dirty="0" smtClean="0"/>
              <a:t>	</a:t>
            </a:r>
            <a:r>
              <a:rPr lang="pt-BR" altLang="ko-KR" sz="1200" b="0" dirty="0" smtClean="0"/>
              <a:t>R1 ∪ R2 = {(2, 1), (4, 1), (2, 3), (2, 5)}</a:t>
            </a:r>
          </a:p>
          <a:p>
            <a:pPr marL="0" lvl="0" indent="0">
              <a:buNone/>
            </a:pPr>
            <a:r>
              <a:rPr lang="pt-BR" altLang="ko-KR" sz="1200" b="0" dirty="0" smtClean="0"/>
              <a:t>	</a:t>
            </a:r>
            <a:r>
              <a:rPr lang="en-US" altLang="ko-KR" sz="1200" b="0" dirty="0" smtClean="0"/>
              <a:t>R1 ∩ R2 = {(2, 1)}</a:t>
            </a:r>
            <a:endParaRPr lang="ko-KR" altLang="en-US" sz="1200" b="0" dirty="0" smtClean="0"/>
          </a:p>
          <a:p>
            <a:pPr marL="266700" lvl="1" indent="0">
              <a:buNone/>
            </a:pPr>
            <a:endParaRPr lang="ko-KR" altLang="en-US" sz="1200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9C501292-5F74-46EB-83A9-FEEFB4E5BEB4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3024336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관계의 수학적 의미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04537925-7CAB-421D-B148-65AE12953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47067" y="3474881"/>
            <a:ext cx="531088" cy="2267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335055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E8F827-F0C9-430B-9157-8E104FDDCB2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 err="1" smtClean="0"/>
              <a:t>릴레이션</a:t>
            </a:r>
            <a:r>
              <a:rPr lang="en-US" altLang="ko-KR" dirty="0" smtClean="0"/>
              <a:t>(relation)</a:t>
            </a:r>
            <a:r>
              <a:rPr lang="ko-KR" altLang="en-US" dirty="0" smtClean="0"/>
              <a:t>의 현실 세계 적용</a:t>
            </a:r>
            <a:endParaRPr lang="en-US" altLang="ko-KR" dirty="0" smtClean="0"/>
          </a:p>
          <a:p>
            <a:pPr lvl="2">
              <a:lnSpc>
                <a:spcPct val="150000"/>
              </a:lnSpc>
              <a:buClr>
                <a:srgbClr val="9DCBA0"/>
              </a:buClr>
              <a:buNone/>
            </a:pPr>
            <a:r>
              <a:rPr lang="en-US" altLang="ko-KR" dirty="0" smtClean="0">
                <a:sym typeface="Symbol" pitchFamily="18" charset="2"/>
              </a:rPr>
              <a:t>	</a:t>
            </a:r>
            <a:r>
              <a:rPr lang="ko-KR" altLang="en-US" dirty="0">
                <a:solidFill>
                  <a:prstClr val="black"/>
                </a:solidFill>
                <a:sym typeface="Symbol" pitchFamily="18" charset="2"/>
              </a:rPr>
              <a:t>예</a:t>
            </a:r>
            <a:r>
              <a:rPr lang="en-US" altLang="ko-KR" dirty="0">
                <a:solidFill>
                  <a:prstClr val="black"/>
                </a:solidFill>
                <a:sym typeface="Symbol" pitchFamily="18" charset="2"/>
              </a:rPr>
              <a:t>) </a:t>
            </a:r>
            <a:r>
              <a:rPr lang="ko-KR" altLang="en-US" dirty="0">
                <a:solidFill>
                  <a:prstClr val="black"/>
                </a:solidFill>
              </a:rPr>
              <a:t>학번</a:t>
            </a:r>
            <a:r>
              <a:rPr lang="en-US" altLang="ko-KR" dirty="0">
                <a:solidFill>
                  <a:prstClr val="black"/>
                </a:solidFill>
              </a:rPr>
              <a:t>={2, 4}, </a:t>
            </a:r>
            <a:r>
              <a:rPr lang="ko-KR" altLang="en-US" dirty="0">
                <a:solidFill>
                  <a:prstClr val="black"/>
                </a:solidFill>
              </a:rPr>
              <a:t>과목</a:t>
            </a:r>
            <a:r>
              <a:rPr lang="en-US" altLang="ko-KR" dirty="0">
                <a:solidFill>
                  <a:prstClr val="black"/>
                </a:solidFill>
              </a:rPr>
              <a:t>={</a:t>
            </a:r>
            <a:r>
              <a:rPr lang="ko-KR" altLang="en-US" dirty="0">
                <a:solidFill>
                  <a:prstClr val="black"/>
                </a:solidFill>
              </a:rPr>
              <a:t>데이터베이스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자료구조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프로그래밍</a:t>
            </a:r>
            <a:r>
              <a:rPr lang="en-US" altLang="ko-KR" dirty="0">
                <a:solidFill>
                  <a:prstClr val="black"/>
                </a:solidFill>
              </a:rPr>
              <a:t>}</a:t>
            </a:r>
            <a:r>
              <a:rPr lang="ko-KR" altLang="en-US" dirty="0">
                <a:solidFill>
                  <a:prstClr val="black"/>
                </a:solidFill>
              </a:rPr>
              <a:t>일 때</a:t>
            </a:r>
            <a:endParaRPr lang="en-US" altLang="ko-KR" dirty="0">
              <a:solidFill>
                <a:prstClr val="black"/>
              </a:solidFill>
              <a:sym typeface="Symbol" pitchFamily="18" charset="2"/>
            </a:endParaRPr>
          </a:p>
          <a:p>
            <a:pPr lvl="2">
              <a:lnSpc>
                <a:spcPct val="150000"/>
              </a:lnSpc>
              <a:buClr>
                <a:srgbClr val="9DCBA0"/>
              </a:buClr>
              <a:buNone/>
            </a:pPr>
            <a:r>
              <a:rPr lang="en-US" altLang="ko-KR" dirty="0">
                <a:solidFill>
                  <a:prstClr val="black"/>
                </a:solidFill>
              </a:rPr>
              <a:t>	     </a:t>
            </a:r>
            <a:r>
              <a:rPr lang="ko-KR" altLang="en-US" dirty="0">
                <a:solidFill>
                  <a:prstClr val="black"/>
                </a:solidFill>
              </a:rPr>
              <a:t>두 집합의 </a:t>
            </a:r>
            <a:r>
              <a:rPr lang="ko-KR" altLang="en-US" dirty="0" err="1">
                <a:solidFill>
                  <a:prstClr val="black"/>
                </a:solidFill>
              </a:rPr>
              <a:t>카티전</a:t>
            </a:r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ko-KR" altLang="en-US" dirty="0" err="1">
                <a:solidFill>
                  <a:prstClr val="black"/>
                </a:solidFill>
              </a:rPr>
              <a:t>프로덕트</a:t>
            </a:r>
            <a:r>
              <a:rPr lang="ko-KR" altLang="en-US" dirty="0">
                <a:solidFill>
                  <a:prstClr val="black"/>
                </a:solidFill>
              </a:rPr>
              <a:t> 학번</a:t>
            </a:r>
            <a:r>
              <a:rPr lang="en-US" altLang="ko-KR" dirty="0">
                <a:solidFill>
                  <a:prstClr val="black"/>
                </a:solidFill>
              </a:rPr>
              <a:t>×</a:t>
            </a:r>
            <a:r>
              <a:rPr lang="ko-KR" altLang="en-US" dirty="0">
                <a:solidFill>
                  <a:prstClr val="black"/>
                </a:solidFill>
              </a:rPr>
              <a:t>과목은 학번 원소와 과목 원소의 순서쌍의 </a:t>
            </a:r>
            <a:r>
              <a:rPr lang="ko-KR" altLang="en-US" dirty="0" err="1">
                <a:solidFill>
                  <a:prstClr val="black"/>
                </a:solidFill>
              </a:rPr>
              <a:t>집합임</a:t>
            </a:r>
            <a:r>
              <a:rPr lang="en-US" altLang="ko-KR" dirty="0">
                <a:solidFill>
                  <a:prstClr val="black"/>
                </a:solidFill>
              </a:rPr>
              <a:t>.</a:t>
            </a:r>
          </a:p>
          <a:p>
            <a:pPr lvl="2">
              <a:lnSpc>
                <a:spcPct val="150000"/>
              </a:lnSpc>
              <a:buClr>
                <a:srgbClr val="9DCBA0"/>
              </a:buClr>
              <a:buNone/>
            </a:pPr>
            <a:r>
              <a:rPr lang="en-US" altLang="ko-KR" dirty="0">
                <a:solidFill>
                  <a:prstClr val="black"/>
                </a:solidFill>
                <a:sym typeface="Symbol" pitchFamily="18" charset="2"/>
              </a:rPr>
              <a:t>	     </a:t>
            </a:r>
            <a:r>
              <a:rPr lang="ko-KR" altLang="en-US" dirty="0">
                <a:solidFill>
                  <a:prstClr val="black"/>
                </a:solidFill>
                <a:sym typeface="Symbol" pitchFamily="18" charset="2"/>
              </a:rPr>
              <a:t>즉</a:t>
            </a:r>
            <a:r>
              <a:rPr lang="en-US" altLang="ko-KR" dirty="0">
                <a:solidFill>
                  <a:prstClr val="black"/>
                </a:solidFill>
                <a:sym typeface="Symbol" pitchFamily="18" charset="2"/>
              </a:rPr>
              <a:t>, </a:t>
            </a:r>
            <a:r>
              <a:rPr lang="ko-KR" altLang="en-US" dirty="0">
                <a:solidFill>
                  <a:prstClr val="black"/>
                </a:solidFill>
                <a:sym typeface="Symbol" pitchFamily="18" charset="2"/>
              </a:rPr>
              <a:t>학</a:t>
            </a:r>
            <a:r>
              <a:rPr lang="ko-KR" altLang="en-US" dirty="0">
                <a:solidFill>
                  <a:prstClr val="black"/>
                </a:solidFill>
              </a:rPr>
              <a:t>번</a:t>
            </a:r>
            <a:r>
              <a:rPr lang="en-US" altLang="ko-KR" dirty="0">
                <a:solidFill>
                  <a:prstClr val="black"/>
                </a:solidFill>
              </a:rPr>
              <a:t>×</a:t>
            </a:r>
            <a:r>
              <a:rPr lang="ko-KR" altLang="en-US" dirty="0">
                <a:solidFill>
                  <a:prstClr val="black"/>
                </a:solidFill>
              </a:rPr>
              <a:t>과목</a:t>
            </a:r>
            <a:r>
              <a:rPr lang="en-US" altLang="ko-KR" dirty="0">
                <a:solidFill>
                  <a:prstClr val="black"/>
                </a:solidFill>
              </a:rPr>
              <a:t>={(2, </a:t>
            </a:r>
            <a:r>
              <a:rPr lang="ko-KR" altLang="en-US" dirty="0">
                <a:solidFill>
                  <a:prstClr val="black"/>
                </a:solidFill>
              </a:rPr>
              <a:t>데이터베이스</a:t>
            </a:r>
            <a:r>
              <a:rPr lang="en-US" altLang="ko-KR" dirty="0">
                <a:solidFill>
                  <a:prstClr val="black"/>
                </a:solidFill>
              </a:rPr>
              <a:t>), (2, </a:t>
            </a:r>
            <a:r>
              <a:rPr lang="ko-KR" altLang="en-US" dirty="0">
                <a:solidFill>
                  <a:prstClr val="black"/>
                </a:solidFill>
              </a:rPr>
              <a:t>자료구조</a:t>
            </a:r>
            <a:r>
              <a:rPr lang="en-US" altLang="ko-KR" dirty="0">
                <a:solidFill>
                  <a:prstClr val="black"/>
                </a:solidFill>
              </a:rPr>
              <a:t>), (2, </a:t>
            </a:r>
            <a:r>
              <a:rPr lang="ko-KR" altLang="en-US" dirty="0">
                <a:solidFill>
                  <a:prstClr val="black"/>
                </a:solidFill>
              </a:rPr>
              <a:t>프로그래밍</a:t>
            </a:r>
            <a:r>
              <a:rPr lang="en-US" altLang="ko-KR" dirty="0">
                <a:solidFill>
                  <a:prstClr val="black"/>
                </a:solidFill>
              </a:rPr>
              <a:t>), (4, </a:t>
            </a:r>
            <a:r>
              <a:rPr lang="ko-KR" altLang="en-US" dirty="0">
                <a:solidFill>
                  <a:prstClr val="black"/>
                </a:solidFill>
              </a:rPr>
              <a:t>데이터베이스</a:t>
            </a:r>
            <a:r>
              <a:rPr lang="en-US" altLang="ko-KR" dirty="0">
                <a:solidFill>
                  <a:prstClr val="black"/>
                </a:solidFill>
              </a:rPr>
              <a:t>), (4, </a:t>
            </a:r>
            <a:r>
              <a:rPr lang="ko-KR" altLang="en-US" dirty="0">
                <a:solidFill>
                  <a:prstClr val="black"/>
                </a:solidFill>
              </a:rPr>
              <a:t>자료구조</a:t>
            </a:r>
            <a:r>
              <a:rPr lang="en-US" altLang="ko-KR" dirty="0">
                <a:solidFill>
                  <a:prstClr val="black"/>
                </a:solidFill>
              </a:rPr>
              <a:t>), </a:t>
            </a:r>
            <a:br>
              <a:rPr lang="en-US" altLang="ko-KR" dirty="0">
                <a:solidFill>
                  <a:prstClr val="black"/>
                </a:solidFill>
              </a:rPr>
            </a:br>
            <a:r>
              <a:rPr lang="en-US" altLang="ko-KR" dirty="0">
                <a:solidFill>
                  <a:prstClr val="black"/>
                </a:solidFill>
              </a:rPr>
              <a:t>     (4, </a:t>
            </a:r>
            <a:r>
              <a:rPr lang="ko-KR" altLang="en-US" dirty="0">
                <a:solidFill>
                  <a:prstClr val="black"/>
                </a:solidFill>
              </a:rPr>
              <a:t>프로그래밍</a:t>
            </a:r>
            <a:r>
              <a:rPr lang="en-US" altLang="ko-KR" dirty="0">
                <a:solidFill>
                  <a:prstClr val="black"/>
                </a:solidFill>
              </a:rPr>
              <a:t>)}</a:t>
            </a:r>
            <a:r>
              <a:rPr lang="ko-KR" altLang="en-US" dirty="0">
                <a:solidFill>
                  <a:prstClr val="black"/>
                </a:solidFill>
              </a:rPr>
              <a:t>을 말함</a:t>
            </a:r>
            <a:r>
              <a:rPr lang="en-US" altLang="ko-KR" dirty="0">
                <a:solidFill>
                  <a:prstClr val="black"/>
                </a:solidFill>
              </a:rPr>
              <a:t>.</a:t>
            </a:r>
            <a:endParaRPr lang="en-US" altLang="ko-KR" dirty="0">
              <a:solidFill>
                <a:prstClr val="black"/>
              </a:solidFill>
              <a:sym typeface="Symbol" pitchFamily="18" charset="2"/>
            </a:endParaRPr>
          </a:p>
          <a:p>
            <a:pPr lvl="2">
              <a:lnSpc>
                <a:spcPct val="150000"/>
              </a:lnSpc>
              <a:buClr>
                <a:srgbClr val="9DCBA0"/>
              </a:buClr>
              <a:buNone/>
            </a:pPr>
            <a:r>
              <a:rPr lang="en-US" altLang="ko-KR" dirty="0">
                <a:solidFill>
                  <a:prstClr val="black"/>
                </a:solidFill>
                <a:sym typeface="Symbol" pitchFamily="18" charset="2"/>
              </a:rPr>
              <a:t>	     </a:t>
            </a:r>
            <a:r>
              <a:rPr lang="ko-KR" altLang="en-US" dirty="0">
                <a:solidFill>
                  <a:prstClr val="black"/>
                </a:solidFill>
              </a:rPr>
              <a:t>학번</a:t>
            </a:r>
            <a:r>
              <a:rPr lang="en-US" altLang="ko-KR" dirty="0">
                <a:solidFill>
                  <a:prstClr val="black"/>
                </a:solidFill>
              </a:rPr>
              <a:t>×</a:t>
            </a:r>
            <a:r>
              <a:rPr lang="ko-KR" altLang="en-US" dirty="0">
                <a:solidFill>
                  <a:prstClr val="black"/>
                </a:solidFill>
              </a:rPr>
              <a:t>과목의 각 원소는 학생이 과목을 수강할 수 있는 모든 경우를 나열한 것임</a:t>
            </a:r>
            <a:r>
              <a:rPr lang="en-US" altLang="ko-KR" dirty="0">
                <a:solidFill>
                  <a:prstClr val="black"/>
                </a:solidFill>
              </a:rPr>
              <a:t>. </a:t>
            </a:r>
            <a:br>
              <a:rPr lang="en-US" altLang="ko-KR" dirty="0">
                <a:solidFill>
                  <a:prstClr val="black"/>
                </a:solidFill>
              </a:rPr>
            </a:br>
            <a:r>
              <a:rPr lang="en-US" altLang="ko-KR" dirty="0">
                <a:solidFill>
                  <a:prstClr val="black"/>
                </a:solidFill>
              </a:rPr>
              <a:t>     </a:t>
            </a:r>
            <a:r>
              <a:rPr lang="ko-KR" altLang="en-US" dirty="0">
                <a:solidFill>
                  <a:prstClr val="black"/>
                </a:solidFill>
              </a:rPr>
              <a:t>수강</a:t>
            </a:r>
            <a:r>
              <a:rPr lang="en-US" altLang="ko-KR" dirty="0">
                <a:solidFill>
                  <a:prstClr val="black"/>
                </a:solidFill>
              </a:rPr>
              <a:t>={(2, </a:t>
            </a:r>
            <a:r>
              <a:rPr lang="ko-KR" altLang="en-US" dirty="0">
                <a:solidFill>
                  <a:prstClr val="black"/>
                </a:solidFill>
              </a:rPr>
              <a:t>데이터베이스</a:t>
            </a:r>
            <a:r>
              <a:rPr lang="en-US" altLang="ko-KR" dirty="0">
                <a:solidFill>
                  <a:prstClr val="black"/>
                </a:solidFill>
              </a:rPr>
              <a:t>), (2, </a:t>
            </a:r>
            <a:r>
              <a:rPr lang="ko-KR" altLang="en-US" dirty="0">
                <a:solidFill>
                  <a:prstClr val="black"/>
                </a:solidFill>
              </a:rPr>
              <a:t>자료구조</a:t>
            </a:r>
            <a:r>
              <a:rPr lang="en-US" altLang="ko-KR" dirty="0">
                <a:solidFill>
                  <a:prstClr val="black"/>
                </a:solidFill>
              </a:rPr>
              <a:t>), (4, </a:t>
            </a:r>
            <a:r>
              <a:rPr lang="ko-KR" altLang="en-US" dirty="0">
                <a:solidFill>
                  <a:prstClr val="black"/>
                </a:solidFill>
              </a:rPr>
              <a:t>프로그래밍</a:t>
            </a:r>
            <a:r>
              <a:rPr lang="en-US" altLang="ko-KR" dirty="0">
                <a:solidFill>
                  <a:prstClr val="black"/>
                </a:solidFill>
              </a:rPr>
              <a:t>)}</a:t>
            </a:r>
            <a:r>
              <a:rPr lang="ko-KR" altLang="en-US" dirty="0">
                <a:solidFill>
                  <a:prstClr val="black"/>
                </a:solidFill>
              </a:rPr>
              <a:t>은 </a:t>
            </a:r>
            <a:r>
              <a:rPr lang="ko-KR" altLang="en-US" dirty="0" err="1">
                <a:solidFill>
                  <a:prstClr val="black"/>
                </a:solidFill>
              </a:rPr>
              <a:t>카티전</a:t>
            </a:r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ko-KR" altLang="en-US" dirty="0" err="1">
                <a:solidFill>
                  <a:prstClr val="black"/>
                </a:solidFill>
              </a:rPr>
              <a:t>프로덕트</a:t>
            </a:r>
            <a:r>
              <a:rPr lang="ko-KR" altLang="en-US" dirty="0">
                <a:solidFill>
                  <a:prstClr val="black"/>
                </a:solidFill>
              </a:rPr>
              <a:t> 학번</a:t>
            </a:r>
            <a:r>
              <a:rPr lang="en-US" altLang="ko-KR" dirty="0">
                <a:solidFill>
                  <a:prstClr val="black"/>
                </a:solidFill>
              </a:rPr>
              <a:t>×</a:t>
            </a:r>
            <a:r>
              <a:rPr lang="ko-KR" altLang="en-US" dirty="0">
                <a:solidFill>
                  <a:prstClr val="black"/>
                </a:solidFill>
              </a:rPr>
              <a:t>과목의 부분집합으로 </a:t>
            </a:r>
            <a:endParaRPr lang="en-US" altLang="ko-KR" dirty="0">
              <a:solidFill>
                <a:prstClr val="black"/>
              </a:solidFill>
            </a:endParaRPr>
          </a:p>
          <a:p>
            <a:pPr lvl="2">
              <a:lnSpc>
                <a:spcPct val="150000"/>
              </a:lnSpc>
              <a:buClr>
                <a:srgbClr val="9DCBA0"/>
              </a:buClr>
              <a:buNone/>
            </a:pPr>
            <a:r>
              <a:rPr lang="en-US" altLang="ko-KR" dirty="0">
                <a:solidFill>
                  <a:prstClr val="black"/>
                </a:solidFill>
              </a:rPr>
              <a:t>	     </a:t>
            </a:r>
            <a:r>
              <a:rPr lang="ko-KR" altLang="en-US" dirty="0">
                <a:solidFill>
                  <a:prstClr val="black"/>
                </a:solidFill>
              </a:rPr>
              <a:t>하나의 </a:t>
            </a:r>
            <a:r>
              <a:rPr lang="ko-KR" altLang="en-US" dirty="0" err="1">
                <a:solidFill>
                  <a:prstClr val="black"/>
                </a:solidFill>
              </a:rPr>
              <a:t>릴레이션</a:t>
            </a:r>
            <a:r>
              <a:rPr lang="ko-KR" altLang="en-US" dirty="0">
                <a:solidFill>
                  <a:prstClr val="black"/>
                </a:solidFill>
              </a:rPr>
              <a:t> 인스턴스임</a:t>
            </a:r>
            <a:r>
              <a:rPr lang="en-US" altLang="ko-KR" dirty="0">
                <a:solidFill>
                  <a:prstClr val="black"/>
                </a:solidFill>
              </a:rPr>
              <a:t>. </a:t>
            </a:r>
            <a:r>
              <a:rPr lang="ko-KR" altLang="en-US" dirty="0">
                <a:solidFill>
                  <a:prstClr val="black"/>
                </a:solidFill>
              </a:rPr>
              <a:t>수강 </a:t>
            </a:r>
            <a:r>
              <a:rPr lang="ko-KR" altLang="en-US" dirty="0" err="1">
                <a:solidFill>
                  <a:prstClr val="black"/>
                </a:solidFill>
              </a:rPr>
              <a:t>릴레이션의</a:t>
            </a:r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ko-KR" altLang="en-US" dirty="0" err="1">
                <a:solidFill>
                  <a:prstClr val="black"/>
                </a:solidFill>
              </a:rPr>
              <a:t>투플은</a:t>
            </a:r>
            <a:r>
              <a:rPr lang="ko-KR" altLang="en-US" dirty="0">
                <a:solidFill>
                  <a:prstClr val="black"/>
                </a:solidFill>
              </a:rPr>
              <a:t> 위에서 나열한 여섯 개 원소 중 하나로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</a:p>
          <a:p>
            <a:pPr lvl="2">
              <a:lnSpc>
                <a:spcPct val="150000"/>
              </a:lnSpc>
              <a:buClr>
                <a:srgbClr val="9DCBA0"/>
              </a:buClr>
              <a:buNone/>
            </a:pPr>
            <a:r>
              <a:rPr lang="en-US" altLang="ko-KR" dirty="0">
                <a:solidFill>
                  <a:prstClr val="black"/>
                </a:solidFill>
              </a:rPr>
              <a:t>	     </a:t>
            </a:r>
            <a:r>
              <a:rPr lang="ko-KR" altLang="en-US" dirty="0">
                <a:solidFill>
                  <a:prstClr val="black"/>
                </a:solidFill>
              </a:rPr>
              <a:t>아래 수강 테이블을 데이터베이스에서는 </a:t>
            </a:r>
            <a:r>
              <a:rPr lang="ko-KR" altLang="en-US" dirty="0" err="1">
                <a:solidFill>
                  <a:prstClr val="black"/>
                </a:solidFill>
              </a:rPr>
              <a:t>릴레이션</a:t>
            </a:r>
            <a:r>
              <a:rPr lang="en-US" altLang="ko-KR" dirty="0">
                <a:solidFill>
                  <a:prstClr val="black"/>
                </a:solidFill>
              </a:rPr>
              <a:t>(relation)</a:t>
            </a:r>
            <a:r>
              <a:rPr lang="ko-KR" altLang="en-US" dirty="0">
                <a:solidFill>
                  <a:prstClr val="black"/>
                </a:solidFill>
              </a:rPr>
              <a:t>이라고 함</a:t>
            </a:r>
            <a:r>
              <a:rPr lang="en-US" altLang="ko-KR" dirty="0">
                <a:solidFill>
                  <a:prstClr val="black"/>
                </a:solidFill>
              </a:rPr>
              <a:t>.</a:t>
            </a:r>
            <a:endParaRPr lang="pt-BR" altLang="ko-KR" dirty="0">
              <a:solidFill>
                <a:prstClr val="black"/>
              </a:solidFill>
              <a:sym typeface="Symbol" pitchFamily="18" charset="2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9C501292-5F74-46EB-83A9-FEEFB4E5BEB4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3024336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관계의 수학적 의미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586BA88-C05F-4310-8B8B-67EEB5618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036" y="4437112"/>
            <a:ext cx="2075878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365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975BAF5F-3665-4D60-9F91-DD7327BD142A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215" y="1125538"/>
            <a:ext cx="6126982" cy="5399087"/>
          </a:xfr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9C501292-5F74-46EB-83A9-FEEFB4E5BEB4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2448272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관계대수 연산자</a:t>
            </a:r>
          </a:p>
        </p:txBody>
      </p:sp>
    </p:spTree>
    <p:extLst>
      <p:ext uri="{BB962C8B-B14F-4D97-AF65-F5344CB8AC3E}">
        <p14:creationId xmlns:p14="http://schemas.microsoft.com/office/powerpoint/2010/main" val="3032823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C501292-5F74-46EB-83A9-FEEFB4E5BEB4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1728192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관계대수식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8C47C3-D15F-46BC-96B0-1165C018082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 err="1" smtClean="0"/>
              <a:t>관계대수식</a:t>
            </a:r>
            <a:endParaRPr lang="en-US" altLang="ko-KR" dirty="0" smtClean="0"/>
          </a:p>
          <a:p>
            <a:pPr marL="104775" lvl="1" indent="0">
              <a:buClr>
                <a:srgbClr val="9DCBA0"/>
              </a:buClr>
              <a:buNone/>
            </a:pPr>
            <a:r>
              <a:rPr lang="ko-KR" altLang="en-US" dirty="0" err="1">
                <a:solidFill>
                  <a:prstClr val="black"/>
                </a:solidFill>
              </a:rPr>
              <a:t>관계대수는</a:t>
            </a:r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ko-KR" altLang="en-US" dirty="0" err="1">
                <a:solidFill>
                  <a:prstClr val="black"/>
                </a:solidFill>
              </a:rPr>
              <a:t>릴레이션</a:t>
            </a:r>
            <a:r>
              <a:rPr lang="ko-KR" altLang="en-US" dirty="0">
                <a:solidFill>
                  <a:prstClr val="black"/>
                </a:solidFill>
              </a:rPr>
              <a:t> 간 연산을 통해 결과 </a:t>
            </a:r>
            <a:r>
              <a:rPr lang="ko-KR" altLang="en-US" dirty="0" err="1">
                <a:solidFill>
                  <a:prstClr val="black"/>
                </a:solidFill>
              </a:rPr>
              <a:t>릴레이션을</a:t>
            </a:r>
            <a:r>
              <a:rPr lang="ko-KR" altLang="en-US" dirty="0">
                <a:solidFill>
                  <a:prstClr val="black"/>
                </a:solidFill>
              </a:rPr>
              <a:t> 찾는 절차를 기술한 언어로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이 연산을 수행하기 위한 식을 </a:t>
            </a:r>
            <a:r>
              <a:rPr lang="ko-KR" altLang="en-US" dirty="0" err="1">
                <a:solidFill>
                  <a:prstClr val="black"/>
                </a:solidFill>
              </a:rPr>
              <a:t>관계대수식</a:t>
            </a:r>
            <a:r>
              <a:rPr lang="en-US" altLang="ko-KR" dirty="0">
                <a:solidFill>
                  <a:prstClr val="black"/>
                </a:solidFill>
              </a:rPr>
              <a:t>(relational algebra expression)</a:t>
            </a:r>
            <a:r>
              <a:rPr lang="ko-KR" altLang="en-US" dirty="0">
                <a:solidFill>
                  <a:prstClr val="black"/>
                </a:solidFill>
              </a:rPr>
              <a:t>이라고 함</a:t>
            </a:r>
            <a:r>
              <a:rPr lang="en-US" altLang="ko-KR" dirty="0">
                <a:solidFill>
                  <a:prstClr val="black"/>
                </a:solidFill>
              </a:rPr>
              <a:t>. </a:t>
            </a:r>
          </a:p>
          <a:p>
            <a:pPr marL="104775" lvl="1" indent="0">
              <a:buClr>
                <a:srgbClr val="9DCBA0"/>
              </a:buClr>
              <a:buNone/>
            </a:pPr>
            <a:r>
              <a:rPr lang="ko-KR" altLang="en-US" dirty="0">
                <a:solidFill>
                  <a:prstClr val="black"/>
                </a:solidFill>
              </a:rPr>
              <a:t>관계대수식은 대상이 되는 </a:t>
            </a:r>
            <a:r>
              <a:rPr lang="ko-KR" altLang="en-US" dirty="0" err="1">
                <a:solidFill>
                  <a:prstClr val="black"/>
                </a:solidFill>
              </a:rPr>
              <a:t>릴레이션과</a:t>
            </a:r>
            <a:r>
              <a:rPr lang="ko-KR" altLang="en-US" dirty="0">
                <a:solidFill>
                  <a:prstClr val="black"/>
                </a:solidFill>
              </a:rPr>
              <a:t> 연산자로 구성되며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결과는 릴레이션으로 반환됨</a:t>
            </a:r>
            <a:r>
              <a:rPr lang="en-US" altLang="ko-KR" dirty="0">
                <a:solidFill>
                  <a:prstClr val="black"/>
                </a:solidFill>
              </a:rPr>
              <a:t>. </a:t>
            </a:r>
            <a:r>
              <a:rPr lang="ko-KR" altLang="en-US" dirty="0">
                <a:solidFill>
                  <a:prstClr val="black"/>
                </a:solidFill>
              </a:rPr>
              <a:t>반환된 </a:t>
            </a:r>
            <a:r>
              <a:rPr lang="ko-KR" altLang="en-US" dirty="0" err="1">
                <a:solidFill>
                  <a:prstClr val="black"/>
                </a:solidFill>
              </a:rPr>
              <a:t>릴레이션은</a:t>
            </a:r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ko-KR" altLang="en-US" dirty="0" err="1">
                <a:solidFill>
                  <a:prstClr val="black"/>
                </a:solidFill>
              </a:rPr>
              <a:t>릴레이션의</a:t>
            </a:r>
            <a:r>
              <a:rPr lang="ko-KR" altLang="en-US" dirty="0">
                <a:solidFill>
                  <a:prstClr val="black"/>
                </a:solidFill>
              </a:rPr>
              <a:t> 모든 특징을 따름</a:t>
            </a:r>
            <a:r>
              <a:rPr lang="en-US" altLang="ko-KR" dirty="0">
                <a:solidFill>
                  <a:prstClr val="black"/>
                </a:solidFill>
              </a:rPr>
              <a:t>. </a:t>
            </a:r>
          </a:p>
          <a:p>
            <a:endParaRPr lang="en-US" altLang="ko-KR" dirty="0" smtClean="0"/>
          </a:p>
          <a:p>
            <a:pPr lvl="1"/>
            <a:r>
              <a:rPr lang="ko-KR" altLang="en-US" b="1" dirty="0" err="1" smtClean="0"/>
              <a:t>단항</a:t>
            </a:r>
            <a:r>
              <a:rPr lang="ko-KR" altLang="en-US" b="1" dirty="0" smtClean="0"/>
              <a:t> 연산자 </a:t>
            </a:r>
            <a:r>
              <a:rPr lang="en-US" altLang="ko-KR" b="1" dirty="0" smtClean="0"/>
              <a:t>: </a:t>
            </a:r>
            <a:r>
              <a:rPr lang="ko-KR" altLang="en-US" b="1" dirty="0" smtClean="0"/>
              <a:t>연산자</a:t>
            </a:r>
            <a:r>
              <a:rPr lang="en-US" altLang="ko-KR" b="1" dirty="0" smtClean="0"/>
              <a:t>&lt;</a:t>
            </a:r>
            <a:r>
              <a:rPr lang="ko-KR" altLang="en-US" b="1" dirty="0" smtClean="0"/>
              <a:t>조건</a:t>
            </a:r>
            <a:r>
              <a:rPr lang="en-US" altLang="ko-KR" b="1" dirty="0" smtClean="0"/>
              <a:t>&gt;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릴레이션</a:t>
            </a:r>
            <a:endParaRPr lang="en-US" altLang="ko-KR" b="1" dirty="0" smtClean="0"/>
          </a:p>
          <a:p>
            <a:pPr lvl="1"/>
            <a:r>
              <a:rPr lang="ko-KR" altLang="en-US" b="1" dirty="0" smtClean="0"/>
              <a:t>이항 연산자 </a:t>
            </a:r>
            <a:r>
              <a:rPr lang="en-US" altLang="ko-KR" b="1" dirty="0" smtClean="0"/>
              <a:t>: </a:t>
            </a:r>
            <a:r>
              <a:rPr lang="ko-KR" altLang="en-US" b="1" dirty="0" err="1" smtClean="0"/>
              <a:t>릴레이션</a:t>
            </a:r>
            <a:r>
              <a:rPr lang="en-US" altLang="ko-KR" b="1" dirty="0" smtClean="0"/>
              <a:t>1 </a:t>
            </a:r>
            <a:r>
              <a:rPr lang="ko-KR" altLang="en-US" b="1" dirty="0" smtClean="0"/>
              <a:t>연산자</a:t>
            </a:r>
            <a:r>
              <a:rPr lang="en-US" altLang="ko-KR" b="1" dirty="0" smtClean="0"/>
              <a:t>&lt;</a:t>
            </a:r>
            <a:r>
              <a:rPr lang="ko-KR" altLang="en-US" b="1" dirty="0" smtClean="0"/>
              <a:t>조건</a:t>
            </a:r>
            <a:r>
              <a:rPr lang="en-US" altLang="ko-KR" b="1" dirty="0" smtClean="0"/>
              <a:t>&gt;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릴레이션</a:t>
            </a:r>
            <a:r>
              <a:rPr lang="en-US" altLang="ko-KR" b="1" dirty="0" smtClean="0"/>
              <a:t>2</a:t>
            </a:r>
            <a:endParaRPr lang="ko-KR" altLang="en-US" b="1" dirty="0" smtClean="0"/>
          </a:p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739CAA7-8AEE-4413-85F9-713D54FBA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3863418"/>
            <a:ext cx="3899520" cy="212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3829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F8DD5C42-1A64-482F-A13C-867A67A208B7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156029"/>
            <a:ext cx="6127314" cy="5397115"/>
          </a:xfr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9C501292-5F74-46EB-83A9-FEEFB4E5BEB4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1728192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관계대수식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739CAA7-8AEE-4413-85F9-713D54FBA21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455" b="15200"/>
          <a:stretch/>
        </p:blipFill>
        <p:spPr>
          <a:xfrm>
            <a:off x="6450842" y="1159866"/>
            <a:ext cx="2627784" cy="145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583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5A3768-DC22-4E90-BC0A-A9135C4AE68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sz="1400" dirty="0" err="1" smtClean="0"/>
              <a:t>릴레이션의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투플을</a:t>
            </a:r>
            <a:r>
              <a:rPr lang="ko-KR" altLang="en-US" sz="1400" dirty="0" smtClean="0"/>
              <a:t> 추출하기 위한 </a:t>
            </a:r>
            <a:r>
              <a:rPr lang="ko-KR" altLang="en-US" sz="1400" dirty="0" err="1" smtClean="0"/>
              <a:t>연산임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하나의 </a:t>
            </a:r>
            <a:r>
              <a:rPr lang="ko-KR" altLang="en-US" sz="1400" dirty="0" err="1" smtClean="0"/>
              <a:t>릴레이션을</a:t>
            </a:r>
            <a:r>
              <a:rPr lang="ko-KR" altLang="en-US" sz="1400" dirty="0" smtClean="0"/>
              <a:t> 대상으로 하는 </a:t>
            </a:r>
            <a:r>
              <a:rPr lang="ko-KR" altLang="en-US" sz="1400" dirty="0" err="1" smtClean="0"/>
              <a:t>단항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연산자며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찾고자 하는 </a:t>
            </a:r>
            <a:r>
              <a:rPr lang="ko-KR" altLang="en-US" sz="1400" dirty="0" err="1" smtClean="0"/>
              <a:t>투플의</a:t>
            </a:r>
            <a:r>
              <a:rPr lang="ko-KR" altLang="en-US" sz="1400" dirty="0" smtClean="0"/>
              <a:t> 조건</a:t>
            </a:r>
            <a:r>
              <a:rPr lang="en-US" altLang="ko-KR" sz="1400" dirty="0" smtClean="0"/>
              <a:t>(predicate)</a:t>
            </a:r>
            <a:r>
              <a:rPr lang="ko-KR" altLang="en-US" sz="1400" dirty="0" smtClean="0"/>
              <a:t>을 명시하고 그 조건에 만족하는 </a:t>
            </a:r>
            <a:r>
              <a:rPr lang="ko-KR" altLang="en-US" sz="1400" dirty="0" err="1" smtClean="0"/>
              <a:t>투플을</a:t>
            </a:r>
            <a:r>
              <a:rPr lang="ko-KR" altLang="en-US" sz="1400" dirty="0" smtClean="0"/>
              <a:t> 반환함</a:t>
            </a:r>
            <a:r>
              <a:rPr lang="en-US" altLang="ko-KR" sz="1400" dirty="0" smtClean="0"/>
              <a:t>. </a:t>
            </a:r>
          </a:p>
          <a:p>
            <a:r>
              <a:rPr lang="ko-KR" altLang="en-US" dirty="0" smtClean="0"/>
              <a:t>형식 </a:t>
            </a:r>
            <a:r>
              <a:rPr lang="en-US" altLang="ko-KR" dirty="0" smtClean="0"/>
              <a:t>: </a:t>
            </a:r>
            <a:r>
              <a:rPr lang="el-GR" altLang="ko-KR" dirty="0" smtClean="0"/>
              <a:t>σ</a:t>
            </a:r>
            <a:r>
              <a:rPr lang="en-US" altLang="ko-KR" dirty="0" smtClean="0"/>
              <a:t>&lt;</a:t>
            </a:r>
            <a:r>
              <a:rPr lang="ko-KR" altLang="en-US" dirty="0" smtClean="0"/>
              <a:t>조건</a:t>
            </a:r>
            <a:r>
              <a:rPr lang="en-US" altLang="ko-KR" dirty="0" smtClean="0"/>
              <a:t>&gt; (R)   </a:t>
            </a:r>
            <a:r>
              <a:rPr lang="en-US" altLang="ko-KR" b="0" dirty="0" smtClean="0"/>
              <a:t>(R</a:t>
            </a:r>
            <a:r>
              <a:rPr lang="ko-KR" altLang="en-US" b="0" dirty="0" smtClean="0"/>
              <a:t>은 </a:t>
            </a:r>
            <a:r>
              <a:rPr lang="ko-KR" altLang="en-US" b="0" dirty="0" err="1" smtClean="0"/>
              <a:t>릴레이션</a:t>
            </a:r>
            <a:r>
              <a:rPr lang="en-US" altLang="ko-KR" b="0" dirty="0" smtClean="0"/>
              <a:t>, </a:t>
            </a:r>
            <a:r>
              <a:rPr lang="el-GR" altLang="ko-KR" b="0" dirty="0" smtClean="0"/>
              <a:t>σ </a:t>
            </a:r>
            <a:r>
              <a:rPr lang="ko-KR" altLang="en-US" b="0" dirty="0" smtClean="0"/>
              <a:t>는 그리스</a:t>
            </a:r>
            <a:r>
              <a:rPr lang="en-US" altLang="ko-KR" b="0" dirty="0" smtClean="0"/>
              <a:t> </a:t>
            </a:r>
            <a:r>
              <a:rPr lang="ko-KR" altLang="en-US" b="0" dirty="0" smtClean="0"/>
              <a:t>문자이며 대문자는 </a:t>
            </a:r>
            <a:r>
              <a:rPr lang="el-GR" altLang="ko-KR" b="0" dirty="0" smtClean="0"/>
              <a:t>Σ</a:t>
            </a:r>
            <a:r>
              <a:rPr lang="en-US" altLang="ko-KR" b="0" dirty="0" smtClean="0"/>
              <a:t> )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pPr lvl="2"/>
            <a:r>
              <a:rPr lang="el-GR" altLang="ko-KR" b="1" dirty="0" smtClean="0"/>
              <a:t>σ</a:t>
            </a:r>
            <a:r>
              <a:rPr lang="el-GR" altLang="ko-KR" dirty="0" smtClean="0"/>
              <a:t> </a:t>
            </a:r>
            <a:r>
              <a:rPr lang="ko-KR" altLang="en-US" dirty="0" smtClean="0"/>
              <a:t>가격</a:t>
            </a:r>
            <a:r>
              <a:rPr lang="en-US" altLang="ko-KR" dirty="0" smtClean="0"/>
              <a:t>&lt;=8000 (</a:t>
            </a:r>
            <a:r>
              <a:rPr lang="ko-KR" altLang="en-US" dirty="0" smtClean="0"/>
              <a:t>도서</a:t>
            </a:r>
            <a:r>
              <a:rPr lang="en-US" altLang="ko-KR" dirty="0" smtClean="0"/>
              <a:t>)</a:t>
            </a:r>
          </a:p>
          <a:p>
            <a:pPr lvl="2"/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7EAF5C-C54D-4ADE-BCD5-685572D8EF1F}"/>
              </a:ext>
            </a:extLst>
          </p:cNvPr>
          <p:cNvSpPr txBox="1"/>
          <p:nvPr/>
        </p:nvSpPr>
        <p:spPr>
          <a:xfrm>
            <a:off x="1187624" y="2289181"/>
            <a:ext cx="6480720" cy="373885"/>
          </a:xfrm>
          <a:prstGeom prst="rect">
            <a:avLst/>
          </a:prstGeom>
          <a:solidFill>
            <a:srgbClr val="E6B4C0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질의 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2-1   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마당서점에서 판매하는 도서 중 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8,000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원 이하인 도서를 </a:t>
            </a: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검색하시오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5E3F346-4DD7-4C88-92DE-015D5910C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2925160"/>
            <a:ext cx="3916909" cy="3695955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9C501292-5F74-46EB-83A9-FEEFB4E5BEB4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3096344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 smtClean="0"/>
              <a:t>셀렉션</a:t>
            </a:r>
            <a:r>
              <a:rPr lang="en-US" altLang="ko-KR" dirty="0" smtClean="0"/>
              <a:t>(selection)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6972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5A3768-DC22-4E90-BC0A-A9135C4AE68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sz="1400" dirty="0" err="1" smtClean="0"/>
              <a:t>셀렉션의</a:t>
            </a:r>
            <a:r>
              <a:rPr lang="ko-KR" altLang="en-US" sz="1400" dirty="0" smtClean="0"/>
              <a:t> 확장</a:t>
            </a:r>
            <a:endParaRPr lang="en-US" altLang="ko-KR" sz="1400" dirty="0" smtClean="0"/>
          </a:p>
          <a:p>
            <a:endParaRPr lang="en-US" altLang="ko-KR" sz="1400" dirty="0" smtClean="0"/>
          </a:p>
          <a:p>
            <a:r>
              <a:rPr lang="ko-KR" altLang="en-US" sz="1400" dirty="0" smtClean="0"/>
              <a:t>형식 </a:t>
            </a:r>
            <a:r>
              <a:rPr lang="en-US" altLang="ko-KR" sz="1400" dirty="0" smtClean="0"/>
              <a:t>: </a:t>
            </a:r>
            <a:r>
              <a:rPr lang="el-GR" altLang="ko-KR" sz="1400" dirty="0" smtClean="0"/>
              <a:t>σ</a:t>
            </a:r>
            <a:r>
              <a:rPr lang="en-US" altLang="ko-KR" sz="1400" dirty="0" smtClean="0"/>
              <a:t>&lt;</a:t>
            </a:r>
            <a:r>
              <a:rPr lang="ko-KR" altLang="en-US" sz="1400" dirty="0" err="1" smtClean="0"/>
              <a:t>복합조건</a:t>
            </a:r>
            <a:r>
              <a:rPr lang="en-US" altLang="ko-KR" sz="1400" dirty="0" smtClean="0"/>
              <a:t>&gt; (R)   </a:t>
            </a:r>
            <a:r>
              <a:rPr lang="en-US" altLang="ko-KR" sz="1400" b="0" dirty="0" smtClean="0"/>
              <a:t>(R</a:t>
            </a:r>
            <a:r>
              <a:rPr lang="ko-KR" altLang="en-US" sz="1400" b="0" dirty="0" smtClean="0"/>
              <a:t>은 </a:t>
            </a:r>
            <a:r>
              <a:rPr lang="ko-KR" altLang="en-US" sz="1400" b="0" dirty="0" err="1" smtClean="0"/>
              <a:t>릴레이션</a:t>
            </a:r>
            <a:r>
              <a:rPr lang="en-US" altLang="ko-KR" sz="1400" b="0" dirty="0" smtClean="0"/>
              <a:t>, </a:t>
            </a:r>
            <a:r>
              <a:rPr lang="el-GR" altLang="ko-KR" sz="1400" b="0" dirty="0" smtClean="0"/>
              <a:t>σ </a:t>
            </a:r>
            <a:r>
              <a:rPr lang="ko-KR" altLang="en-US" sz="1400" b="0" dirty="0" smtClean="0"/>
              <a:t>는 그리스</a:t>
            </a:r>
            <a:r>
              <a:rPr lang="en-US" altLang="ko-KR" sz="1400" b="0" dirty="0" smtClean="0"/>
              <a:t> </a:t>
            </a:r>
            <a:r>
              <a:rPr lang="ko-KR" altLang="en-US" sz="1400" b="0" dirty="0" smtClean="0"/>
              <a:t>문자이며 대문자는 </a:t>
            </a:r>
            <a:r>
              <a:rPr lang="el-GR" altLang="ko-KR" sz="1400" b="0" dirty="0" smtClean="0"/>
              <a:t>Σ</a:t>
            </a:r>
            <a:r>
              <a:rPr lang="en-US" altLang="ko-KR" sz="1400" b="0" dirty="0" smtClean="0"/>
              <a:t> )</a:t>
            </a:r>
            <a:br>
              <a:rPr lang="en-US" altLang="ko-KR" sz="1400" b="0" dirty="0" smtClean="0"/>
            </a:br>
            <a:r>
              <a:rPr lang="ko-KR" altLang="en-US" sz="1400" b="0" dirty="0" smtClean="0"/>
              <a:t>여러 개의 조건을 ∧</a:t>
            </a:r>
            <a:r>
              <a:rPr lang="en-US" altLang="ko-KR" sz="1400" b="0" dirty="0" smtClean="0"/>
              <a:t>(and), </a:t>
            </a:r>
            <a:r>
              <a:rPr lang="ko-KR" altLang="en-US" sz="1400" b="0" dirty="0" smtClean="0"/>
              <a:t>∨ </a:t>
            </a:r>
            <a:r>
              <a:rPr lang="en-US" altLang="ko-KR" sz="1400" b="0" dirty="0" smtClean="0"/>
              <a:t>(or), </a:t>
            </a:r>
            <a:r>
              <a:rPr lang="ko-KR" altLang="en-US" sz="1400" b="0" dirty="0" smtClean="0"/>
              <a:t>┑</a:t>
            </a:r>
            <a:r>
              <a:rPr lang="en-US" altLang="ko-KR" sz="1400" b="0" dirty="0" smtClean="0"/>
              <a:t>(not) </a:t>
            </a:r>
            <a:r>
              <a:rPr lang="ko-KR" altLang="en-US" sz="1400" b="0" dirty="0" smtClean="0"/>
              <a:t>기호를</a:t>
            </a:r>
            <a:r>
              <a:rPr lang="en-US" altLang="ko-KR" sz="1400" b="0" dirty="0" smtClean="0"/>
              <a:t> </a:t>
            </a:r>
            <a:r>
              <a:rPr lang="ko-KR" altLang="en-US" sz="1400" b="0" dirty="0" smtClean="0"/>
              <a:t>이용하여 </a:t>
            </a:r>
            <a:r>
              <a:rPr lang="ko-KR" altLang="en-US" sz="1400" b="0" dirty="0" err="1" smtClean="0"/>
              <a:t>복합조건을</a:t>
            </a:r>
            <a:r>
              <a:rPr lang="ko-KR" altLang="en-US" sz="1400" b="0" dirty="0" smtClean="0"/>
              <a:t> 표시할 수 있다</a:t>
            </a:r>
            <a:r>
              <a:rPr lang="en-US" altLang="ko-KR" sz="1400" b="0" dirty="0" smtClean="0"/>
              <a:t>. </a:t>
            </a:r>
            <a:br>
              <a:rPr lang="en-US" altLang="ko-KR" sz="1400" b="0" dirty="0" smtClean="0"/>
            </a:br>
            <a:r>
              <a:rPr lang="ko-KR" altLang="en-US" sz="1400" b="0" dirty="0" smtClean="0"/>
              <a:t>예를 들어</a:t>
            </a:r>
            <a:r>
              <a:rPr lang="en-US" altLang="ko-KR" sz="1400" b="0" dirty="0" smtClean="0"/>
              <a:t>, “</a:t>
            </a:r>
            <a:r>
              <a:rPr lang="ko-KR" altLang="en-US" sz="1400" b="0" dirty="0" smtClean="0"/>
              <a:t>가격이 </a:t>
            </a:r>
            <a:r>
              <a:rPr lang="en-US" altLang="ko-KR" sz="1400" b="0" dirty="0" smtClean="0"/>
              <a:t>8,000</a:t>
            </a:r>
            <a:r>
              <a:rPr lang="ko-KR" altLang="en-US" sz="1400" b="0" dirty="0" smtClean="0"/>
              <a:t>원 이하이고</a:t>
            </a:r>
            <a:r>
              <a:rPr lang="en-US" altLang="ko-KR" sz="1400" b="0" dirty="0" smtClean="0"/>
              <a:t>,</a:t>
            </a:r>
            <a:r>
              <a:rPr lang="ko-KR" altLang="en-US" sz="1400" b="0" dirty="0" smtClean="0"/>
              <a:t> </a:t>
            </a:r>
            <a:r>
              <a:rPr lang="ko-KR" altLang="en-US" sz="1400" b="0" dirty="0" err="1" smtClean="0"/>
              <a:t>도서번호가</a:t>
            </a:r>
            <a:r>
              <a:rPr lang="ko-KR" altLang="en-US" sz="1400" b="0" dirty="0" smtClean="0"/>
              <a:t> </a:t>
            </a:r>
            <a:r>
              <a:rPr lang="en-US" altLang="ko-KR" sz="1400" b="0" dirty="0" smtClean="0"/>
              <a:t>3 </a:t>
            </a:r>
            <a:r>
              <a:rPr lang="ko-KR" altLang="en-US" sz="1400" b="0" dirty="0" smtClean="0"/>
              <a:t>이상인 책을 찾아라</a:t>
            </a:r>
            <a:r>
              <a:rPr lang="en-US" altLang="ko-KR" sz="1400" b="0" dirty="0" smtClean="0"/>
              <a:t>”</a:t>
            </a:r>
            <a:r>
              <a:rPr lang="ko-KR" altLang="en-US" sz="1400" b="0" dirty="0" smtClean="0"/>
              <a:t>는 질의는</a:t>
            </a:r>
            <a:r>
              <a:rPr lang="en-US" altLang="ko-KR" sz="1400" b="0" dirty="0" smtClean="0"/>
              <a:t/>
            </a:r>
            <a:br>
              <a:rPr lang="en-US" altLang="ko-KR" sz="1400" b="0" dirty="0" smtClean="0"/>
            </a:br>
            <a:r>
              <a:rPr lang="ko-KR" altLang="en-US" sz="1400" b="0" dirty="0" smtClean="0"/>
              <a:t>다음과 같이 표현한다</a:t>
            </a:r>
            <a:r>
              <a:rPr lang="en-US" altLang="ko-KR" sz="1400" b="0" dirty="0" smtClean="0"/>
              <a:t/>
            </a:r>
            <a:br>
              <a:rPr lang="en-US" altLang="ko-KR" sz="1400" b="0" dirty="0" smtClean="0"/>
            </a:br>
            <a:endParaRPr lang="en-US" altLang="ko-KR" sz="1400" b="0" dirty="0" smtClean="0"/>
          </a:p>
          <a:p>
            <a:pPr marL="0" indent="0">
              <a:buNone/>
            </a:pPr>
            <a:r>
              <a:rPr lang="en-US" altLang="ko-KR" sz="1400" b="0" dirty="0" smtClean="0"/>
              <a:t>	</a:t>
            </a:r>
            <a:r>
              <a:rPr lang="el-GR" altLang="ko-KR" sz="1400" dirty="0" smtClean="0"/>
              <a:t>σ</a:t>
            </a:r>
            <a:r>
              <a:rPr lang="en-US" altLang="ko-KR" sz="1400" b="0" dirty="0" smtClean="0"/>
              <a:t> </a:t>
            </a:r>
            <a:r>
              <a:rPr lang="en-US" altLang="ko-KR" sz="900" b="0" dirty="0" smtClean="0"/>
              <a:t>(</a:t>
            </a:r>
            <a:r>
              <a:rPr lang="ko-KR" altLang="en-US" sz="900" b="0" dirty="0" smtClean="0"/>
              <a:t>가격</a:t>
            </a:r>
            <a:r>
              <a:rPr lang="en-US" altLang="ko-KR" sz="900" b="0" dirty="0" smtClean="0"/>
              <a:t>&lt;=8000 </a:t>
            </a:r>
            <a:r>
              <a:rPr lang="ko-KR" altLang="en-US" sz="900" b="0" dirty="0" smtClean="0"/>
              <a:t>∧ </a:t>
            </a:r>
            <a:r>
              <a:rPr lang="ko-KR" altLang="en-US" sz="900" b="0" dirty="0" err="1" smtClean="0"/>
              <a:t>도서번호</a:t>
            </a:r>
            <a:r>
              <a:rPr lang="ko-KR" altLang="en-US" sz="900" b="0" dirty="0" smtClean="0"/>
              <a:t> </a:t>
            </a:r>
            <a:r>
              <a:rPr lang="en-US" altLang="ko-KR" sz="900" b="0" dirty="0" smtClean="0"/>
              <a:t>&gt;=3)</a:t>
            </a:r>
            <a:r>
              <a:rPr lang="en-US" altLang="ko-KR" sz="1400" b="0" dirty="0" smtClean="0"/>
              <a:t> 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도서</a:t>
            </a:r>
            <a:r>
              <a:rPr lang="en-US" altLang="ko-KR" sz="1400" dirty="0" smtClean="0"/>
              <a:t>)</a:t>
            </a:r>
            <a:endParaRPr lang="ko-KR" altLang="en-US" sz="1400" dirty="0" smtClean="0"/>
          </a:p>
          <a:p>
            <a:endParaRPr lang="en-US" altLang="ko-KR" sz="1400" dirty="0" smtClean="0"/>
          </a:p>
          <a:p>
            <a:endParaRPr lang="ko-KR" altLang="en-US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9C501292-5F74-46EB-83A9-FEEFB4E5BEB4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3096344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 smtClean="0"/>
              <a:t>셀렉션</a:t>
            </a:r>
            <a:r>
              <a:rPr lang="en-US" altLang="ko-KR" dirty="0" smtClean="0"/>
              <a:t>(selection)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0520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C501292-5F74-46EB-83A9-FEEFB4E5BEB4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3096344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/>
              <a:t>프로젝션</a:t>
            </a:r>
            <a:r>
              <a:rPr lang="en-US" altLang="ko-KR" dirty="0"/>
              <a:t>(projection)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5A3768-DC22-4E90-BC0A-A9135C4AE68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sz="1400" dirty="0" err="1" smtClean="0"/>
              <a:t>릴레이션의</a:t>
            </a:r>
            <a:r>
              <a:rPr lang="ko-KR" altLang="en-US" sz="1400" dirty="0" smtClean="0"/>
              <a:t> 속성을 추출하기 위한 연산으로 </a:t>
            </a:r>
            <a:r>
              <a:rPr lang="ko-KR" altLang="en-US" sz="1400" dirty="0" err="1" smtClean="0"/>
              <a:t>단항</a:t>
            </a:r>
            <a:r>
              <a:rPr lang="ko-KR" altLang="en-US" sz="1400" dirty="0" smtClean="0"/>
              <a:t> 연산자임</a:t>
            </a:r>
            <a:r>
              <a:rPr lang="en-US" altLang="ko-KR" sz="1400" dirty="0" smtClean="0"/>
              <a:t>.</a:t>
            </a:r>
          </a:p>
          <a:p>
            <a:r>
              <a:rPr lang="ko-KR" altLang="en-US" sz="1400" dirty="0" smtClean="0"/>
              <a:t>형식 </a:t>
            </a:r>
            <a:r>
              <a:rPr lang="en-US" altLang="ko-KR" sz="1400" dirty="0" smtClean="0"/>
              <a:t>: </a:t>
            </a:r>
            <a:r>
              <a:rPr lang="el-GR" altLang="ko-KR" sz="1400" dirty="0" smtClean="0"/>
              <a:t>π</a:t>
            </a:r>
            <a:r>
              <a:rPr lang="el-GR" altLang="ko-KR" sz="900" dirty="0" smtClean="0"/>
              <a:t>&lt;</a:t>
            </a:r>
            <a:r>
              <a:rPr lang="ko-KR" altLang="en-US" sz="900" dirty="0" err="1" smtClean="0"/>
              <a:t>속성리스트</a:t>
            </a:r>
            <a:r>
              <a:rPr lang="en-US" altLang="ko-KR" sz="900" dirty="0" smtClean="0"/>
              <a:t>&gt; </a:t>
            </a:r>
            <a:r>
              <a:rPr lang="en-US" altLang="ko-KR" sz="1400" dirty="0" smtClean="0"/>
              <a:t>(R)  </a:t>
            </a:r>
            <a:r>
              <a:rPr lang="en-US" altLang="ko-KR" sz="1400" b="0" dirty="0" smtClean="0"/>
              <a:t>(R</a:t>
            </a:r>
            <a:r>
              <a:rPr lang="ko-KR" altLang="en-US" sz="1400" b="0" dirty="0" smtClean="0"/>
              <a:t>은 </a:t>
            </a:r>
            <a:r>
              <a:rPr lang="ko-KR" altLang="en-US" sz="1400" b="0" dirty="0" err="1" smtClean="0"/>
              <a:t>릴레이션</a:t>
            </a:r>
            <a:r>
              <a:rPr lang="en-US" altLang="ko-KR" sz="1400" b="0" dirty="0" smtClean="0"/>
              <a:t>, </a:t>
            </a:r>
            <a:r>
              <a:rPr lang="el-GR" altLang="ko-KR" sz="1400" b="0" dirty="0" smtClean="0"/>
              <a:t>π </a:t>
            </a:r>
            <a:r>
              <a:rPr lang="ko-KR" altLang="en-US" sz="1400" b="0" dirty="0" smtClean="0"/>
              <a:t>는 그리스</a:t>
            </a:r>
            <a:r>
              <a:rPr lang="en-US" altLang="ko-KR" sz="1400" b="0" dirty="0" smtClean="0"/>
              <a:t> </a:t>
            </a:r>
            <a:r>
              <a:rPr lang="ko-KR" altLang="en-US" sz="1400" b="0" dirty="0" smtClean="0"/>
              <a:t>문자이며 대문자는 </a:t>
            </a:r>
            <a:r>
              <a:rPr lang="el-GR" altLang="ko-KR" sz="1400" b="0" dirty="0" smtClean="0"/>
              <a:t>Π</a:t>
            </a:r>
            <a:r>
              <a:rPr lang="en-US" altLang="ko-KR" sz="1400" b="0" dirty="0" smtClean="0"/>
              <a:t> )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pPr lvl="2"/>
            <a:r>
              <a:rPr lang="en-US" altLang="ko-KR" b="1" dirty="0" smtClean="0"/>
              <a:t>π</a:t>
            </a:r>
            <a:r>
              <a:rPr lang="ko-KR" altLang="en-US" b="1" dirty="0" smtClean="0"/>
              <a:t>이름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주소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핸드폰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고객</a:t>
            </a:r>
            <a:r>
              <a:rPr lang="en-US" altLang="ko-KR" b="1" dirty="0" smtClean="0"/>
              <a:t>)</a:t>
            </a:r>
          </a:p>
          <a:p>
            <a:pPr lvl="2"/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7EAF5C-C54D-4ADE-BCD5-685572D8EF1F}"/>
              </a:ext>
            </a:extLst>
          </p:cNvPr>
          <p:cNvSpPr txBox="1"/>
          <p:nvPr/>
        </p:nvSpPr>
        <p:spPr>
          <a:xfrm>
            <a:off x="899592" y="1974995"/>
            <a:ext cx="7992888" cy="373885"/>
          </a:xfrm>
          <a:prstGeom prst="rect">
            <a:avLst/>
          </a:prstGeom>
          <a:solidFill>
            <a:srgbClr val="E6B4C0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질의 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2-2   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신간도서 안내를 위해 고객의 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이름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주소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핸드폰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이 적힌 카탈로그 주소록을 </a:t>
            </a: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만드시오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E8859E7-7D02-483F-A2C7-749E228EF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2558085"/>
            <a:ext cx="4630481" cy="406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1184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C501292-5F74-46EB-83A9-FEEFB4E5BEB4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1152128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합집합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5A3768-DC22-4E90-BC0A-A9135C4AE68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sz="1400" dirty="0" smtClean="0"/>
              <a:t>두 개의 </a:t>
            </a:r>
            <a:r>
              <a:rPr lang="ko-KR" altLang="en-US" sz="1400" dirty="0" err="1" smtClean="0"/>
              <a:t>릴레이션을</a:t>
            </a:r>
            <a:r>
              <a:rPr lang="ko-KR" altLang="en-US" sz="1400" dirty="0" smtClean="0"/>
              <a:t> 합하여 하나의 </a:t>
            </a:r>
            <a:r>
              <a:rPr lang="ko-KR" altLang="en-US" sz="1400" dirty="0" err="1" smtClean="0"/>
              <a:t>릴레이션을</a:t>
            </a:r>
            <a:r>
              <a:rPr lang="ko-KR" altLang="en-US" sz="1400" dirty="0" smtClean="0"/>
              <a:t> 반환함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이 때 두 개의 </a:t>
            </a:r>
            <a:r>
              <a:rPr lang="ko-KR" altLang="en-US" sz="1400" dirty="0" err="1" smtClean="0"/>
              <a:t>릴레이션은</a:t>
            </a:r>
            <a:r>
              <a:rPr lang="ko-KR" altLang="en-US" sz="1400" dirty="0" smtClean="0"/>
              <a:t> 서로 같은 속성 순서와 도메인을 가져야 함</a:t>
            </a:r>
            <a:r>
              <a:rPr lang="en-US" altLang="ko-KR" sz="1400" dirty="0" smtClean="0"/>
              <a:t>.</a:t>
            </a:r>
          </a:p>
          <a:p>
            <a:r>
              <a:rPr lang="ko-KR" altLang="en-US" sz="1400" dirty="0" smtClean="0"/>
              <a:t>형식 </a:t>
            </a:r>
            <a:r>
              <a:rPr lang="en-US" altLang="ko-KR" sz="1400" dirty="0" smtClean="0"/>
              <a:t>: R ∪ S 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pPr lvl="2"/>
            <a:endParaRPr lang="en-US" altLang="ko-KR" dirty="0" smtClean="0"/>
          </a:p>
          <a:p>
            <a:pPr lvl="2"/>
            <a:r>
              <a:rPr lang="ko-KR" altLang="en-US" dirty="0" smtClean="0"/>
              <a:t>도서</a:t>
            </a:r>
            <a:r>
              <a:rPr lang="en-US" altLang="ko-KR" dirty="0" smtClean="0"/>
              <a:t>A ∪ </a:t>
            </a:r>
            <a:r>
              <a:rPr lang="ko-KR" altLang="en-US" dirty="0" smtClean="0"/>
              <a:t>도서</a:t>
            </a:r>
            <a:r>
              <a:rPr lang="en-US" altLang="ko-KR" dirty="0" smtClean="0"/>
              <a:t>B</a:t>
            </a:r>
            <a:endParaRPr lang="ko-KR" altLang="en-US" dirty="0" smtClean="0"/>
          </a:p>
          <a:p>
            <a:pPr lvl="2"/>
            <a:endParaRPr lang="en-US" altLang="ko-KR" dirty="0" smtClean="0"/>
          </a:p>
          <a:p>
            <a:endParaRPr lang="en-US" altLang="ko-KR" dirty="0" smtClean="0"/>
          </a:p>
          <a:p>
            <a:pPr lvl="2"/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7EAF5C-C54D-4ADE-BCD5-685572D8EF1F}"/>
              </a:ext>
            </a:extLst>
          </p:cNvPr>
          <p:cNvSpPr txBox="1"/>
          <p:nvPr/>
        </p:nvSpPr>
        <p:spPr>
          <a:xfrm>
            <a:off x="1043608" y="2213105"/>
            <a:ext cx="7920880" cy="697050"/>
          </a:xfrm>
          <a:prstGeom prst="rect">
            <a:avLst/>
          </a:prstGeom>
          <a:solidFill>
            <a:srgbClr val="E6B4C0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질의 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2-3   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마당서점은 지점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A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와 지점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B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가 있다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. 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두 지점의 도서는 각 지점에서 관리하며 릴레이션   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/>
            </a:r>
            <a:br>
              <a:rPr lang="en-US" altLang="ko-KR" sz="1400" b="1" dirty="0">
                <a:solidFill>
                  <a:schemeClr val="bg1"/>
                </a:solidFill>
                <a:latin typeface="+mn-ea"/>
              </a:rPr>
            </a:b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              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이름은 각각 도서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A, 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도서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B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다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. 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마당서점의 도서를 하나의 릴레이션으로 </a:t>
            </a: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보이시오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39C6A60-F2FE-4AEE-A631-DACAACE254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82"/>
          <a:stretch/>
        </p:blipFill>
        <p:spPr>
          <a:xfrm>
            <a:off x="4818057" y="4005064"/>
            <a:ext cx="3913456" cy="1842930"/>
          </a:xfrm>
          <a:prstGeom prst="rect">
            <a:avLst/>
          </a:prstGeom>
        </p:spPr>
      </p:pic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B0CB1646-937C-4870-83A9-8AF8BD1B3016}"/>
              </a:ext>
            </a:extLst>
          </p:cNvPr>
          <p:cNvSpPr/>
          <p:nvPr/>
        </p:nvSpPr>
        <p:spPr>
          <a:xfrm rot="16200000">
            <a:off x="4402735" y="4741724"/>
            <a:ext cx="338531" cy="369386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39C6A60-F2FE-4AEE-A631-DACAACE254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592"/>
          <a:stretch/>
        </p:blipFill>
        <p:spPr>
          <a:xfrm>
            <a:off x="412488" y="3429000"/>
            <a:ext cx="3913456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7921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C501292-5F74-46EB-83A9-FEEFB4E5BEB4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1152128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교집합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5A3768-DC22-4E90-BC0A-A9135C4AE68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sz="1400" dirty="0" err="1" smtClean="0"/>
              <a:t>합병가능한</a:t>
            </a:r>
            <a:r>
              <a:rPr lang="ko-KR" altLang="en-US" sz="1400" dirty="0" smtClean="0"/>
              <a:t> 두 </a:t>
            </a:r>
            <a:r>
              <a:rPr lang="ko-KR" altLang="en-US" sz="1400" dirty="0" err="1" smtClean="0"/>
              <a:t>릴레이션을</a:t>
            </a:r>
            <a:r>
              <a:rPr lang="ko-KR" altLang="en-US" sz="1400" dirty="0" smtClean="0"/>
              <a:t> 대상으로 하며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두 </a:t>
            </a:r>
            <a:r>
              <a:rPr lang="ko-KR" altLang="en-US" sz="1400" dirty="0" err="1" smtClean="0"/>
              <a:t>릴레이션이</a:t>
            </a:r>
            <a:r>
              <a:rPr lang="ko-KR" altLang="en-US" sz="1400" dirty="0" smtClean="0"/>
              <a:t> 공통으로 가지고 있는 </a:t>
            </a:r>
            <a:r>
              <a:rPr lang="ko-KR" altLang="en-US" sz="1400" dirty="0" err="1" smtClean="0"/>
              <a:t>투플을</a:t>
            </a:r>
            <a:r>
              <a:rPr lang="ko-KR" altLang="en-US" sz="1400" dirty="0" smtClean="0"/>
              <a:t> 반환함</a:t>
            </a:r>
            <a:r>
              <a:rPr lang="en-US" altLang="ko-KR" sz="1400" dirty="0" smtClean="0"/>
              <a:t>.</a:t>
            </a:r>
          </a:p>
          <a:p>
            <a:r>
              <a:rPr lang="ko-KR" altLang="en-US" sz="1400" dirty="0" smtClean="0"/>
              <a:t>형식 </a:t>
            </a:r>
            <a:r>
              <a:rPr lang="en-US" altLang="ko-KR" sz="1400" dirty="0" smtClean="0"/>
              <a:t>: R ∩ S</a:t>
            </a:r>
          </a:p>
          <a:p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r>
              <a:rPr lang="ko-KR" altLang="en-US" dirty="0" smtClean="0"/>
              <a:t>도서</a:t>
            </a:r>
            <a:r>
              <a:rPr lang="en-US" altLang="ko-KR" dirty="0" smtClean="0"/>
              <a:t>A ∩ </a:t>
            </a:r>
            <a:r>
              <a:rPr lang="ko-KR" altLang="en-US" dirty="0" smtClean="0"/>
              <a:t>도서</a:t>
            </a:r>
            <a:r>
              <a:rPr lang="en-US" altLang="ko-KR" dirty="0" smtClean="0"/>
              <a:t>B</a:t>
            </a:r>
            <a:endParaRPr lang="ko-KR" altLang="en-US" dirty="0" smtClean="0"/>
          </a:p>
          <a:p>
            <a:pPr lvl="1"/>
            <a:endParaRPr lang="ko-KR" altLang="en-US" dirty="0" smtClean="0"/>
          </a:p>
          <a:p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084FAB-4F2A-44C5-BF1D-911942894900}"/>
              </a:ext>
            </a:extLst>
          </p:cNvPr>
          <p:cNvSpPr txBox="1"/>
          <p:nvPr/>
        </p:nvSpPr>
        <p:spPr>
          <a:xfrm>
            <a:off x="934456" y="1988840"/>
            <a:ext cx="6771032" cy="373885"/>
          </a:xfrm>
          <a:prstGeom prst="rect">
            <a:avLst/>
          </a:prstGeom>
          <a:solidFill>
            <a:srgbClr val="E6B4C0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질의 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2-4   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마당서점의 두 지점에서 동일하게 보유하고 있는 도서 목록을 </a:t>
            </a: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보이시오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6F7FAAF-C61E-4FBD-8644-1ECD7CB193B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266"/>
          <a:stretch/>
        </p:blipFill>
        <p:spPr>
          <a:xfrm>
            <a:off x="4833393" y="4653136"/>
            <a:ext cx="3934039" cy="911043"/>
          </a:xfrm>
          <a:prstGeom prst="rect">
            <a:avLst/>
          </a:prstGeom>
        </p:spPr>
      </p:pic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B2E4B9EB-E56A-4897-BFCC-5927903B13E6}"/>
              </a:ext>
            </a:extLst>
          </p:cNvPr>
          <p:cNvSpPr/>
          <p:nvPr/>
        </p:nvSpPr>
        <p:spPr>
          <a:xfrm rot="16200000">
            <a:off x="4411690" y="4781724"/>
            <a:ext cx="338531" cy="369386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6F7FAAF-C61E-4FBD-8644-1ECD7CB193B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029"/>
          <a:stretch/>
        </p:blipFill>
        <p:spPr>
          <a:xfrm>
            <a:off x="379746" y="3429151"/>
            <a:ext cx="3951589" cy="27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9350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C501292-5F74-46EB-83A9-FEEFB4E5BEB4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1152128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/>
              <a:t>차집합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5A3768-DC22-4E90-BC0A-A9135C4AE68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sz="1400" dirty="0" smtClean="0"/>
              <a:t>첫 번째 릴레이션에는 속하고 두 번째 릴레이션에는 속하지 않는 </a:t>
            </a:r>
            <a:r>
              <a:rPr lang="ko-KR" altLang="en-US" sz="1400" dirty="0" err="1" smtClean="0"/>
              <a:t>투플을</a:t>
            </a:r>
            <a:r>
              <a:rPr lang="ko-KR" altLang="en-US" sz="1400" dirty="0" smtClean="0"/>
              <a:t> 반환함</a:t>
            </a:r>
            <a:r>
              <a:rPr lang="en-US" altLang="ko-KR" sz="1400" dirty="0" smtClean="0"/>
              <a:t>.</a:t>
            </a:r>
          </a:p>
          <a:p>
            <a:r>
              <a:rPr lang="ko-KR" altLang="en-US" sz="1400" dirty="0" smtClean="0"/>
              <a:t>형식 </a:t>
            </a:r>
            <a:r>
              <a:rPr lang="en-US" altLang="ko-KR" sz="1400" dirty="0" smtClean="0"/>
              <a:t>: R - S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pPr lvl="1"/>
            <a:r>
              <a:rPr lang="ko-KR" altLang="en-US" dirty="0" smtClean="0"/>
              <a:t>도서</a:t>
            </a:r>
            <a:r>
              <a:rPr lang="en-US" altLang="ko-KR" dirty="0" smtClean="0"/>
              <a:t>A - </a:t>
            </a:r>
            <a:r>
              <a:rPr lang="ko-KR" altLang="en-US" dirty="0" smtClean="0"/>
              <a:t>도서</a:t>
            </a:r>
            <a:r>
              <a:rPr lang="en-US" altLang="ko-KR" dirty="0" smtClean="0"/>
              <a:t>B</a:t>
            </a:r>
            <a:endParaRPr lang="ko-KR" altLang="en-US" dirty="0" smtClean="0"/>
          </a:p>
          <a:p>
            <a:pPr lvl="1"/>
            <a:endParaRPr lang="ko-KR" altLang="en-US" dirty="0" smtClean="0"/>
          </a:p>
          <a:p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084FAB-4F2A-44C5-BF1D-911942894900}"/>
              </a:ext>
            </a:extLst>
          </p:cNvPr>
          <p:cNvSpPr txBox="1"/>
          <p:nvPr/>
        </p:nvSpPr>
        <p:spPr>
          <a:xfrm>
            <a:off x="899774" y="1984100"/>
            <a:ext cx="6840578" cy="373885"/>
          </a:xfrm>
          <a:prstGeom prst="rect">
            <a:avLst/>
          </a:prstGeom>
          <a:solidFill>
            <a:srgbClr val="E6B4C0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질의 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2-5   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마당서점 두 지점 중 지점 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A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에서만 보유하고 있는 도서 목록을 </a:t>
            </a: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보이시오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B2E4B9EB-E56A-4897-BFCC-5927903B13E6}"/>
              </a:ext>
            </a:extLst>
          </p:cNvPr>
          <p:cNvSpPr/>
          <p:nvPr/>
        </p:nvSpPr>
        <p:spPr>
          <a:xfrm rot="16200000">
            <a:off x="4411690" y="4781724"/>
            <a:ext cx="338531" cy="369386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106"/>
          <a:stretch/>
        </p:blipFill>
        <p:spPr>
          <a:xfrm>
            <a:off x="367263" y="3469901"/>
            <a:ext cx="3952800" cy="2809489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943"/>
          <a:stretch/>
        </p:blipFill>
        <p:spPr>
          <a:xfrm>
            <a:off x="5052241" y="4391724"/>
            <a:ext cx="3938400" cy="1149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9146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C501292-5F74-46EB-83A9-FEEFB4E5BEB4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5184576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 smtClean="0"/>
              <a:t>카티션</a:t>
            </a:r>
            <a:r>
              <a:rPr lang="ko-KR" altLang="en-US" dirty="0" smtClean="0"/>
              <a:t> </a:t>
            </a:r>
            <a:r>
              <a:rPr lang="ko-KR" altLang="en-US" dirty="0"/>
              <a:t>프로덕트</a:t>
            </a:r>
            <a:r>
              <a:rPr lang="en-US" altLang="ko-KR" dirty="0"/>
              <a:t>(cartesian product)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5A3768-DC22-4E90-BC0A-A9135C4AE68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sz="1400" dirty="0" smtClean="0"/>
              <a:t>두 </a:t>
            </a:r>
            <a:r>
              <a:rPr lang="ko-KR" altLang="en-US" sz="1400" dirty="0" err="1" smtClean="0"/>
              <a:t>릴레이션을</a:t>
            </a:r>
            <a:r>
              <a:rPr lang="ko-KR" altLang="en-US" sz="1400" dirty="0" smtClean="0"/>
              <a:t> 연결시켜 하나로 합칠 때 사용함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결과 </a:t>
            </a:r>
            <a:r>
              <a:rPr lang="ko-KR" altLang="en-US" sz="1400" dirty="0" err="1" smtClean="0"/>
              <a:t>릴레이션은</a:t>
            </a:r>
            <a:r>
              <a:rPr lang="ko-KR" altLang="en-US" sz="1400" dirty="0" smtClean="0"/>
              <a:t> 첫 번째 </a:t>
            </a:r>
            <a:r>
              <a:rPr lang="ko-KR" altLang="en-US" sz="1400" dirty="0" err="1" smtClean="0"/>
              <a:t>릴레이션의</a:t>
            </a:r>
            <a:r>
              <a:rPr lang="ko-KR" altLang="en-US" sz="1400" dirty="0" smtClean="0"/>
              <a:t> 오른쪽에 두 번째 </a:t>
            </a:r>
            <a:r>
              <a:rPr lang="ko-KR" altLang="en-US" sz="1400" dirty="0" err="1" smtClean="0"/>
              <a:t>릴레이션의</a:t>
            </a:r>
            <a:r>
              <a:rPr lang="ko-KR" altLang="en-US" sz="1400" dirty="0" smtClean="0"/>
              <a:t> 모든 </a:t>
            </a:r>
            <a:r>
              <a:rPr lang="ko-KR" altLang="en-US" sz="1400" dirty="0" err="1" smtClean="0"/>
              <a:t>투플을</a:t>
            </a:r>
            <a:r>
              <a:rPr lang="ko-KR" altLang="en-US" sz="1400" dirty="0" smtClean="0"/>
              <a:t> 순서대로 배열하여 반환함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결과 </a:t>
            </a:r>
            <a:r>
              <a:rPr lang="ko-KR" altLang="en-US" sz="1400" dirty="0" err="1" smtClean="0"/>
              <a:t>릴레이션의</a:t>
            </a:r>
            <a:r>
              <a:rPr lang="ko-KR" altLang="en-US" sz="1400" dirty="0" smtClean="0"/>
              <a:t> 차수는 두 </a:t>
            </a:r>
            <a:r>
              <a:rPr lang="ko-KR" altLang="en-US" sz="1400" dirty="0" err="1" smtClean="0"/>
              <a:t>릴레이션의</a:t>
            </a:r>
            <a:r>
              <a:rPr lang="ko-KR" altLang="en-US" sz="1400" dirty="0" smtClean="0"/>
              <a:t> 차수의 합이며</a:t>
            </a:r>
            <a:r>
              <a:rPr lang="en-US" altLang="ko-KR" sz="1400" dirty="0" smtClean="0"/>
              <a:t>, </a:t>
            </a:r>
            <a:r>
              <a:rPr lang="ko-KR" altLang="en-US" sz="1400" dirty="0" err="1" smtClean="0"/>
              <a:t>카디날리티는</a:t>
            </a:r>
            <a:r>
              <a:rPr lang="ko-KR" altLang="en-US" sz="1400" dirty="0" smtClean="0"/>
              <a:t> 두 </a:t>
            </a:r>
            <a:r>
              <a:rPr lang="ko-KR" altLang="en-US" sz="1400" dirty="0" err="1" smtClean="0"/>
              <a:t>릴레이션의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카디날리티의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곱임</a:t>
            </a:r>
            <a:r>
              <a:rPr lang="en-US" altLang="ko-KR" sz="1400" dirty="0" smtClean="0"/>
              <a:t>.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sz="1400" dirty="0" smtClean="0"/>
              <a:t>형식 </a:t>
            </a:r>
            <a:r>
              <a:rPr lang="en-US" altLang="ko-KR" sz="1400" dirty="0" smtClean="0"/>
              <a:t>: R × S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 lvl="1"/>
            <a:r>
              <a:rPr lang="ko-KR" altLang="en-US" dirty="0" smtClean="0"/>
              <a:t>고객 </a:t>
            </a:r>
            <a:r>
              <a:rPr lang="en-US" altLang="ko-KR" dirty="0" smtClean="0"/>
              <a:t>× </a:t>
            </a:r>
            <a:r>
              <a:rPr lang="ko-KR" altLang="en-US" dirty="0" smtClean="0"/>
              <a:t>주문</a:t>
            </a:r>
          </a:p>
          <a:p>
            <a:pPr lvl="1"/>
            <a:endParaRPr lang="ko-KR" altLang="en-US" dirty="0" smtClean="0"/>
          </a:p>
          <a:p>
            <a:pPr lvl="1"/>
            <a:endParaRPr lang="ko-KR" altLang="en-US" dirty="0" smtClean="0"/>
          </a:p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EF56EB-EB22-452E-A3C7-58D3B69491E6}"/>
              </a:ext>
            </a:extLst>
          </p:cNvPr>
          <p:cNvSpPr txBox="1"/>
          <p:nvPr/>
        </p:nvSpPr>
        <p:spPr>
          <a:xfrm>
            <a:off x="899592" y="3284984"/>
            <a:ext cx="6192688" cy="738664"/>
          </a:xfrm>
          <a:prstGeom prst="rect">
            <a:avLst/>
          </a:prstGeom>
          <a:solidFill>
            <a:srgbClr val="E6B4C0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질의 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2-6   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고객 릴레이션과 주문 </a:t>
            </a: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릴레이션의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400" b="1" dirty="0" err="1" smtClean="0">
                <a:solidFill>
                  <a:schemeClr val="bg1"/>
                </a:solidFill>
                <a:latin typeface="+mn-ea"/>
              </a:rPr>
              <a:t>카티션</a:t>
            </a:r>
            <a:r>
              <a:rPr lang="ko-KR" altLang="en-US" sz="1400" b="1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프로덕트를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 구하시오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              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결과가 많으므로 </a:t>
            </a: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투플을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 일부 삭제한 릴레이션을 사용함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6631204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C501292-5F74-46EB-83A9-FEEFB4E5BEB4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5184576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/>
              <a:t>카티전</a:t>
            </a:r>
            <a:r>
              <a:rPr lang="ko-KR" altLang="en-US" dirty="0"/>
              <a:t> 프로덕트</a:t>
            </a:r>
            <a:r>
              <a:rPr lang="en-US" altLang="ko-KR" dirty="0"/>
              <a:t>(cartesian product)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5A3768-DC22-4E90-BC0A-A9135C4AE68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1"/>
            <a:endParaRPr lang="ko-KR" altLang="en-US" smtClean="0"/>
          </a:p>
          <a:p>
            <a:pPr lvl="1"/>
            <a:endParaRPr lang="ko-KR" altLang="en-US" smtClean="0"/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5DB726-FC64-46D9-AEA8-C274355D5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627" y="1021256"/>
            <a:ext cx="7084746" cy="5658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525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C501292-5F74-46EB-83A9-FEEFB4E5BEB4}"/>
              </a:ext>
            </a:extLst>
          </p:cNvPr>
          <p:cNvSpPr txBox="1">
            <a:spLocks/>
          </p:cNvSpPr>
          <p:nvPr/>
        </p:nvSpPr>
        <p:spPr>
          <a:xfrm>
            <a:off x="531081" y="188640"/>
            <a:ext cx="1584176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조인</a:t>
            </a:r>
            <a:r>
              <a:rPr lang="en-US" altLang="ko-KR" dirty="0"/>
              <a:t>(join)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5A3768-DC22-4E90-BC0A-A9135C4AE68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 smtClean="0"/>
              <a:t>두 </a:t>
            </a:r>
            <a:r>
              <a:rPr lang="ko-KR" altLang="en-US" dirty="0" err="1" smtClean="0"/>
              <a:t>릴레이션의</a:t>
            </a:r>
            <a:r>
              <a:rPr lang="ko-KR" altLang="en-US" dirty="0" smtClean="0"/>
              <a:t> 공통 속성을 기준으로 속성 값이 같은 </a:t>
            </a:r>
            <a:r>
              <a:rPr lang="ko-KR" altLang="en-US" dirty="0" err="1" smtClean="0"/>
              <a:t>투플을</a:t>
            </a:r>
            <a:r>
              <a:rPr lang="ko-KR" altLang="en-US" dirty="0" smtClean="0"/>
              <a:t> 수평으로 결합하는 </a:t>
            </a:r>
            <a:r>
              <a:rPr lang="ko-KR" altLang="en-US" dirty="0" err="1" smtClean="0"/>
              <a:t>연산임</a:t>
            </a:r>
            <a:r>
              <a:rPr lang="en-US" altLang="ko-KR" dirty="0" smtClean="0"/>
              <a:t>. </a:t>
            </a:r>
            <a:r>
              <a:rPr lang="ko-KR" altLang="en-US" dirty="0" smtClean="0"/>
              <a:t>조인을 수행하기 위해서는 두 </a:t>
            </a:r>
            <a:r>
              <a:rPr lang="ko-KR" altLang="en-US" dirty="0" err="1" smtClean="0"/>
              <a:t>릴레이션의</a:t>
            </a:r>
            <a:r>
              <a:rPr lang="ko-KR" altLang="en-US" dirty="0" smtClean="0"/>
              <a:t> 조인에 참여하는 속성이 서로 동일한 도메인으로 구성되어야 함</a:t>
            </a:r>
            <a:r>
              <a:rPr lang="en-US" altLang="ko-KR" dirty="0" smtClean="0"/>
              <a:t>. </a:t>
            </a:r>
            <a:r>
              <a:rPr lang="ko-KR" altLang="en-US" dirty="0" smtClean="0"/>
              <a:t>조인 연산의 결과는 공통 속성의 속성 값이 동일한 </a:t>
            </a:r>
            <a:r>
              <a:rPr lang="ko-KR" altLang="en-US" dirty="0" err="1" smtClean="0"/>
              <a:t>투플만을</a:t>
            </a:r>
            <a:r>
              <a:rPr lang="ko-KR" altLang="en-US" dirty="0" smtClean="0"/>
              <a:t> 반환함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형식 </a:t>
            </a:r>
            <a:r>
              <a:rPr lang="en-US" altLang="ko-KR" dirty="0" smtClean="0"/>
              <a:t>: </a:t>
            </a:r>
            <a:r>
              <a:rPr lang="pt-BR" altLang="ko-KR" dirty="0" smtClean="0"/>
              <a:t>R    </a:t>
            </a:r>
            <a:r>
              <a:rPr lang="pt-BR" altLang="ko-KR" sz="900" b="0" dirty="0" smtClean="0"/>
              <a:t>C</a:t>
            </a:r>
            <a:r>
              <a:rPr lang="pt-BR" altLang="ko-KR" dirty="0" smtClean="0"/>
              <a:t>  </a:t>
            </a:r>
            <a:r>
              <a:rPr lang="pt-BR" altLang="ko-KR" dirty="0" smtClean="0"/>
              <a:t>S = </a:t>
            </a:r>
            <a:r>
              <a:rPr lang="el-GR" altLang="ko-KR" dirty="0"/>
              <a:t>σ</a:t>
            </a:r>
            <a:r>
              <a:rPr lang="pt-BR" altLang="ko-KR" baseline="-25000" dirty="0"/>
              <a:t>c</a:t>
            </a:r>
            <a:r>
              <a:rPr lang="pt-BR" altLang="ko-KR" dirty="0"/>
              <a:t> </a:t>
            </a:r>
            <a:r>
              <a:rPr lang="pt-BR" altLang="ko-KR" dirty="0" smtClean="0"/>
              <a:t> </a:t>
            </a:r>
            <a:r>
              <a:rPr lang="pt-BR" altLang="ko-KR" dirty="0" smtClean="0"/>
              <a:t>(R×S)   </a:t>
            </a:r>
            <a:r>
              <a:rPr lang="pt-BR" altLang="ko-KR" b="0" dirty="0" smtClean="0"/>
              <a:t>(R</a:t>
            </a:r>
            <a:r>
              <a:rPr lang="ko-KR" altLang="en-US" b="0" dirty="0" smtClean="0"/>
              <a:t>과 </a:t>
            </a:r>
            <a:r>
              <a:rPr lang="en-US" altLang="ko-KR" b="0" dirty="0" smtClean="0"/>
              <a:t>S</a:t>
            </a:r>
            <a:r>
              <a:rPr lang="ko-KR" altLang="en-US" b="0" dirty="0" smtClean="0"/>
              <a:t>는 </a:t>
            </a:r>
            <a:r>
              <a:rPr lang="ko-KR" altLang="en-US" b="0" dirty="0" err="1" smtClean="0"/>
              <a:t>릴레이션</a:t>
            </a:r>
            <a:r>
              <a:rPr lang="en-US" altLang="ko-KR" b="0" dirty="0" smtClean="0"/>
              <a:t>, c </a:t>
            </a:r>
            <a:r>
              <a:rPr lang="ko-KR" altLang="en-US" b="0" dirty="0" smtClean="0"/>
              <a:t>는 </a:t>
            </a:r>
            <a:r>
              <a:rPr lang="ko-KR" altLang="en-US" b="0" dirty="0" err="1" smtClean="0"/>
              <a:t>조인조건</a:t>
            </a:r>
            <a:r>
              <a:rPr lang="en-US" altLang="ko-KR" b="0" dirty="0" smtClean="0"/>
              <a:t>)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조인 연산의 구분</a:t>
            </a:r>
            <a:endParaRPr lang="en-US" altLang="ko-KR" dirty="0" smtClean="0"/>
          </a:p>
          <a:p>
            <a:pPr lvl="1"/>
            <a:r>
              <a:rPr lang="ko-KR" altLang="en-US" sz="1600" b="1" dirty="0" err="1" smtClean="0"/>
              <a:t>기본연산</a:t>
            </a:r>
            <a:r>
              <a:rPr lang="ko-KR" altLang="en-US" sz="1600" b="1" dirty="0" smtClean="0"/>
              <a:t> </a:t>
            </a:r>
            <a:r>
              <a:rPr lang="en-US" altLang="ko-KR" sz="1600" b="1" dirty="0" smtClean="0"/>
              <a:t>: </a:t>
            </a:r>
            <a:r>
              <a:rPr lang="ko-KR" altLang="en-US" sz="1600" b="1" dirty="0" err="1" smtClean="0"/>
              <a:t>세타조인</a:t>
            </a:r>
            <a:r>
              <a:rPr lang="en-US" altLang="ko-KR" sz="1600" b="1" dirty="0" smtClean="0"/>
              <a:t>(      ), </a:t>
            </a:r>
            <a:r>
              <a:rPr lang="ko-KR" altLang="en-US" sz="1600" b="1" dirty="0" err="1" smtClean="0"/>
              <a:t>동등조인</a:t>
            </a:r>
            <a:r>
              <a:rPr lang="en-US" altLang="ko-KR" sz="1600" b="1" dirty="0" smtClean="0"/>
              <a:t>(     ), </a:t>
            </a:r>
            <a:r>
              <a:rPr lang="ko-KR" altLang="en-US" sz="1600" b="1" dirty="0" err="1" smtClean="0"/>
              <a:t>자연조인</a:t>
            </a:r>
            <a:r>
              <a:rPr lang="en-US" altLang="ko-KR" sz="1600" b="1" dirty="0" smtClean="0"/>
              <a:t>(      )</a:t>
            </a:r>
          </a:p>
          <a:p>
            <a:pPr lvl="1"/>
            <a:endParaRPr lang="en-US" altLang="ko-KR" sz="1600" b="1" dirty="0" smtClean="0"/>
          </a:p>
          <a:p>
            <a:pPr lvl="1"/>
            <a:r>
              <a:rPr lang="ko-KR" altLang="en-US" sz="1600" b="1" dirty="0" smtClean="0"/>
              <a:t>확장된 조인 연산 </a:t>
            </a:r>
            <a:r>
              <a:rPr lang="en-US" altLang="ko-KR" sz="1600" b="1" dirty="0" smtClean="0"/>
              <a:t>: </a:t>
            </a:r>
            <a:r>
              <a:rPr lang="ko-KR" altLang="en-US" sz="1600" b="1" dirty="0" err="1" smtClean="0"/>
              <a:t>세미조인</a:t>
            </a:r>
            <a:r>
              <a:rPr lang="en-US" altLang="ko-KR" sz="1600" b="1" dirty="0" smtClean="0"/>
              <a:t>(          ), </a:t>
            </a:r>
            <a:r>
              <a:rPr lang="ko-KR" altLang="en-US" sz="1600" b="1" dirty="0" err="1" smtClean="0"/>
              <a:t>외부조인</a:t>
            </a:r>
            <a:r>
              <a:rPr lang="en-US" altLang="ko-KR" sz="1600" b="1" dirty="0" smtClean="0"/>
              <a:t>(                 )  </a:t>
            </a:r>
          </a:p>
          <a:p>
            <a:endParaRPr lang="ko-KR" altLang="en-US" dirty="0"/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7D12D682-A39F-4A5E-BFE0-97A7CA5C8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39247" y="2781040"/>
            <a:ext cx="219155" cy="144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8">
            <a:extLst>
              <a:ext uri="{FF2B5EF4-FFF2-40B4-BE49-F238E27FC236}">
                <a16:creationId xmlns:a16="http://schemas.microsoft.com/office/drawing/2014/main" id="{D4BC0AF6-4EA3-4955-9832-6BE6EB93F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80899" y="3802854"/>
            <a:ext cx="320998" cy="191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9">
            <a:extLst>
              <a:ext uri="{FF2B5EF4-FFF2-40B4-BE49-F238E27FC236}">
                <a16:creationId xmlns:a16="http://schemas.microsoft.com/office/drawing/2014/main" id="{78F67B8E-E7F1-435A-A3A2-C81C78B09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62513" y="3832417"/>
            <a:ext cx="360040" cy="193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10">
            <a:extLst>
              <a:ext uri="{FF2B5EF4-FFF2-40B4-BE49-F238E27FC236}">
                <a16:creationId xmlns:a16="http://schemas.microsoft.com/office/drawing/2014/main" id="{C686FACA-A82B-47D8-B05C-AA601EDA7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12194" y="4408510"/>
            <a:ext cx="655499" cy="22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11">
            <a:extLst>
              <a:ext uri="{FF2B5EF4-FFF2-40B4-BE49-F238E27FC236}">
                <a16:creationId xmlns:a16="http://schemas.microsoft.com/office/drawing/2014/main" id="{E06177DB-61F2-4835-AD58-2C9433C1B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593927" y="4427561"/>
            <a:ext cx="1080120" cy="18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7">
            <a:extLst>
              <a:ext uri="{FF2B5EF4-FFF2-40B4-BE49-F238E27FC236}">
                <a16:creationId xmlns:a16="http://schemas.microsoft.com/office/drawing/2014/main" id="{D85F90EE-615A-4104-BE53-D80A09EE0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13419" y="3794308"/>
            <a:ext cx="350976" cy="214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729171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C501292-5F74-46EB-83A9-FEEFB4E5BEB4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3168352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/>
              <a:t>세타조인과</a:t>
            </a:r>
            <a:r>
              <a:rPr lang="ko-KR" altLang="en-US" dirty="0"/>
              <a:t> 동등조인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5A3768-DC22-4E90-BC0A-A9135C4AE68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 err="1" smtClean="0"/>
              <a:t>세타조인</a:t>
            </a:r>
            <a:r>
              <a:rPr lang="en-US" altLang="ko-KR" dirty="0" smtClean="0"/>
              <a:t>(theta join, θ)</a:t>
            </a:r>
          </a:p>
          <a:p>
            <a:pPr lvl="1"/>
            <a:r>
              <a:rPr lang="ko-KR" altLang="en-US" dirty="0" smtClean="0"/>
              <a:t>조인에 참여하는 두 </a:t>
            </a:r>
            <a:r>
              <a:rPr lang="ko-KR" altLang="en-US" dirty="0" err="1" smtClean="0"/>
              <a:t>릴레이션의</a:t>
            </a:r>
            <a:r>
              <a:rPr lang="ko-KR" altLang="en-US" dirty="0" smtClean="0"/>
              <a:t> 속성 값을 비교하여 조건을 만족하는 </a:t>
            </a:r>
            <a:r>
              <a:rPr lang="ko-KR" altLang="en-US" dirty="0" err="1" smtClean="0"/>
              <a:t>투플만</a:t>
            </a:r>
            <a:r>
              <a:rPr lang="ko-KR" altLang="en-US" dirty="0" smtClean="0"/>
              <a:t> 반환함</a:t>
            </a:r>
            <a:r>
              <a:rPr lang="en-US" altLang="ko-KR" dirty="0" smtClean="0"/>
              <a:t>. </a:t>
            </a:r>
          </a:p>
          <a:p>
            <a:pPr lvl="1"/>
            <a:r>
              <a:rPr lang="ko-KR" altLang="en-US" dirty="0" err="1" smtClean="0"/>
              <a:t>세타조인의</a:t>
            </a:r>
            <a:r>
              <a:rPr lang="ko-KR" altLang="en-US" dirty="0" smtClean="0"/>
              <a:t> 조건은 </a:t>
            </a:r>
            <a:r>
              <a:rPr lang="en-US" altLang="ko-KR" dirty="0" smtClean="0"/>
              <a:t>{=, ≠, ≤, ≥, </a:t>
            </a:r>
            <a:r>
              <a:rPr lang="ko-KR" altLang="en-US" dirty="0" smtClean="0"/>
              <a:t>＜</a:t>
            </a:r>
            <a:r>
              <a:rPr lang="en-US" altLang="ko-KR" dirty="0" smtClean="0"/>
              <a:t>, </a:t>
            </a:r>
            <a:r>
              <a:rPr lang="ko-KR" altLang="en-US" dirty="0" smtClean="0"/>
              <a:t>＞</a:t>
            </a:r>
            <a:r>
              <a:rPr lang="en-US" altLang="ko-KR" dirty="0" smtClean="0"/>
              <a:t>} </a:t>
            </a:r>
            <a:r>
              <a:rPr lang="ko-KR" altLang="en-US" dirty="0" smtClean="0"/>
              <a:t>중 하나가 됨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형식 </a:t>
            </a:r>
            <a:r>
              <a:rPr lang="en-US" altLang="ko-KR" dirty="0" smtClean="0"/>
              <a:t>: R      </a:t>
            </a:r>
            <a:r>
              <a:rPr lang="en-US" altLang="ko-KR" sz="900" dirty="0" smtClean="0"/>
              <a:t>(r </a:t>
            </a:r>
            <a:r>
              <a:rPr lang="ko-KR" altLang="en-US" sz="900" dirty="0" smtClean="0"/>
              <a:t>조건 </a:t>
            </a:r>
            <a:r>
              <a:rPr lang="en-US" altLang="ko-KR" sz="900" dirty="0" smtClean="0"/>
              <a:t>s) </a:t>
            </a:r>
            <a:r>
              <a:rPr lang="en-US" altLang="ko-KR" dirty="0" smtClean="0"/>
              <a:t>S (R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S</a:t>
            </a:r>
            <a:r>
              <a:rPr lang="ko-KR" altLang="en-US" dirty="0" smtClean="0"/>
              <a:t>는 </a:t>
            </a:r>
            <a:r>
              <a:rPr lang="ko-KR" altLang="en-US" dirty="0" err="1" smtClean="0"/>
              <a:t>릴레이션이며</a:t>
            </a:r>
            <a:r>
              <a:rPr lang="ko-KR" altLang="en-US" dirty="0" smtClean="0"/>
              <a:t> </a:t>
            </a:r>
            <a:r>
              <a:rPr lang="en-US" altLang="ko-KR" dirty="0" smtClean="0"/>
              <a:t>r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R</a:t>
            </a:r>
            <a:r>
              <a:rPr lang="ko-KR" altLang="en-US" dirty="0" smtClean="0"/>
              <a:t>의 속성</a:t>
            </a:r>
            <a:r>
              <a:rPr lang="en-US" altLang="ko-KR" dirty="0" smtClean="0"/>
              <a:t>, s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S</a:t>
            </a:r>
            <a:r>
              <a:rPr lang="ko-KR" altLang="en-US" dirty="0" smtClean="0"/>
              <a:t>의 속성</a:t>
            </a:r>
            <a:r>
              <a:rPr lang="en-US" altLang="ko-KR" dirty="0" smtClean="0"/>
              <a:t>)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err="1" smtClean="0"/>
              <a:t>동등조인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equi</a:t>
            </a:r>
            <a:r>
              <a:rPr lang="en-US" altLang="ko-KR" dirty="0" smtClean="0"/>
              <a:t> join)</a:t>
            </a:r>
          </a:p>
          <a:p>
            <a:pPr lvl="1"/>
            <a:r>
              <a:rPr lang="ko-KR" altLang="en-US" dirty="0" smtClean="0"/>
              <a:t>세타조인에서 </a:t>
            </a:r>
            <a:r>
              <a:rPr lang="en-US" altLang="ko-KR" dirty="0" smtClean="0"/>
              <a:t>= </a:t>
            </a:r>
            <a:r>
              <a:rPr lang="ko-KR" altLang="en-US" dirty="0" smtClean="0"/>
              <a:t>연산자를 사용한 조인을 말함</a:t>
            </a:r>
            <a:r>
              <a:rPr lang="en-US" altLang="ko-KR" dirty="0" smtClean="0"/>
              <a:t>. </a:t>
            </a:r>
            <a:r>
              <a:rPr lang="ko-KR" altLang="en-US" dirty="0" smtClean="0"/>
              <a:t>보통 조인 연산이라고 하면 </a:t>
            </a:r>
            <a:r>
              <a:rPr lang="ko-KR" altLang="en-US" dirty="0" err="1" smtClean="0"/>
              <a:t>동등조인을</a:t>
            </a:r>
            <a:r>
              <a:rPr lang="ko-KR" altLang="en-US" dirty="0" smtClean="0"/>
              <a:t> 지칭함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형식 </a:t>
            </a:r>
            <a:r>
              <a:rPr lang="en-US" altLang="ko-KR" dirty="0" smtClean="0"/>
              <a:t>: R      </a:t>
            </a:r>
            <a:r>
              <a:rPr lang="en-US" altLang="ko-KR" sz="900" dirty="0" smtClean="0"/>
              <a:t>(r = s</a:t>
            </a:r>
            <a:r>
              <a:rPr lang="en-US" altLang="ko-KR" dirty="0" smtClean="0"/>
              <a:t>) S</a:t>
            </a:r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2"/>
            <a:r>
              <a:rPr lang="ko-KR" altLang="en-US" sz="1600" dirty="0" smtClean="0"/>
              <a:t>고객</a:t>
            </a:r>
            <a:r>
              <a:rPr lang="ko-KR" altLang="en-US" dirty="0" smtClean="0"/>
              <a:t>       </a:t>
            </a:r>
            <a:r>
              <a:rPr lang="ko-KR" altLang="en-US" dirty="0" err="1" smtClean="0"/>
              <a:t>고객</a:t>
            </a:r>
            <a:r>
              <a:rPr lang="en-US" altLang="ko-KR" dirty="0" smtClean="0"/>
              <a:t>.</a:t>
            </a:r>
            <a:r>
              <a:rPr lang="ko-KR" altLang="en-US" dirty="0" err="1" smtClean="0"/>
              <a:t>고객번호</a:t>
            </a:r>
            <a:r>
              <a:rPr lang="en-US" altLang="ko-KR" dirty="0" smtClean="0"/>
              <a:t>=</a:t>
            </a:r>
            <a:r>
              <a:rPr lang="ko-KR" altLang="en-US" dirty="0" smtClean="0"/>
              <a:t>주문</a:t>
            </a:r>
            <a:r>
              <a:rPr lang="en-US" altLang="ko-KR" dirty="0" smtClean="0"/>
              <a:t>.</a:t>
            </a:r>
            <a:r>
              <a:rPr lang="ko-KR" altLang="en-US" dirty="0" err="1" smtClean="0"/>
              <a:t>고객번호</a:t>
            </a:r>
            <a:r>
              <a:rPr lang="ko-KR" altLang="en-US" dirty="0" smtClean="0"/>
              <a:t> </a:t>
            </a:r>
            <a:r>
              <a:rPr lang="ko-KR" altLang="en-US" sz="1600" dirty="0" smtClean="0"/>
              <a:t>주문</a:t>
            </a:r>
          </a:p>
          <a:p>
            <a:pPr lvl="2"/>
            <a:endParaRPr lang="ko-KR" altLang="en-US" dirty="0" smtClean="0"/>
          </a:p>
          <a:p>
            <a:endParaRPr lang="ko-KR" altLang="en-US" dirty="0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F360DA45-1D9A-45BF-9EAC-94E96265E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30722" y="2177962"/>
            <a:ext cx="320998" cy="191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8">
            <a:extLst>
              <a:ext uri="{FF2B5EF4-FFF2-40B4-BE49-F238E27FC236}">
                <a16:creationId xmlns:a16="http://schemas.microsoft.com/office/drawing/2014/main" id="{94F0E82C-A163-44E9-9629-4D6C84343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30722" y="3845612"/>
            <a:ext cx="320998" cy="191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BB4F1C74-ABB5-4CC9-999E-1BF2579E1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86534" y="4754485"/>
            <a:ext cx="320998" cy="191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F8B18EA-5DD7-4FE3-A7DB-575663CAA959}"/>
              </a:ext>
            </a:extLst>
          </p:cNvPr>
          <p:cNvSpPr txBox="1"/>
          <p:nvPr/>
        </p:nvSpPr>
        <p:spPr>
          <a:xfrm>
            <a:off x="1187624" y="4191837"/>
            <a:ext cx="4464496" cy="373885"/>
          </a:xfrm>
          <a:prstGeom prst="rect">
            <a:avLst/>
          </a:prstGeom>
          <a:solidFill>
            <a:srgbClr val="E6B4C0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질의 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2-7   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고객과 고객의 주문 사항을 모두 </a:t>
            </a: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보이시오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61641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C501292-5F74-46EB-83A9-FEEFB4E5BEB4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3096344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/>
              <a:t>세타조인과</a:t>
            </a:r>
            <a:r>
              <a:rPr lang="ko-KR" altLang="en-US" dirty="0"/>
              <a:t> 동등조인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531A09A5-E581-48C4-955D-47D2147DEC96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733" y="1125538"/>
            <a:ext cx="7037946" cy="5399087"/>
          </a:xfrm>
        </p:spPr>
      </p:pic>
    </p:spTree>
    <p:extLst>
      <p:ext uri="{BB962C8B-B14F-4D97-AF65-F5344CB8AC3E}">
        <p14:creationId xmlns:p14="http://schemas.microsoft.com/office/powerpoint/2010/main" val="20864101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C501292-5F74-46EB-83A9-FEEFB4E5BEB4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3096344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자연조인</a:t>
            </a:r>
            <a:r>
              <a:rPr lang="en-US" altLang="ko-KR" dirty="0"/>
              <a:t>(natural join)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DD4FED-41C0-4347-AF11-8A13CA53F41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 smtClean="0"/>
              <a:t>동등조인에서 조인에 참여한 속성이 두 번 나오지 않도록 두 번째 속성을 제거한 결과를 반환함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형식 </a:t>
            </a:r>
            <a:r>
              <a:rPr lang="en-US" altLang="ko-KR" dirty="0" smtClean="0"/>
              <a:t>: R     N</a:t>
            </a:r>
            <a:r>
              <a:rPr lang="en-US" altLang="ko-KR" sz="900" dirty="0" smtClean="0"/>
              <a:t>(r, s) </a:t>
            </a:r>
            <a:r>
              <a:rPr lang="en-US" altLang="ko-KR" dirty="0" smtClean="0"/>
              <a:t>S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pPr lvl="2"/>
            <a:r>
              <a:rPr lang="ko-KR" altLang="en-US" sz="1600" dirty="0" smtClean="0"/>
              <a:t>고객 </a:t>
            </a:r>
            <a:r>
              <a:rPr lang="ko-KR" altLang="en-US" dirty="0" smtClean="0"/>
              <a:t>      </a:t>
            </a:r>
            <a:r>
              <a:rPr lang="en-US" altLang="ko-KR" dirty="0" smtClean="0"/>
              <a:t>N(</a:t>
            </a:r>
            <a:r>
              <a:rPr lang="ko-KR" altLang="en-US" dirty="0" smtClean="0"/>
              <a:t>고객</a:t>
            </a:r>
            <a:r>
              <a:rPr lang="en-US" altLang="ko-KR" dirty="0" smtClean="0"/>
              <a:t>.</a:t>
            </a:r>
            <a:r>
              <a:rPr lang="ko-KR" altLang="en-US" dirty="0" err="1" smtClean="0"/>
              <a:t>고객번호</a:t>
            </a:r>
            <a:r>
              <a:rPr lang="en-US" altLang="ko-KR" dirty="0" smtClean="0"/>
              <a:t>=</a:t>
            </a:r>
            <a:r>
              <a:rPr lang="ko-KR" altLang="en-US" dirty="0" smtClean="0"/>
              <a:t>주문</a:t>
            </a:r>
            <a:r>
              <a:rPr lang="en-US" altLang="ko-KR" dirty="0" smtClean="0"/>
              <a:t>.</a:t>
            </a:r>
            <a:r>
              <a:rPr lang="ko-KR" altLang="en-US" dirty="0" err="1" smtClean="0"/>
              <a:t>고객번호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r>
              <a:rPr lang="ko-KR" altLang="en-US" sz="1600" dirty="0" smtClean="0"/>
              <a:t>주문</a:t>
            </a:r>
          </a:p>
          <a:p>
            <a:pPr lvl="1"/>
            <a:endParaRPr lang="ko-KR" altLang="en-US" dirty="0" smtClean="0"/>
          </a:p>
          <a:p>
            <a:endParaRPr lang="ko-KR" altLang="en-US" dirty="0"/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893ACDB0-0774-4777-B027-001BCC183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01205" y="2001317"/>
            <a:ext cx="320998" cy="191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B883A7BE-D01B-45D1-B2F0-91CF2C0FE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01205" y="3068960"/>
            <a:ext cx="320998" cy="191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A76A06-EBC3-4E53-BB99-0C8C8F90980A}"/>
              </a:ext>
            </a:extLst>
          </p:cNvPr>
          <p:cNvSpPr txBox="1"/>
          <p:nvPr/>
        </p:nvSpPr>
        <p:spPr>
          <a:xfrm>
            <a:off x="1106270" y="2435274"/>
            <a:ext cx="7056784" cy="373885"/>
          </a:xfrm>
          <a:prstGeom prst="rect">
            <a:avLst/>
          </a:prstGeom>
          <a:solidFill>
            <a:srgbClr val="E6B4C0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질의 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2-8   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고객과 고객의 주문 사항을 모두 보여주되 같은 속성은 한 번만 </a:t>
            </a: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표시하시오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51147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C501292-5F74-46EB-83A9-FEEFB4E5BEB4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3096344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자연조인</a:t>
            </a:r>
            <a:r>
              <a:rPr lang="en-US" altLang="ko-KR" dirty="0"/>
              <a:t>(natural join)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493E8E02-E1D5-4252-B0FD-14519D9B70FB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27" y="1125538"/>
            <a:ext cx="7010158" cy="5399087"/>
          </a:xfrm>
        </p:spPr>
      </p:pic>
    </p:spTree>
    <p:extLst>
      <p:ext uri="{BB962C8B-B14F-4D97-AF65-F5344CB8AC3E}">
        <p14:creationId xmlns:p14="http://schemas.microsoft.com/office/powerpoint/2010/main" val="18885026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C501292-5F74-46EB-83A9-FEEFB4E5BEB4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3096344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외부조인과 세미조인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6A893-3930-4DA5-BC52-731096FF323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 err="1" smtClean="0"/>
              <a:t>외부조인</a:t>
            </a:r>
            <a:r>
              <a:rPr lang="en-US" altLang="ko-KR" dirty="0" smtClean="0"/>
              <a:t>(outer join)</a:t>
            </a:r>
          </a:p>
          <a:p>
            <a:pPr lvl="1"/>
            <a:r>
              <a:rPr lang="ko-KR" altLang="en-US" sz="1300" dirty="0" err="1" smtClean="0"/>
              <a:t>자연조인</a:t>
            </a:r>
            <a:r>
              <a:rPr lang="ko-KR" altLang="en-US" sz="1300" dirty="0" smtClean="0"/>
              <a:t> 시 조인에 실패한 </a:t>
            </a:r>
            <a:r>
              <a:rPr lang="ko-KR" altLang="en-US" sz="1300" dirty="0" err="1" smtClean="0"/>
              <a:t>투플을</a:t>
            </a:r>
            <a:r>
              <a:rPr lang="ko-KR" altLang="en-US" sz="1300" dirty="0" smtClean="0"/>
              <a:t> 모두 보여주되 값이 없는 대응 속성에는 </a:t>
            </a:r>
            <a:r>
              <a:rPr lang="en-US" altLang="ko-KR" sz="1300" dirty="0" smtClean="0"/>
              <a:t>NULL </a:t>
            </a:r>
            <a:r>
              <a:rPr lang="ko-KR" altLang="en-US" sz="1300" dirty="0" smtClean="0"/>
              <a:t>값을 채워서 반환</a:t>
            </a:r>
            <a:endParaRPr lang="en-US" altLang="ko-KR" sz="1300" dirty="0" smtClean="0"/>
          </a:p>
          <a:p>
            <a:pPr lvl="1"/>
            <a:endParaRPr lang="en-US" altLang="ko-KR" sz="1300" dirty="0" smtClean="0"/>
          </a:p>
          <a:p>
            <a:pPr lvl="1"/>
            <a:r>
              <a:rPr lang="ko-KR" altLang="en-US" sz="1300" dirty="0" smtClean="0"/>
              <a:t>모든 속성을 보여주는 기준 </a:t>
            </a:r>
            <a:r>
              <a:rPr lang="ko-KR" altLang="en-US" sz="1300" dirty="0" err="1" smtClean="0"/>
              <a:t>릴레이션</a:t>
            </a:r>
            <a:r>
              <a:rPr lang="ko-KR" altLang="en-US" sz="1300" dirty="0" smtClean="0"/>
              <a:t> 위치에 따라 왼쪽</a:t>
            </a:r>
            <a:r>
              <a:rPr lang="en-US" altLang="ko-KR" sz="1300" dirty="0" smtClean="0"/>
              <a:t>(left) </a:t>
            </a:r>
            <a:r>
              <a:rPr lang="ko-KR" altLang="en-US" sz="1300" dirty="0" err="1" smtClean="0"/>
              <a:t>외부조인</a:t>
            </a:r>
            <a:r>
              <a:rPr lang="en-US" altLang="ko-KR" sz="1300" dirty="0" smtClean="0"/>
              <a:t>, </a:t>
            </a:r>
            <a:r>
              <a:rPr lang="ko-KR" altLang="en-US" sz="1300" dirty="0" smtClean="0"/>
              <a:t>오른쪽</a:t>
            </a:r>
            <a:r>
              <a:rPr lang="en-US" altLang="ko-KR" sz="1300" dirty="0" smtClean="0"/>
              <a:t>(right) </a:t>
            </a:r>
            <a:r>
              <a:rPr lang="ko-KR" altLang="en-US" sz="1300" dirty="0" err="1" smtClean="0"/>
              <a:t>외부조인</a:t>
            </a:r>
            <a:r>
              <a:rPr lang="en-US" altLang="ko-KR" sz="1300" dirty="0" smtClean="0"/>
              <a:t>, </a:t>
            </a:r>
            <a:r>
              <a:rPr lang="ko-KR" altLang="en-US" sz="1300" dirty="0" smtClean="0"/>
              <a:t>완전</a:t>
            </a:r>
            <a:r>
              <a:rPr lang="en-US" altLang="ko-KR" sz="1300" dirty="0" smtClean="0"/>
              <a:t>(full) </a:t>
            </a:r>
            <a:r>
              <a:rPr lang="ko-KR" altLang="en-US" sz="1300" dirty="0" smtClean="0"/>
              <a:t>외부조인으로 나뉨</a:t>
            </a:r>
            <a:r>
              <a:rPr lang="en-US" altLang="ko-KR" sz="1300" dirty="0" smtClean="0"/>
              <a:t>.</a:t>
            </a:r>
          </a:p>
          <a:p>
            <a:pPr lvl="1"/>
            <a:endParaRPr lang="en-US" altLang="ko-KR" sz="1300" dirty="0" smtClean="0"/>
          </a:p>
          <a:p>
            <a:pPr lvl="1"/>
            <a:r>
              <a:rPr lang="ko-KR" altLang="en-US" sz="1300" dirty="0" smtClean="0"/>
              <a:t>형식 </a:t>
            </a:r>
            <a:r>
              <a:rPr lang="en-US" altLang="ko-KR" sz="1300" dirty="0" smtClean="0"/>
              <a:t>: </a:t>
            </a:r>
            <a:r>
              <a:rPr lang="ko-KR" altLang="en-US" sz="1300" dirty="0" smtClean="0"/>
              <a:t>왼쪽</a:t>
            </a:r>
            <a:r>
              <a:rPr lang="en-US" altLang="ko-KR" sz="1300" dirty="0" smtClean="0"/>
              <a:t>(left) </a:t>
            </a:r>
            <a:r>
              <a:rPr lang="ko-KR" altLang="en-US" sz="1300" dirty="0" err="1" smtClean="0"/>
              <a:t>외부조인</a:t>
            </a:r>
            <a:r>
              <a:rPr lang="ko-KR" altLang="en-US" sz="1300" dirty="0" smtClean="0"/>
              <a:t> </a:t>
            </a:r>
            <a:r>
              <a:rPr lang="en-US" altLang="ko-KR" sz="1300" dirty="0" smtClean="0"/>
              <a:t>– R      </a:t>
            </a:r>
            <a:r>
              <a:rPr lang="en-US" altLang="ko-KR" sz="900" dirty="0" smtClean="0"/>
              <a:t>(r, s) </a:t>
            </a:r>
            <a:r>
              <a:rPr lang="en-US" altLang="ko-KR" sz="1300" dirty="0" smtClean="0"/>
              <a:t>S</a:t>
            </a:r>
          </a:p>
          <a:p>
            <a:pPr lvl="1"/>
            <a:endParaRPr lang="en-US" altLang="ko-KR" sz="1300" dirty="0" smtClean="0"/>
          </a:p>
          <a:p>
            <a:pPr marL="266700" lvl="1" indent="0">
              <a:buNone/>
            </a:pPr>
            <a:r>
              <a:rPr lang="en-US" altLang="ko-KR" sz="1300" dirty="0" smtClean="0"/>
              <a:t>	    </a:t>
            </a:r>
            <a:r>
              <a:rPr lang="ko-KR" altLang="en-US" sz="1300" dirty="0" smtClean="0"/>
              <a:t>완전</a:t>
            </a:r>
            <a:r>
              <a:rPr lang="en-US" altLang="ko-KR" sz="1300" dirty="0" smtClean="0"/>
              <a:t>(full) </a:t>
            </a:r>
            <a:r>
              <a:rPr lang="ko-KR" altLang="en-US" sz="1300" dirty="0" err="1" smtClean="0"/>
              <a:t>외부조인</a:t>
            </a:r>
            <a:r>
              <a:rPr lang="ko-KR" altLang="en-US" sz="1300" dirty="0" smtClean="0"/>
              <a:t> </a:t>
            </a:r>
            <a:r>
              <a:rPr lang="en-US" altLang="ko-KR" sz="1300" dirty="0" smtClean="0"/>
              <a:t>– R      </a:t>
            </a:r>
            <a:r>
              <a:rPr lang="en-US" altLang="ko-KR" sz="900" dirty="0" smtClean="0"/>
              <a:t>(r, s</a:t>
            </a:r>
            <a:r>
              <a:rPr lang="en-US" altLang="ko-KR" sz="1300" dirty="0" smtClean="0"/>
              <a:t>) S</a:t>
            </a:r>
          </a:p>
          <a:p>
            <a:pPr marL="266700" lvl="1" indent="0">
              <a:buNone/>
            </a:pPr>
            <a:endParaRPr lang="en-US" altLang="ko-KR" sz="1300" dirty="0" smtClean="0"/>
          </a:p>
          <a:p>
            <a:pPr marL="266700" lvl="1" indent="0">
              <a:buNone/>
            </a:pPr>
            <a:r>
              <a:rPr lang="en-US" altLang="ko-KR" sz="1300" dirty="0" smtClean="0"/>
              <a:t>	    </a:t>
            </a:r>
            <a:r>
              <a:rPr lang="ko-KR" altLang="en-US" sz="1300" dirty="0" smtClean="0"/>
              <a:t>오른쪽</a:t>
            </a:r>
            <a:r>
              <a:rPr lang="en-US" altLang="ko-KR" sz="1300" dirty="0" smtClean="0"/>
              <a:t>(right) </a:t>
            </a:r>
            <a:r>
              <a:rPr lang="ko-KR" altLang="en-US" sz="1300" dirty="0" err="1" smtClean="0"/>
              <a:t>외부조인</a:t>
            </a:r>
            <a:r>
              <a:rPr lang="ko-KR" altLang="en-US" sz="1300" dirty="0" smtClean="0"/>
              <a:t> </a:t>
            </a:r>
            <a:r>
              <a:rPr lang="en-US" altLang="ko-KR" sz="1300" dirty="0" smtClean="0"/>
              <a:t>- R      </a:t>
            </a:r>
            <a:r>
              <a:rPr lang="en-US" altLang="ko-KR" sz="900" dirty="0" smtClean="0"/>
              <a:t>(r, s) </a:t>
            </a:r>
            <a:r>
              <a:rPr lang="en-US" altLang="ko-KR" sz="1300" dirty="0" smtClean="0"/>
              <a:t>S</a:t>
            </a:r>
          </a:p>
          <a:p>
            <a:pPr marL="0" indent="0">
              <a:buNone/>
            </a:pPr>
            <a:endParaRPr lang="ko-KR" altLang="en-US" sz="1300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6DB73196-02DF-4818-80BE-9F320CFDC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8401" y="2880527"/>
            <a:ext cx="286319" cy="184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4447A5BE-BF4C-4AC0-A9AA-C81BB3C1E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44383" y="3445729"/>
            <a:ext cx="291083" cy="177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3865B9F7-8E60-4B8B-9318-E99379D90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35466" y="4039248"/>
            <a:ext cx="286320" cy="159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8032969-179F-44E0-A3C9-7952448763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509" y="2420888"/>
            <a:ext cx="2925478" cy="422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481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C501292-5F74-46EB-83A9-FEEFB4E5BEB4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3096344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외부조인과 세미조인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6A893-3930-4DA5-BC52-731096FF323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>
              <a:buFont typeface="+mj-ea"/>
              <a:buAutoNum type="circleNumDbPlain"/>
            </a:pPr>
            <a:r>
              <a:rPr lang="ko-KR" altLang="en-US" dirty="0" smtClean="0"/>
              <a:t>고객      </a:t>
            </a:r>
            <a:r>
              <a:rPr lang="en-US" altLang="ko-KR" sz="900" dirty="0" smtClean="0"/>
              <a:t>(</a:t>
            </a:r>
            <a:r>
              <a:rPr lang="ko-KR" altLang="en-US" sz="900" dirty="0" smtClean="0"/>
              <a:t>고객</a:t>
            </a:r>
            <a:r>
              <a:rPr lang="en-US" altLang="ko-KR" sz="900" dirty="0" smtClean="0"/>
              <a:t>.</a:t>
            </a:r>
            <a:r>
              <a:rPr lang="ko-KR" altLang="en-US" sz="900" dirty="0" err="1" smtClean="0"/>
              <a:t>고객번호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주문</a:t>
            </a:r>
            <a:r>
              <a:rPr lang="en-US" altLang="ko-KR" sz="900" dirty="0" smtClean="0"/>
              <a:t>.</a:t>
            </a:r>
            <a:r>
              <a:rPr lang="ko-KR" altLang="en-US" sz="900" dirty="0" err="1" smtClean="0"/>
              <a:t>고객번호</a:t>
            </a:r>
            <a:r>
              <a:rPr lang="en-US" altLang="ko-KR" sz="900" dirty="0" smtClean="0"/>
              <a:t>) </a:t>
            </a:r>
            <a:r>
              <a:rPr lang="ko-KR" altLang="en-US" dirty="0" smtClean="0"/>
              <a:t>주문</a:t>
            </a:r>
          </a:p>
          <a:p>
            <a:pPr>
              <a:buFont typeface="+mj-ea"/>
              <a:buAutoNum type="circleNumDbPlain"/>
            </a:pPr>
            <a:r>
              <a:rPr lang="ko-KR" altLang="en-US" dirty="0" smtClean="0"/>
              <a:t>고객      </a:t>
            </a:r>
            <a:r>
              <a:rPr lang="en-US" altLang="ko-KR" sz="900" dirty="0" smtClean="0"/>
              <a:t>(</a:t>
            </a:r>
            <a:r>
              <a:rPr lang="ko-KR" altLang="en-US" sz="900" dirty="0" smtClean="0"/>
              <a:t>고객</a:t>
            </a:r>
            <a:r>
              <a:rPr lang="en-US" altLang="ko-KR" sz="900" dirty="0" smtClean="0"/>
              <a:t>.</a:t>
            </a:r>
            <a:r>
              <a:rPr lang="ko-KR" altLang="en-US" sz="900" dirty="0" err="1" smtClean="0"/>
              <a:t>고객번호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주문</a:t>
            </a:r>
            <a:r>
              <a:rPr lang="en-US" altLang="ko-KR" sz="900" dirty="0" smtClean="0"/>
              <a:t>.</a:t>
            </a:r>
            <a:r>
              <a:rPr lang="ko-KR" altLang="en-US" sz="900" dirty="0" err="1" smtClean="0"/>
              <a:t>고객번호</a:t>
            </a:r>
            <a:r>
              <a:rPr lang="en-US" altLang="ko-KR" sz="900" dirty="0" smtClean="0"/>
              <a:t>) </a:t>
            </a:r>
            <a:r>
              <a:rPr lang="ko-KR" altLang="en-US" dirty="0" smtClean="0"/>
              <a:t>주문</a:t>
            </a:r>
          </a:p>
          <a:p>
            <a:pPr>
              <a:buFont typeface="+mj-ea"/>
              <a:buAutoNum type="circleNumDbPlain"/>
            </a:pPr>
            <a:r>
              <a:rPr lang="ko-KR" altLang="en-US" dirty="0" smtClean="0"/>
              <a:t>고객      </a:t>
            </a:r>
            <a:r>
              <a:rPr lang="en-US" altLang="ko-KR" sz="900" dirty="0" smtClean="0"/>
              <a:t>(</a:t>
            </a:r>
            <a:r>
              <a:rPr lang="ko-KR" altLang="en-US" sz="900" dirty="0" smtClean="0"/>
              <a:t>고객</a:t>
            </a:r>
            <a:r>
              <a:rPr lang="en-US" altLang="ko-KR" sz="900" dirty="0" smtClean="0"/>
              <a:t>.</a:t>
            </a:r>
            <a:r>
              <a:rPr lang="ko-KR" altLang="en-US" sz="900" dirty="0" err="1" smtClean="0"/>
              <a:t>고객번호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주문</a:t>
            </a:r>
            <a:r>
              <a:rPr lang="en-US" altLang="ko-KR" sz="900" dirty="0" smtClean="0"/>
              <a:t>.</a:t>
            </a:r>
            <a:r>
              <a:rPr lang="ko-KR" altLang="en-US" sz="900" dirty="0" err="1" smtClean="0"/>
              <a:t>고객번호</a:t>
            </a:r>
            <a:r>
              <a:rPr lang="en-US" altLang="ko-KR" sz="900" dirty="0" smtClean="0"/>
              <a:t>) </a:t>
            </a:r>
            <a:r>
              <a:rPr lang="ko-KR" altLang="en-US" dirty="0" smtClean="0"/>
              <a:t>주문</a:t>
            </a:r>
          </a:p>
          <a:p>
            <a:pPr lvl="1"/>
            <a:endParaRPr lang="ko-KR" altLang="en-US" dirty="0"/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5C55A6F8-6AEF-4E1C-B5CA-50E817B81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17213" y="2737138"/>
            <a:ext cx="318923" cy="205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9A55A34A-F0D1-46B2-8136-4316469D6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647" y="3127040"/>
            <a:ext cx="318923" cy="194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5">
            <a:extLst>
              <a:ext uri="{FF2B5EF4-FFF2-40B4-BE49-F238E27FC236}">
                <a16:creationId xmlns:a16="http://schemas.microsoft.com/office/drawing/2014/main" id="{7148EED7-0A14-41D0-9F30-B7FEC97D7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03647" y="3512073"/>
            <a:ext cx="318923" cy="17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DAD870-D838-47E6-A5D1-F5B3BE9BC446}"/>
              </a:ext>
            </a:extLst>
          </p:cNvPr>
          <p:cNvSpPr txBox="1"/>
          <p:nvPr/>
        </p:nvSpPr>
        <p:spPr>
          <a:xfrm>
            <a:off x="515750" y="1309465"/>
            <a:ext cx="7056784" cy="1210781"/>
          </a:xfrm>
          <a:prstGeom prst="rect">
            <a:avLst/>
          </a:prstGeom>
          <a:solidFill>
            <a:srgbClr val="E6B4C0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질의 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2-9   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마당서점의 고객과 고객의 주문 내역을 </a:t>
            </a: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보이시오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고객 기준으로 주문내역이 없는 고객도 모두 </a:t>
            </a: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보이시오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주문내역이 없는 고객과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고객 </a:t>
            </a: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릴레이션에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 고객번호가 없는 주문을 모두 </a:t>
            </a: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보이시오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주문내역 기준으로 고객 </a:t>
            </a: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릴레이션에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 고객번호가 없는 주문도 모두 </a:t>
            </a: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보이시오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57637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C501292-5F74-46EB-83A9-FEEFB4E5BEB4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3096344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외부조인과 세미조인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6A893-3930-4DA5-BC52-731096FF323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 altLang="ko-KR" smtClean="0"/>
          </a:p>
          <a:p>
            <a:endParaRPr lang="en-US" altLang="ko-KR" smtClean="0"/>
          </a:p>
          <a:p>
            <a:pPr lvl="1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F477D5A-A681-47AA-87BB-F163AEFAC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491822"/>
            <a:ext cx="6624736" cy="498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7670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C501292-5F74-46EB-83A9-FEEFB4E5BEB4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3096344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외부조인과 세미조인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6A893-3930-4DA5-BC52-731096FF323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 err="1" smtClean="0"/>
              <a:t>세미조인</a:t>
            </a:r>
            <a:r>
              <a:rPr lang="en-US" altLang="ko-KR" dirty="0" smtClean="0"/>
              <a:t>(semi join)</a:t>
            </a:r>
          </a:p>
          <a:p>
            <a:pPr lvl="1"/>
            <a:r>
              <a:rPr lang="ko-KR" altLang="en-US" dirty="0" err="1" smtClean="0"/>
              <a:t>자연조인을</a:t>
            </a:r>
            <a:r>
              <a:rPr lang="ko-KR" altLang="en-US" dirty="0" smtClean="0"/>
              <a:t> 한 후 두 </a:t>
            </a:r>
            <a:r>
              <a:rPr lang="ko-KR" altLang="en-US" dirty="0" err="1" smtClean="0"/>
              <a:t>릴레이션</a:t>
            </a:r>
            <a:r>
              <a:rPr lang="ko-KR" altLang="en-US" dirty="0" smtClean="0"/>
              <a:t> 중 한쪽 </a:t>
            </a:r>
            <a:r>
              <a:rPr lang="ko-KR" altLang="en-US" dirty="0" err="1" smtClean="0"/>
              <a:t>릴레이션의</a:t>
            </a:r>
            <a:r>
              <a:rPr lang="ko-KR" altLang="en-US" dirty="0" smtClean="0"/>
              <a:t> 결과만 반환하며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기호에서 닫힌 쪽 릴레이</a:t>
            </a:r>
            <a:endParaRPr lang="en-US" altLang="ko-KR" dirty="0" smtClean="0"/>
          </a:p>
          <a:p>
            <a:pPr marL="266700" lvl="1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션의 </a:t>
            </a:r>
            <a:r>
              <a:rPr lang="ko-KR" altLang="en-US" dirty="0" err="1" smtClean="0"/>
              <a:t>투플만</a:t>
            </a:r>
            <a:r>
              <a:rPr lang="ko-KR" altLang="en-US" dirty="0" smtClean="0"/>
              <a:t> 반환함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 smtClean="0"/>
          </a:p>
          <a:p>
            <a:pPr lvl="1"/>
            <a:r>
              <a:rPr lang="ko-KR" altLang="en-US" dirty="0" smtClean="0"/>
              <a:t>형식  </a:t>
            </a:r>
            <a:r>
              <a:rPr lang="en-US" altLang="ko-KR" dirty="0" smtClean="0"/>
              <a:t>: R    </a:t>
            </a:r>
            <a:r>
              <a:rPr lang="en-US" altLang="ko-KR" sz="900" dirty="0" smtClean="0"/>
              <a:t>   (r, s) </a:t>
            </a:r>
            <a:r>
              <a:rPr lang="en-US" altLang="ko-KR" dirty="0" smtClean="0"/>
              <a:t>S	</a:t>
            </a:r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2"/>
            <a:r>
              <a:rPr lang="ko-KR" altLang="en-US" dirty="0" smtClean="0"/>
              <a:t>고객       </a:t>
            </a:r>
            <a:r>
              <a:rPr lang="ko-KR" altLang="en-US" sz="900" dirty="0" err="1" smtClean="0"/>
              <a:t>고객</a:t>
            </a:r>
            <a:r>
              <a:rPr lang="en-US" altLang="ko-KR" sz="900" dirty="0" smtClean="0"/>
              <a:t>.</a:t>
            </a:r>
            <a:r>
              <a:rPr lang="ko-KR" altLang="en-US" sz="900" dirty="0" err="1" smtClean="0"/>
              <a:t>고객번호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주문</a:t>
            </a:r>
            <a:r>
              <a:rPr lang="en-US" altLang="ko-KR" sz="900" dirty="0" smtClean="0"/>
              <a:t>.</a:t>
            </a:r>
            <a:r>
              <a:rPr lang="ko-KR" altLang="en-US" sz="900" dirty="0" err="1" smtClean="0"/>
              <a:t>고객번호</a:t>
            </a:r>
            <a:r>
              <a:rPr lang="ko-KR" altLang="en-US" sz="900" dirty="0" smtClean="0"/>
              <a:t> </a:t>
            </a:r>
            <a:r>
              <a:rPr lang="ko-KR" altLang="en-US" dirty="0" smtClean="0"/>
              <a:t>주문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3189E2B-04AB-4C78-B605-BD569E344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73776" y="2494485"/>
            <a:ext cx="310513" cy="186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9A206E9-81C5-45F1-8D0C-B9A199D15BAB}"/>
              </a:ext>
            </a:extLst>
          </p:cNvPr>
          <p:cNvSpPr txBox="1"/>
          <p:nvPr/>
        </p:nvSpPr>
        <p:spPr>
          <a:xfrm>
            <a:off x="1043608" y="2780928"/>
            <a:ext cx="6576530" cy="373885"/>
          </a:xfrm>
          <a:prstGeom prst="rect">
            <a:avLst/>
          </a:prstGeom>
          <a:solidFill>
            <a:srgbClr val="E6B4C0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질의 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2-10   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마당서점의 고객 중 주문 내역이 있는 고객의 고객 정보를 </a:t>
            </a: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보이시오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.</a:t>
            </a:r>
            <a:endParaRPr lang="en-US" altLang="ko-KR" sz="12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9E94FC5-A3A9-4BB7-A13D-8EEAE3663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620" y="3354234"/>
            <a:ext cx="288032" cy="186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400235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C501292-5F74-46EB-83A9-FEEFB4E5BEB4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3096344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외부조인과 세미조인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3E55D305-834D-4A64-A8B3-C984D343697E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417" y="1241124"/>
            <a:ext cx="8104578" cy="5167915"/>
          </a:xfrm>
        </p:spPr>
      </p:pic>
    </p:spTree>
    <p:extLst>
      <p:ext uri="{BB962C8B-B14F-4D97-AF65-F5344CB8AC3E}">
        <p14:creationId xmlns:p14="http://schemas.microsoft.com/office/powerpoint/2010/main" val="181756037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C501292-5F74-46EB-83A9-FEEFB4E5BEB4}"/>
              </a:ext>
            </a:extLst>
          </p:cNvPr>
          <p:cNvSpPr txBox="1">
            <a:spLocks/>
          </p:cNvSpPr>
          <p:nvPr/>
        </p:nvSpPr>
        <p:spPr>
          <a:xfrm>
            <a:off x="539552" y="201910"/>
            <a:ext cx="2448272" cy="548680"/>
          </a:xfrm>
          <a:prstGeom prst="rect">
            <a:avLst/>
          </a:prstGeom>
          <a:solidFill>
            <a:srgbClr val="F7E9EC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디비전</a:t>
            </a:r>
            <a:r>
              <a:rPr lang="en-US" altLang="ko-KR" dirty="0"/>
              <a:t>(division)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93C866-D718-43CD-889C-EE667877740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smtClean="0"/>
              <a:t>릴레이션의 속성 값의 집합으로 연산을 수행함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형식 </a:t>
            </a:r>
            <a:r>
              <a:rPr lang="en-US" altLang="ko-KR" smtClean="0"/>
              <a:t>: R ÷ S</a:t>
            </a:r>
            <a:endParaRPr lang="ko-KR" altLang="en-US" smtClean="0"/>
          </a:p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D9B38AA-0B0D-43C9-90FA-431AD4729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846" y="1977022"/>
            <a:ext cx="4184306" cy="465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84309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5D02433-F5E1-418D-8D73-90992067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3.6 </a:t>
            </a:r>
            <a:r>
              <a:rPr lang="ko-KR" altLang="en-US" smtClean="0"/>
              <a:t>관계대수 사용 예제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93C866-D718-43CD-889C-EE667877740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err="1" smtClean="0"/>
              <a:t>마당서점의</a:t>
            </a:r>
            <a:r>
              <a:rPr lang="ko-KR" altLang="en-US" dirty="0" smtClean="0"/>
              <a:t> 지점이 하나인 경우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   π</a:t>
            </a:r>
            <a:r>
              <a:rPr lang="ko-KR" altLang="en-US" sz="800" dirty="0" err="1" smtClean="0"/>
              <a:t>도서이름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출판사 </a:t>
            </a:r>
            <a:r>
              <a:rPr lang="en-US" altLang="ko-KR" dirty="0" smtClean="0"/>
              <a:t>(σ</a:t>
            </a:r>
            <a:r>
              <a:rPr lang="ko-KR" altLang="en-US" sz="800" dirty="0" smtClean="0"/>
              <a:t>가격＜</a:t>
            </a:r>
            <a:r>
              <a:rPr lang="en-US" altLang="ko-KR" sz="800" dirty="0" smtClean="0"/>
              <a:t>=8000 </a:t>
            </a:r>
            <a:r>
              <a:rPr lang="ko-KR" altLang="en-US" dirty="0" smtClean="0"/>
              <a:t>도서</a:t>
            </a:r>
            <a:r>
              <a:rPr lang="en-US" altLang="ko-KR" dirty="0" smtClean="0"/>
              <a:t>)</a:t>
            </a:r>
            <a:endParaRPr lang="ko-KR" altLang="en-US" dirty="0" smtClean="0"/>
          </a:p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4FF8CB-1B16-4E00-A4EE-4D7466DD4E34}"/>
              </a:ext>
            </a:extLst>
          </p:cNvPr>
          <p:cNvSpPr txBox="1"/>
          <p:nvPr/>
        </p:nvSpPr>
        <p:spPr>
          <a:xfrm>
            <a:off x="526867" y="1268760"/>
            <a:ext cx="7152594" cy="373885"/>
          </a:xfrm>
          <a:prstGeom prst="rect">
            <a:avLst/>
          </a:prstGeom>
          <a:solidFill>
            <a:srgbClr val="E6B4C0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질의 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2-11   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마당서점의 도서 중 가격이 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8,000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원 이하인 도서이름과 출판사를 </a:t>
            </a: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보이시오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.</a:t>
            </a:r>
            <a:endParaRPr lang="en-US" altLang="ko-KR" sz="12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98CC134-1A00-4408-BDC3-D8E197BE6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009" y="2780928"/>
            <a:ext cx="6923925" cy="330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6975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5D02433-F5E1-418D-8D73-90992067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3.6 </a:t>
            </a:r>
            <a:r>
              <a:rPr lang="ko-KR" altLang="en-US" smtClean="0"/>
              <a:t>관계대수 사용 예제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93C866-D718-43CD-889C-EE667877740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 err="1" smtClean="0"/>
              <a:t>마당서점의</a:t>
            </a:r>
            <a:r>
              <a:rPr lang="ko-KR" altLang="en-US" dirty="0" smtClean="0"/>
              <a:t> 지점이 하나인 경우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   π</a:t>
            </a:r>
            <a:r>
              <a:rPr lang="ko-KR" altLang="en-US" sz="900" dirty="0" err="1" smtClean="0"/>
              <a:t>도서이름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출판사 </a:t>
            </a:r>
            <a:r>
              <a:rPr lang="en-US" altLang="ko-KR" dirty="0" smtClean="0"/>
              <a:t>((σ</a:t>
            </a:r>
            <a:r>
              <a:rPr lang="ko-KR" altLang="en-US" sz="900" dirty="0" smtClean="0"/>
              <a:t>가격＜</a:t>
            </a:r>
            <a:r>
              <a:rPr lang="en-US" altLang="ko-KR" sz="900" dirty="0" smtClean="0"/>
              <a:t>=8000 </a:t>
            </a:r>
            <a:r>
              <a:rPr lang="ko-KR" altLang="en-US" dirty="0" smtClean="0"/>
              <a:t>도서</a:t>
            </a:r>
            <a:r>
              <a:rPr lang="en-US" altLang="ko-KR" dirty="0" smtClean="0"/>
              <a:t>A) ∪ (σ</a:t>
            </a:r>
            <a:r>
              <a:rPr lang="ko-KR" altLang="en-US" sz="900" dirty="0" smtClean="0"/>
              <a:t>가격＜</a:t>
            </a:r>
            <a:r>
              <a:rPr lang="en-US" altLang="ko-KR" sz="900" dirty="0" smtClean="0"/>
              <a:t>=8000 </a:t>
            </a:r>
            <a:r>
              <a:rPr lang="ko-KR" altLang="en-US" dirty="0" smtClean="0"/>
              <a:t>도서</a:t>
            </a:r>
            <a:r>
              <a:rPr lang="en-US" altLang="ko-KR" dirty="0" smtClean="0"/>
              <a:t>B))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31CEA1A-08A2-49A3-9C4E-508844062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759" y="2060848"/>
            <a:ext cx="6797674" cy="436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97845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5D02433-F5E1-418D-8D73-90992067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3.6 </a:t>
            </a:r>
            <a:r>
              <a:rPr lang="ko-KR" altLang="en-US" smtClean="0"/>
              <a:t>관계대수 사용 예제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93C866-D718-43CD-889C-EE667877740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err="1" smtClean="0"/>
              <a:t>카티전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프로덕트를</a:t>
            </a:r>
            <a:r>
              <a:rPr lang="ko-KR" altLang="en-US" dirty="0" smtClean="0"/>
              <a:t> 사용한 연산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 π</a:t>
            </a:r>
            <a:r>
              <a:rPr lang="ko-KR" altLang="en-US" sz="900" dirty="0" smtClean="0"/>
              <a:t>주문</a:t>
            </a:r>
            <a:r>
              <a:rPr lang="en-US" altLang="ko-KR" sz="900" dirty="0" smtClean="0"/>
              <a:t>.</a:t>
            </a:r>
            <a:r>
              <a:rPr lang="ko-KR" altLang="en-US" sz="900" dirty="0" smtClean="0"/>
              <a:t>주문번호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고객</a:t>
            </a:r>
            <a:r>
              <a:rPr lang="en-US" altLang="ko-KR" sz="900" dirty="0" smtClean="0"/>
              <a:t>.</a:t>
            </a:r>
            <a:r>
              <a:rPr lang="ko-KR" altLang="en-US" sz="900" dirty="0" smtClean="0"/>
              <a:t>이름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주문</a:t>
            </a:r>
            <a:r>
              <a:rPr lang="en-US" altLang="ko-KR" sz="900" dirty="0" smtClean="0"/>
              <a:t>.</a:t>
            </a:r>
            <a:r>
              <a:rPr lang="ko-KR" altLang="en-US" sz="900" dirty="0" smtClean="0"/>
              <a:t>판매가격</a:t>
            </a:r>
            <a:r>
              <a:rPr lang="ko-KR" altLang="en-US" dirty="0" smtClean="0"/>
              <a:t> </a:t>
            </a:r>
            <a:r>
              <a:rPr lang="en-US" altLang="ko-KR" dirty="0" smtClean="0"/>
              <a:t>(σ</a:t>
            </a:r>
            <a:r>
              <a:rPr lang="ko-KR" altLang="en-US" sz="900" dirty="0" smtClean="0"/>
              <a:t>고객</a:t>
            </a:r>
            <a:r>
              <a:rPr lang="en-US" altLang="ko-KR" sz="900" dirty="0" smtClean="0"/>
              <a:t>.</a:t>
            </a:r>
            <a:r>
              <a:rPr lang="ko-KR" altLang="en-US" sz="900" dirty="0" err="1" smtClean="0"/>
              <a:t>고객번호</a:t>
            </a:r>
            <a:r>
              <a:rPr lang="en-US" altLang="ko-KR" sz="900" dirty="0" smtClean="0"/>
              <a:t>=</a:t>
            </a:r>
            <a:r>
              <a:rPr lang="ko-KR" altLang="en-US" sz="900" dirty="0" smtClean="0"/>
              <a:t>주문</a:t>
            </a:r>
            <a:r>
              <a:rPr lang="en-US" altLang="ko-KR" sz="900" dirty="0" smtClean="0"/>
              <a:t>.</a:t>
            </a:r>
            <a:r>
              <a:rPr lang="ko-KR" altLang="en-US" sz="900" dirty="0" err="1" smtClean="0"/>
              <a:t>고객번호</a:t>
            </a:r>
            <a:r>
              <a:rPr lang="ko-KR" altLang="en-US" sz="900" dirty="0" smtClean="0"/>
              <a:t> </a:t>
            </a:r>
            <a:r>
              <a:rPr lang="en-US" altLang="ko-KR" sz="900" dirty="0" smtClean="0"/>
              <a:t>AND </a:t>
            </a:r>
            <a:r>
              <a:rPr lang="ko-KR" altLang="en-US" sz="900" dirty="0" smtClean="0"/>
              <a:t>고객</a:t>
            </a:r>
            <a:r>
              <a:rPr lang="en-US" altLang="ko-KR" sz="900" dirty="0" smtClean="0"/>
              <a:t>.</a:t>
            </a:r>
            <a:r>
              <a:rPr lang="ko-KR" altLang="en-US" sz="900" dirty="0" smtClean="0"/>
              <a:t>이름</a:t>
            </a:r>
            <a:r>
              <a:rPr lang="en-US" altLang="ko-KR" sz="900" dirty="0" smtClean="0"/>
              <a:t>=‘</a:t>
            </a:r>
            <a:r>
              <a:rPr lang="ko-KR" altLang="en-US" sz="900" dirty="0" smtClean="0"/>
              <a:t>박지성’ </a:t>
            </a:r>
            <a:r>
              <a:rPr lang="en-US" altLang="ko-KR" dirty="0" smtClean="0"/>
              <a:t>(</a:t>
            </a:r>
            <a:r>
              <a:rPr lang="ko-KR" altLang="en-US" dirty="0" smtClean="0"/>
              <a:t>고객</a:t>
            </a:r>
            <a:r>
              <a:rPr lang="en-US" altLang="ko-KR" dirty="0" smtClean="0"/>
              <a:t>×</a:t>
            </a:r>
            <a:r>
              <a:rPr lang="ko-KR" altLang="en-US" dirty="0" smtClean="0"/>
              <a:t>주문</a:t>
            </a:r>
            <a:r>
              <a:rPr lang="en-US" altLang="ko-KR" dirty="0" smtClean="0"/>
              <a:t>))</a:t>
            </a:r>
            <a:endParaRPr lang="ko-KR" altLang="en-US" dirty="0" smtClean="0"/>
          </a:p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4FF8CB-1B16-4E00-A4EE-4D7466DD4E34}"/>
              </a:ext>
            </a:extLst>
          </p:cNvPr>
          <p:cNvSpPr txBox="1"/>
          <p:nvPr/>
        </p:nvSpPr>
        <p:spPr>
          <a:xfrm>
            <a:off x="526867" y="1268760"/>
            <a:ext cx="7152594" cy="373885"/>
          </a:xfrm>
          <a:prstGeom prst="rect">
            <a:avLst/>
          </a:prstGeom>
          <a:solidFill>
            <a:srgbClr val="E6B4C0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질의 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2-12   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마당서점의 박지성 고객의 거래 내역 중 주문번호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이름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가격을 </a:t>
            </a: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보이시오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49356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5D02433-F5E1-418D-8D73-90992067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3.6 </a:t>
            </a:r>
            <a:r>
              <a:rPr lang="ko-KR" altLang="en-US" smtClean="0"/>
              <a:t>관계대수 사용 예제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93C866-D718-43CD-889C-EE667877740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 altLang="ko-KR" smtClean="0"/>
          </a:p>
          <a:p>
            <a:endParaRPr lang="en-US" altLang="ko-KR" smtClean="0"/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EA96003-6157-4AB3-88ED-62D4CB414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897" y="1052736"/>
            <a:ext cx="4196205" cy="573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47009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4557F-9A65-49FD-B1CE-2933CD201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3.6 </a:t>
            </a:r>
            <a:r>
              <a:rPr lang="ko-KR" altLang="en-US" smtClean="0"/>
              <a:t>관계대수 사용 예제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A91B03-6997-4F68-91FB-806C940B418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/>
            <a:r>
              <a:rPr lang="ko-KR" altLang="en-US" dirty="0" smtClean="0"/>
              <a:t>조인을 사용한 연산</a:t>
            </a:r>
            <a:endParaRPr lang="en-US" altLang="ko-KR" dirty="0" smtClean="0"/>
          </a:p>
          <a:p>
            <a:pPr marL="0" lv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π</a:t>
            </a:r>
            <a:r>
              <a:rPr lang="ko-KR" altLang="en-US" sz="900" dirty="0" smtClean="0"/>
              <a:t>주문번호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이름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판매가격</a:t>
            </a:r>
            <a:r>
              <a:rPr lang="ko-KR" altLang="en-US" dirty="0" smtClean="0"/>
              <a:t> </a:t>
            </a:r>
            <a:r>
              <a:rPr lang="en-US" altLang="ko-KR" dirty="0" smtClean="0"/>
              <a:t>(σ</a:t>
            </a:r>
            <a:r>
              <a:rPr lang="ko-KR" altLang="en-US" sz="900" dirty="0" smtClean="0"/>
              <a:t>이름</a:t>
            </a:r>
            <a:r>
              <a:rPr lang="en-US" altLang="ko-KR" sz="900" dirty="0" smtClean="0"/>
              <a:t>=‘</a:t>
            </a:r>
            <a:r>
              <a:rPr lang="ko-KR" altLang="en-US" sz="900" dirty="0" smtClean="0"/>
              <a:t>박지성’ </a:t>
            </a:r>
            <a:r>
              <a:rPr lang="en-US" altLang="ko-KR" dirty="0" smtClean="0"/>
              <a:t>(</a:t>
            </a:r>
            <a:r>
              <a:rPr lang="ko-KR" altLang="en-US" dirty="0" smtClean="0"/>
              <a:t>고객      </a:t>
            </a:r>
            <a:r>
              <a:rPr lang="ko-KR" altLang="en-US" sz="900" dirty="0" err="1" smtClean="0"/>
              <a:t>고객</a:t>
            </a:r>
            <a:r>
              <a:rPr lang="en-US" altLang="ko-KR" sz="900" dirty="0" smtClean="0"/>
              <a:t>.</a:t>
            </a:r>
            <a:r>
              <a:rPr lang="ko-KR" altLang="en-US" sz="900" dirty="0" err="1" smtClean="0"/>
              <a:t>고객번호</a:t>
            </a:r>
            <a:r>
              <a:rPr lang="en-US" altLang="ko-KR" sz="900" dirty="0" smtClean="0"/>
              <a:t>=</a:t>
            </a:r>
            <a:r>
              <a:rPr lang="ko-KR" altLang="en-US" sz="900" dirty="0" smtClean="0"/>
              <a:t>주문</a:t>
            </a:r>
            <a:r>
              <a:rPr lang="en-US" altLang="ko-KR" sz="900" dirty="0" smtClean="0"/>
              <a:t>.</a:t>
            </a:r>
            <a:r>
              <a:rPr lang="ko-KR" altLang="en-US" sz="900" dirty="0" err="1" smtClean="0"/>
              <a:t>고객번호</a:t>
            </a:r>
            <a:r>
              <a:rPr lang="ko-KR" altLang="en-US" dirty="0" smtClean="0"/>
              <a:t> 주문</a:t>
            </a:r>
            <a:r>
              <a:rPr lang="en-US" altLang="ko-KR" dirty="0" smtClean="0"/>
              <a:t>))</a:t>
            </a:r>
          </a:p>
          <a:p>
            <a:pPr lvl="0"/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err="1" smtClean="0"/>
              <a:t>카티전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프로덕트를</a:t>
            </a:r>
            <a:r>
              <a:rPr lang="ko-KR" altLang="en-US" dirty="0" smtClean="0"/>
              <a:t> 사용한 연산 </a:t>
            </a:r>
            <a:r>
              <a:rPr lang="en-US" altLang="ko-KR" dirty="0" smtClean="0"/>
              <a:t>(</a:t>
            </a:r>
            <a:r>
              <a:rPr lang="ko-KR" altLang="en-US" dirty="0" smtClean="0"/>
              <a:t>위 </a:t>
            </a:r>
            <a:r>
              <a:rPr lang="ko-KR" altLang="en-US" dirty="0" err="1" smtClean="0"/>
              <a:t>연산식과</a:t>
            </a:r>
            <a:r>
              <a:rPr lang="ko-KR" altLang="en-US" dirty="0" smtClean="0"/>
              <a:t> 동일함</a:t>
            </a:r>
            <a:r>
              <a:rPr lang="en-US" altLang="ko-KR" dirty="0" smtClean="0"/>
              <a:t>)</a:t>
            </a:r>
          </a:p>
          <a:p>
            <a:pPr marL="0" indent="0">
              <a:buNone/>
            </a:pPr>
            <a:r>
              <a:rPr lang="en-US" altLang="ko-KR" dirty="0" smtClean="0"/>
              <a:t>     π</a:t>
            </a:r>
            <a:r>
              <a:rPr lang="ko-KR" altLang="en-US" sz="900" dirty="0" smtClean="0"/>
              <a:t>주문</a:t>
            </a:r>
            <a:r>
              <a:rPr lang="en-US" altLang="ko-KR" sz="900" dirty="0" smtClean="0"/>
              <a:t>.</a:t>
            </a:r>
            <a:r>
              <a:rPr lang="ko-KR" altLang="en-US" sz="900" dirty="0" smtClean="0"/>
              <a:t>주문번호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고객</a:t>
            </a:r>
            <a:r>
              <a:rPr lang="en-US" altLang="ko-KR" sz="900" dirty="0" smtClean="0"/>
              <a:t>.</a:t>
            </a:r>
            <a:r>
              <a:rPr lang="ko-KR" altLang="en-US" sz="900" dirty="0" smtClean="0"/>
              <a:t>이름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주문</a:t>
            </a:r>
            <a:r>
              <a:rPr lang="en-US" altLang="ko-KR" sz="900" dirty="0" smtClean="0"/>
              <a:t>.</a:t>
            </a:r>
            <a:r>
              <a:rPr lang="ko-KR" altLang="en-US" sz="900" dirty="0" smtClean="0"/>
              <a:t>판매가격 </a:t>
            </a:r>
            <a:r>
              <a:rPr lang="en-US" altLang="ko-KR" dirty="0" smtClean="0"/>
              <a:t>(σ</a:t>
            </a:r>
            <a:r>
              <a:rPr lang="ko-KR" altLang="en-US" sz="900" dirty="0" smtClean="0"/>
              <a:t>고객</a:t>
            </a:r>
            <a:r>
              <a:rPr lang="en-US" altLang="ko-KR" sz="900" dirty="0" smtClean="0"/>
              <a:t>.</a:t>
            </a:r>
            <a:r>
              <a:rPr lang="ko-KR" altLang="en-US" sz="900" dirty="0" err="1" smtClean="0"/>
              <a:t>고객번호</a:t>
            </a:r>
            <a:r>
              <a:rPr lang="en-US" altLang="ko-KR" sz="900" dirty="0" smtClean="0"/>
              <a:t>=</a:t>
            </a:r>
            <a:r>
              <a:rPr lang="ko-KR" altLang="en-US" sz="900" dirty="0" smtClean="0"/>
              <a:t>주문</a:t>
            </a:r>
            <a:r>
              <a:rPr lang="en-US" altLang="ko-KR" sz="900" dirty="0" smtClean="0"/>
              <a:t>.</a:t>
            </a:r>
            <a:r>
              <a:rPr lang="ko-KR" altLang="en-US" sz="900" dirty="0" err="1" smtClean="0"/>
              <a:t>고객번호</a:t>
            </a:r>
            <a:r>
              <a:rPr lang="ko-KR" altLang="en-US" sz="900" dirty="0" smtClean="0"/>
              <a:t> </a:t>
            </a:r>
            <a:r>
              <a:rPr lang="en-US" altLang="ko-KR" sz="900" dirty="0" smtClean="0"/>
              <a:t>AND </a:t>
            </a:r>
            <a:r>
              <a:rPr lang="ko-KR" altLang="en-US" sz="900" dirty="0" smtClean="0"/>
              <a:t>고객</a:t>
            </a:r>
            <a:r>
              <a:rPr lang="en-US" altLang="ko-KR" sz="900" dirty="0" smtClean="0"/>
              <a:t>.</a:t>
            </a:r>
            <a:r>
              <a:rPr lang="ko-KR" altLang="en-US" sz="900" dirty="0" smtClean="0"/>
              <a:t>이름</a:t>
            </a:r>
            <a:r>
              <a:rPr lang="en-US" altLang="ko-KR" sz="900" dirty="0" smtClean="0"/>
              <a:t>=‘</a:t>
            </a:r>
            <a:r>
              <a:rPr lang="ko-KR" altLang="en-US" sz="900" dirty="0" smtClean="0"/>
              <a:t>박지성’ </a:t>
            </a:r>
            <a:r>
              <a:rPr lang="en-US" altLang="ko-KR" dirty="0" smtClean="0"/>
              <a:t>(</a:t>
            </a:r>
            <a:r>
              <a:rPr lang="ko-KR" altLang="en-US" dirty="0" smtClean="0"/>
              <a:t>고객</a:t>
            </a:r>
            <a:r>
              <a:rPr lang="en-US" altLang="ko-KR" dirty="0" smtClean="0"/>
              <a:t>×</a:t>
            </a:r>
            <a:r>
              <a:rPr lang="ko-KR" altLang="en-US" dirty="0" smtClean="0"/>
              <a:t>주문</a:t>
            </a:r>
            <a:r>
              <a:rPr lang="en-US" altLang="ko-KR" dirty="0" smtClean="0"/>
              <a:t>))</a:t>
            </a:r>
            <a:endParaRPr lang="ko-KR" altLang="en-US" dirty="0" smtClean="0"/>
          </a:p>
          <a:p>
            <a:pPr lvl="0"/>
            <a:endParaRPr lang="en-US" altLang="ko-KR" dirty="0" smtClean="0"/>
          </a:p>
          <a:p>
            <a:pPr lvl="0"/>
            <a:endParaRPr lang="en-US" altLang="ko-KR" dirty="0" smtClean="0"/>
          </a:p>
          <a:p>
            <a:pPr lvl="0"/>
            <a:endParaRPr lang="ko-KR" altLang="en-US" dirty="0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5CA276D8-1407-4BD2-833D-5661C6011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45009" y="1628800"/>
            <a:ext cx="362921" cy="216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4755995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4557F-9A65-49FD-B1CE-2933CD201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3.6 </a:t>
            </a:r>
            <a:r>
              <a:rPr lang="ko-KR" altLang="en-US" smtClean="0"/>
              <a:t>관계대수 사용 예제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A91B03-6997-4F68-91FB-806C940B418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/>
            <a:endParaRPr lang="en-US" altLang="ko-KR" dirty="0" smtClean="0"/>
          </a:p>
          <a:p>
            <a:pPr marL="0" lvl="0" indent="0">
              <a:buNone/>
            </a:pPr>
            <a:r>
              <a:rPr lang="en-US" altLang="ko-KR" dirty="0" smtClean="0"/>
              <a:t> </a:t>
            </a:r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87F45BE-B9A3-44FF-8022-73BF1ABBB0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237" y="980728"/>
            <a:ext cx="5225524" cy="580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790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4557F-9A65-49FD-B1CE-2933CD201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연습문제 풀이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FBF5B67-14B6-4320-B713-4BC4973939D1}"/>
              </a:ext>
            </a:extLst>
          </p:cNvPr>
          <p:cNvSpPr txBox="1">
            <a:spLocks/>
          </p:cNvSpPr>
          <p:nvPr/>
        </p:nvSpPr>
        <p:spPr>
          <a:xfrm>
            <a:off x="682606" y="1277144"/>
            <a:ext cx="7705818" cy="416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685800" rtl="0" eaLnBrk="1" latinLnBrk="1" hangingPunct="1">
              <a:lnSpc>
                <a:spcPct val="150000"/>
              </a:lnSpc>
              <a:spcBef>
                <a:spcPts val="0"/>
              </a:spcBef>
              <a:buClr>
                <a:srgbClr val="559E5B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400"/>
              </a:spcAft>
              <a:buClr>
                <a:srgbClr val="9DCBA0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9DCBA0"/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9DCBA0"/>
              </a:buClr>
              <a:buSzPct val="96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buClr>
                <a:srgbClr val="9DCBA0"/>
              </a:buClr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 dirty="0">
                <a:solidFill>
                  <a:srgbClr val="C85873"/>
                </a:solidFill>
              </a:rPr>
              <a:t>6</a:t>
            </a:r>
            <a:r>
              <a:rPr lang="en-US" altLang="ko-KR" sz="1400" dirty="0"/>
              <a:t>  </a:t>
            </a:r>
            <a:r>
              <a:rPr lang="ko-KR" altLang="en-US" sz="1400" dirty="0" err="1"/>
              <a:t>릴레이션에서</a:t>
            </a:r>
            <a:r>
              <a:rPr lang="ko-KR" altLang="en-US" sz="1400" dirty="0"/>
              <a:t> 특정 속성에 해당하는 열을 선택하는 데 사용하며</a:t>
            </a:r>
            <a:r>
              <a:rPr lang="en-US" altLang="ko-KR" sz="1400" dirty="0"/>
              <a:t>, </a:t>
            </a:r>
            <a:r>
              <a:rPr lang="ko-KR" altLang="en-US" sz="1400" dirty="0"/>
              <a:t>릴레이션의 수직적 </a:t>
            </a:r>
            <a:r>
              <a:rPr lang="en-US" altLang="ko-KR" sz="1400" dirty="0"/>
              <a:t/>
            </a:r>
            <a:br>
              <a:rPr lang="en-US" altLang="ko-KR" sz="1400" dirty="0"/>
            </a:br>
            <a:r>
              <a:rPr lang="en-US" altLang="ko-KR" sz="1400" dirty="0" smtClean="0"/>
              <a:t>   </a:t>
            </a:r>
            <a:r>
              <a:rPr lang="ko-KR" altLang="en-US" sz="1400" dirty="0"/>
              <a:t>부분 집합을 반환하는 관계대수 연산자는</a:t>
            </a:r>
            <a:r>
              <a:rPr lang="en-US" altLang="ko-KR" sz="1400" dirty="0"/>
              <a:t>?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b="0" dirty="0"/>
              <a:t>   </a:t>
            </a:r>
            <a:r>
              <a:rPr lang="ko-KR" altLang="en-US" sz="1200" b="0" dirty="0"/>
              <a:t>① </a:t>
            </a:r>
            <a:r>
              <a:rPr lang="en-US" altLang="ko-KR" sz="1200" b="0" dirty="0"/>
              <a:t>projection 	</a:t>
            </a:r>
            <a:r>
              <a:rPr lang="en-US" altLang="ko-KR" sz="1200" b="0" dirty="0" smtClean="0"/>
              <a:t>	</a:t>
            </a:r>
            <a:r>
              <a:rPr lang="ko-KR" altLang="en-US" sz="1200" b="0" dirty="0" smtClean="0"/>
              <a:t>② </a:t>
            </a:r>
            <a:r>
              <a:rPr lang="en-US" altLang="ko-KR" sz="1200" b="0" dirty="0"/>
              <a:t>join</a:t>
            </a:r>
            <a:endParaRPr lang="ko-KR" altLang="en-US" sz="1200" b="0" dirty="0"/>
          </a:p>
          <a:p>
            <a:pPr marL="0" indent="0">
              <a:buNone/>
            </a:pPr>
            <a:r>
              <a:rPr lang="ko-KR" altLang="en-US" sz="1200" b="0" dirty="0"/>
              <a:t>   ③ </a:t>
            </a:r>
            <a:r>
              <a:rPr lang="en-US" altLang="ko-KR" sz="1200" b="0" dirty="0"/>
              <a:t>division    		</a:t>
            </a:r>
            <a:r>
              <a:rPr lang="ko-KR" altLang="en-US" sz="1200" b="0" dirty="0"/>
              <a:t>④ </a:t>
            </a:r>
            <a:r>
              <a:rPr lang="en-US" altLang="ko-KR" sz="1200" b="0" dirty="0"/>
              <a:t>selection</a:t>
            </a:r>
            <a:endParaRPr lang="ko-KR" altLang="en-US" sz="1200" b="0" dirty="0"/>
          </a:p>
          <a:p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>
                <a:solidFill>
                  <a:srgbClr val="C85873"/>
                </a:solidFill>
              </a:rPr>
              <a:t>7</a:t>
            </a:r>
            <a:r>
              <a:rPr lang="en-US" altLang="ko-KR" sz="1400" dirty="0"/>
              <a:t>  </a:t>
            </a:r>
            <a:r>
              <a:rPr lang="ko-KR" altLang="en-US" sz="1400" dirty="0"/>
              <a:t>릴레이션 </a:t>
            </a:r>
            <a:r>
              <a:rPr lang="en-US" altLang="ko-KR" sz="1400" dirty="0"/>
              <a:t>C</a:t>
            </a:r>
            <a:r>
              <a:rPr lang="ko-KR" altLang="en-US" sz="1400" dirty="0"/>
              <a:t>가 릴레이션 </a:t>
            </a:r>
            <a:r>
              <a:rPr lang="en-US" altLang="ko-KR" sz="1400" dirty="0"/>
              <a:t>A(X, Y)</a:t>
            </a:r>
            <a:r>
              <a:rPr lang="ko-KR" altLang="en-US" sz="1400" dirty="0"/>
              <a:t>와 </a:t>
            </a:r>
            <a:r>
              <a:rPr lang="en-US" altLang="ko-KR" sz="1400" dirty="0"/>
              <a:t>B(Y, Z)</a:t>
            </a:r>
            <a:r>
              <a:rPr lang="ko-KR" altLang="en-US" sz="1400" dirty="0"/>
              <a:t>를 자연조인한 결과일 때 다음 중 맞는 설명을     </a:t>
            </a:r>
            <a:r>
              <a:rPr lang="en-US" altLang="ko-KR" sz="1400" dirty="0"/>
              <a:t/>
            </a:r>
            <a:br>
              <a:rPr lang="en-US" altLang="ko-KR" sz="1400" dirty="0"/>
            </a:br>
            <a:r>
              <a:rPr lang="en-US" altLang="ko-KR" sz="1400" dirty="0"/>
              <a:t>   </a:t>
            </a:r>
            <a:r>
              <a:rPr lang="ko-KR" altLang="en-US" sz="1400" dirty="0"/>
              <a:t>모두 고르시오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200" b="0" dirty="0"/>
              <a:t>      ① </a:t>
            </a:r>
            <a:r>
              <a:rPr lang="en-US" altLang="ko-KR" sz="1200" b="0" dirty="0"/>
              <a:t>C</a:t>
            </a:r>
            <a:r>
              <a:rPr lang="ko-KR" altLang="en-US" sz="1200" b="0" dirty="0"/>
              <a:t>의 </a:t>
            </a:r>
            <a:r>
              <a:rPr lang="ko-KR" altLang="en-US" sz="1200" b="0" dirty="0" err="1"/>
              <a:t>카디날리티는</a:t>
            </a:r>
            <a:r>
              <a:rPr lang="ko-KR" altLang="en-US" sz="1200" b="0" dirty="0"/>
              <a:t> </a:t>
            </a:r>
            <a:r>
              <a:rPr lang="en-US" altLang="ko-KR" sz="1200" b="0" dirty="0"/>
              <a:t>A</a:t>
            </a:r>
            <a:r>
              <a:rPr lang="ko-KR" altLang="en-US" sz="1200" b="0" dirty="0"/>
              <a:t>의 </a:t>
            </a:r>
            <a:r>
              <a:rPr lang="ko-KR" altLang="en-US" sz="1200" b="0" dirty="0" err="1"/>
              <a:t>카디날리티보다</a:t>
            </a:r>
            <a:r>
              <a:rPr lang="ko-KR" altLang="en-US" sz="1200" b="0" dirty="0"/>
              <a:t> 많다</a:t>
            </a:r>
            <a:r>
              <a:rPr lang="en-US" altLang="ko-KR" sz="1200" b="0" dirty="0"/>
              <a:t>. </a:t>
            </a:r>
            <a:endParaRPr lang="ko-KR" altLang="en-US" sz="1200" b="0" dirty="0"/>
          </a:p>
          <a:p>
            <a:pPr marL="0" indent="0">
              <a:buNone/>
            </a:pPr>
            <a:r>
              <a:rPr lang="ko-KR" altLang="en-US" sz="1200" b="0" dirty="0"/>
              <a:t>      ② </a:t>
            </a:r>
            <a:r>
              <a:rPr lang="en-US" altLang="ko-KR" sz="1200" b="0" dirty="0"/>
              <a:t>C</a:t>
            </a:r>
            <a:r>
              <a:rPr lang="ko-KR" altLang="en-US" sz="1200" b="0" dirty="0"/>
              <a:t>의 </a:t>
            </a:r>
            <a:r>
              <a:rPr lang="ko-KR" altLang="en-US" sz="1200" b="0" dirty="0" err="1"/>
              <a:t>카디날리티는</a:t>
            </a:r>
            <a:r>
              <a:rPr lang="ko-KR" altLang="en-US" sz="1200" b="0" dirty="0"/>
              <a:t> </a:t>
            </a:r>
            <a:r>
              <a:rPr lang="en-US" altLang="ko-KR" sz="1200" b="0" dirty="0"/>
              <a:t>A</a:t>
            </a:r>
            <a:r>
              <a:rPr lang="ko-KR" altLang="en-US" sz="1200" b="0" dirty="0"/>
              <a:t>의 </a:t>
            </a:r>
            <a:r>
              <a:rPr lang="ko-KR" altLang="en-US" sz="1200" b="0" dirty="0" err="1"/>
              <a:t>카디날리티보다</a:t>
            </a:r>
            <a:r>
              <a:rPr lang="ko-KR" altLang="en-US" sz="1200" b="0" dirty="0"/>
              <a:t> 적다</a:t>
            </a:r>
            <a:r>
              <a:rPr lang="en-US" altLang="ko-KR" sz="1200" b="0" dirty="0"/>
              <a:t>. </a:t>
            </a:r>
            <a:endParaRPr lang="ko-KR" altLang="en-US" sz="1200" b="0" dirty="0"/>
          </a:p>
          <a:p>
            <a:pPr marL="0" indent="0">
              <a:buNone/>
            </a:pPr>
            <a:r>
              <a:rPr lang="ko-KR" altLang="en-US" sz="1200" b="0" dirty="0"/>
              <a:t>      ③ </a:t>
            </a:r>
            <a:r>
              <a:rPr lang="en-US" altLang="ko-KR" sz="1200" b="0" dirty="0"/>
              <a:t>C</a:t>
            </a:r>
            <a:r>
              <a:rPr lang="ko-KR" altLang="en-US" sz="1200" b="0" dirty="0"/>
              <a:t>의 차수는 </a:t>
            </a:r>
            <a:r>
              <a:rPr lang="en-US" altLang="ko-KR" sz="1200" b="0" dirty="0"/>
              <a:t>A</a:t>
            </a:r>
            <a:r>
              <a:rPr lang="ko-KR" altLang="en-US" sz="1200" b="0" dirty="0"/>
              <a:t>의 차수보다 많다</a:t>
            </a:r>
            <a:r>
              <a:rPr lang="en-US" altLang="ko-KR" sz="1200" b="0" dirty="0"/>
              <a:t>.</a:t>
            </a:r>
            <a:endParaRPr lang="ko-KR" altLang="en-US" sz="1200" b="0" dirty="0"/>
          </a:p>
          <a:p>
            <a:pPr marL="0" indent="0">
              <a:buNone/>
            </a:pPr>
            <a:r>
              <a:rPr lang="ko-KR" altLang="en-US" sz="1200" b="0" dirty="0"/>
              <a:t>      ④ </a:t>
            </a:r>
            <a:r>
              <a:rPr lang="en-US" altLang="ko-KR" sz="1200" b="0" dirty="0"/>
              <a:t>C</a:t>
            </a:r>
            <a:r>
              <a:rPr lang="ko-KR" altLang="en-US" sz="1200" b="0" dirty="0"/>
              <a:t>의 차수는 </a:t>
            </a:r>
            <a:r>
              <a:rPr lang="en-US" altLang="ko-KR" sz="1200" b="0" dirty="0"/>
              <a:t>A</a:t>
            </a:r>
            <a:r>
              <a:rPr lang="ko-KR" altLang="en-US" sz="1200" b="0" dirty="0"/>
              <a:t>의 차수보다 적다</a:t>
            </a:r>
            <a:r>
              <a:rPr lang="en-US" altLang="ko-KR" sz="1200" b="0" dirty="0"/>
              <a:t>.</a:t>
            </a:r>
            <a:endParaRPr lang="ko-KR" altLang="en-US" sz="1200" b="0" dirty="0"/>
          </a:p>
          <a:p>
            <a:pPr marL="0" indent="0">
              <a:buNone/>
            </a:pPr>
            <a:r>
              <a:rPr lang="ko-KR" altLang="en-US" sz="1200" b="0" dirty="0"/>
              <a:t>      ⑤ 모두 틀리다</a:t>
            </a:r>
            <a:r>
              <a:rPr lang="en-US" altLang="ko-KR" sz="1200" b="0" dirty="0"/>
              <a:t>.</a:t>
            </a:r>
            <a:endParaRPr lang="ko-KR" altLang="en-US" sz="1200" b="0" dirty="0"/>
          </a:p>
          <a:p>
            <a:pPr defTabSz="914400" eaLnBrk="0" fontAlgn="base" hangingPunct="0">
              <a:spcAft>
                <a:spcPct val="0"/>
              </a:spcAft>
              <a:buClr>
                <a:srgbClr val="0070C0"/>
              </a:buClr>
              <a:buFont typeface="Wingdings" pitchFamily="2" charset="2"/>
              <a:buNone/>
            </a:pPr>
            <a:r>
              <a:rPr lang="en-US" altLang="ko-KR" sz="1400" dirty="0">
                <a:solidFill>
                  <a:prstClr val="black"/>
                </a:solidFill>
              </a:rPr>
              <a:t> 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0189826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4557F-9A65-49FD-B1CE-2933CD201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연습문제 풀이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14E3041E-7E2A-4B14-9F2C-B2B12BCC8F4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ko-KR" dirty="0" smtClean="0"/>
              <a:t> </a:t>
            </a:r>
            <a:r>
              <a:rPr lang="en-US" altLang="ko-KR" dirty="0">
                <a:solidFill>
                  <a:srgbClr val="C85873"/>
                </a:solidFill>
              </a:rPr>
              <a:t>17 </a:t>
            </a:r>
            <a:r>
              <a:rPr lang="en-US" altLang="ko-KR" dirty="0" smtClean="0"/>
              <a:t> </a:t>
            </a:r>
            <a:r>
              <a:rPr lang="ko-KR" altLang="en-US" dirty="0" smtClean="0"/>
              <a:t>다음 릴레이션에서 </a:t>
            </a:r>
            <a:r>
              <a:rPr lang="ko-KR" altLang="en-US" dirty="0" err="1" smtClean="0"/>
              <a:t>관계대수</a:t>
            </a:r>
            <a:r>
              <a:rPr lang="ko-KR" altLang="en-US" dirty="0" smtClean="0"/>
              <a:t> 식의 결과를 작성하시오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>
                <a:solidFill>
                  <a:srgbClr val="C85873"/>
                </a:solidFill>
              </a:rPr>
              <a:t> 18  </a:t>
            </a:r>
            <a:r>
              <a:rPr lang="ko-KR" altLang="en-US" dirty="0" smtClean="0"/>
              <a:t>다음 수강신청 관련 </a:t>
            </a:r>
            <a:r>
              <a:rPr lang="ko-KR" altLang="en-US" dirty="0" err="1" smtClean="0"/>
              <a:t>릴레이션에</a:t>
            </a:r>
            <a:r>
              <a:rPr lang="ko-KR" altLang="en-US" dirty="0" smtClean="0"/>
              <a:t> 대한 </a:t>
            </a:r>
            <a:r>
              <a:rPr lang="ko-KR" altLang="en-US" dirty="0" err="1" smtClean="0"/>
              <a:t>질의문을</a:t>
            </a:r>
            <a:r>
              <a:rPr lang="ko-KR" altLang="en-US" dirty="0" smtClean="0"/>
              <a:t> 관계대수식으로 </a:t>
            </a:r>
            <a:r>
              <a:rPr lang="ko-KR" altLang="en-US" dirty="0" err="1" smtClean="0"/>
              <a:t>표현하시오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	</a:t>
            </a:r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r>
              <a:rPr lang="en-US" altLang="ko-KR" sz="1400" b="0" dirty="0" smtClean="0"/>
              <a:t>(1) </a:t>
            </a:r>
            <a:r>
              <a:rPr lang="ko-KR" altLang="en-US" sz="1400" b="0" dirty="0" err="1" smtClean="0"/>
              <a:t>과목코드가</a:t>
            </a:r>
            <a:r>
              <a:rPr lang="ko-KR" altLang="en-US" sz="1400" b="0" dirty="0" smtClean="0"/>
              <a:t> </a:t>
            </a:r>
            <a:r>
              <a:rPr lang="en-US" altLang="ko-KR" sz="1400" b="0" dirty="0" smtClean="0"/>
              <a:t>1234</a:t>
            </a:r>
            <a:r>
              <a:rPr lang="ko-KR" altLang="en-US" sz="1400" b="0" dirty="0" smtClean="0"/>
              <a:t>이고</a:t>
            </a:r>
            <a:r>
              <a:rPr lang="en-US" altLang="ko-KR" sz="1400" b="0" dirty="0" smtClean="0"/>
              <a:t>, </a:t>
            </a:r>
            <a:r>
              <a:rPr lang="ko-KR" altLang="en-US" sz="1400" b="0" dirty="0" smtClean="0"/>
              <a:t>성적이 </a:t>
            </a:r>
            <a:r>
              <a:rPr lang="en-US" altLang="ko-KR" sz="1400" b="0" dirty="0" smtClean="0"/>
              <a:t>A</a:t>
            </a:r>
            <a:r>
              <a:rPr lang="ko-KR" altLang="en-US" sz="1400" b="0" dirty="0" smtClean="0"/>
              <a:t>인 모든 학생의 학번을 보이시오</a:t>
            </a:r>
            <a:r>
              <a:rPr lang="en-US" altLang="ko-KR" sz="1400" b="0" dirty="0" smtClean="0"/>
              <a:t>.</a:t>
            </a:r>
          </a:p>
          <a:p>
            <a:pPr marL="0" indent="0">
              <a:buNone/>
            </a:pPr>
            <a:r>
              <a:rPr lang="en-US" altLang="ko-KR" sz="1400" b="0" dirty="0" smtClean="0"/>
              <a:t>  (2) </a:t>
            </a:r>
            <a:r>
              <a:rPr lang="ko-KR" altLang="en-US" sz="1400" b="0" dirty="0" err="1" smtClean="0"/>
              <a:t>과목코드가</a:t>
            </a:r>
            <a:r>
              <a:rPr lang="ko-KR" altLang="en-US" sz="1400" b="0" dirty="0" smtClean="0"/>
              <a:t> </a:t>
            </a:r>
            <a:r>
              <a:rPr lang="en-US" altLang="ko-KR" sz="1400" b="0" dirty="0" smtClean="0"/>
              <a:t>1234</a:t>
            </a:r>
            <a:r>
              <a:rPr lang="ko-KR" altLang="en-US" sz="1400" b="0" dirty="0" smtClean="0"/>
              <a:t>인 과목을 등록한 학생의 이름과 전공을 보이시오</a:t>
            </a:r>
            <a:r>
              <a:rPr lang="en-US" altLang="ko-KR" sz="1400" b="0" dirty="0" smtClean="0"/>
              <a:t>.</a:t>
            </a:r>
          </a:p>
          <a:p>
            <a:pPr marL="0" indent="0">
              <a:buNone/>
            </a:pPr>
            <a:r>
              <a:rPr lang="en-US" altLang="ko-KR" sz="1400" b="0" dirty="0" smtClean="0"/>
              <a:t>  (3) </a:t>
            </a:r>
            <a:r>
              <a:rPr lang="ko-KR" altLang="en-US" sz="1400" b="0" dirty="0" smtClean="0"/>
              <a:t>과목 </a:t>
            </a:r>
            <a:r>
              <a:rPr lang="en-US" altLang="ko-KR" sz="1400" b="0" dirty="0" smtClean="0"/>
              <a:t>1234</a:t>
            </a:r>
            <a:r>
              <a:rPr lang="ko-KR" altLang="en-US" sz="1400" b="0" dirty="0" smtClean="0"/>
              <a:t>에 등록하지 않은 학생의 이름을 보이시오</a:t>
            </a:r>
            <a:r>
              <a:rPr lang="en-US" altLang="ko-KR" sz="1400" b="0" dirty="0" smtClean="0"/>
              <a:t>. </a:t>
            </a:r>
          </a:p>
          <a:p>
            <a:pPr marL="0" indent="0">
              <a:buNone/>
            </a:pPr>
            <a:r>
              <a:rPr lang="en-US" altLang="ko-KR" sz="1400" b="0" dirty="0" smtClean="0"/>
              <a:t>  (4) </a:t>
            </a:r>
            <a:r>
              <a:rPr lang="ko-KR" altLang="en-US" sz="1400" b="0" dirty="0" smtClean="0"/>
              <a:t>모든 과목에 등록한 학생의 이름을 보이시오</a:t>
            </a:r>
            <a:r>
              <a:rPr lang="en-US" altLang="ko-KR" sz="1400" b="0" dirty="0" smtClean="0"/>
              <a:t>. (</a:t>
            </a:r>
            <a:r>
              <a:rPr lang="ko-KR" altLang="en-US" sz="1400" b="0" dirty="0" smtClean="0">
                <a:solidFill>
                  <a:srgbClr val="FF0000"/>
                </a:solidFill>
              </a:rPr>
              <a:t>디비전 연산자 </a:t>
            </a:r>
            <a:r>
              <a:rPr lang="ko-KR" altLang="en-US" sz="1400" b="0" dirty="0" smtClean="0"/>
              <a:t>사용</a:t>
            </a:r>
            <a:r>
              <a:rPr lang="en-US" altLang="ko-KR" sz="1400" b="0" dirty="0" smtClean="0"/>
              <a:t>)</a:t>
            </a: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DF25308-EA66-41B3-A270-D9AFFBFA3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3933056"/>
            <a:ext cx="3852428" cy="117136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459BF7D-C432-45A7-A039-BE7CB950CD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706" y="1617008"/>
            <a:ext cx="4248472" cy="162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54694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4557F-9A65-49FD-B1CE-2933CD201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연습문제 풀이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14E3041E-7E2A-4B14-9F2C-B2B12BCC8F4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 smtClean="0">
                <a:solidFill>
                  <a:srgbClr val="C85873"/>
                </a:solidFill>
              </a:rPr>
              <a:t>20</a:t>
            </a:r>
            <a:r>
              <a:rPr lang="en-US" altLang="ko-KR" dirty="0" smtClean="0"/>
              <a:t>  [</a:t>
            </a:r>
            <a:r>
              <a:rPr lang="ko-KR" altLang="en-US" dirty="0" smtClean="0"/>
              <a:t>판매원 데이터베이스</a:t>
            </a:r>
            <a:r>
              <a:rPr lang="en-US" altLang="ko-KR" dirty="0" smtClean="0"/>
              <a:t>] </a:t>
            </a:r>
            <a:r>
              <a:rPr lang="ko-KR" altLang="en-US" dirty="0" smtClean="0"/>
              <a:t>다음 </a:t>
            </a:r>
            <a:r>
              <a:rPr lang="ko-KR" altLang="en-US" dirty="0" err="1" smtClean="0"/>
              <a:t>릴레이션을</a:t>
            </a:r>
            <a:r>
              <a:rPr lang="ko-KR" altLang="en-US" dirty="0" smtClean="0"/>
              <a:t> 보고 물음에 답하시오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b="0" dirty="0" smtClean="0"/>
          </a:p>
          <a:p>
            <a:pPr marL="0" indent="0">
              <a:buNone/>
            </a:pPr>
            <a:endParaRPr lang="en-US" altLang="ko-KR" b="0" dirty="0" smtClean="0"/>
          </a:p>
          <a:p>
            <a:pPr marL="0" indent="0">
              <a:buNone/>
            </a:pPr>
            <a:r>
              <a:rPr lang="en-US" altLang="ko-KR" sz="1200" b="0" dirty="0" smtClean="0"/>
              <a:t>(1) </a:t>
            </a:r>
            <a:r>
              <a:rPr lang="ko-KR" altLang="en-US" sz="1200" b="0" dirty="0" smtClean="0"/>
              <a:t>모든 판매원</a:t>
            </a:r>
            <a:r>
              <a:rPr lang="en-US" altLang="ko-KR" sz="1200" b="0" dirty="0" smtClean="0"/>
              <a:t>(Salesperson)</a:t>
            </a:r>
            <a:r>
              <a:rPr lang="ko-KR" altLang="en-US" sz="1200" b="0" dirty="0" smtClean="0"/>
              <a:t>의 이름을 보이시오</a:t>
            </a:r>
            <a:r>
              <a:rPr lang="en-US" altLang="ko-KR" sz="1200" b="0" dirty="0" smtClean="0"/>
              <a:t>.</a:t>
            </a:r>
          </a:p>
          <a:p>
            <a:pPr marL="0" indent="0">
              <a:buNone/>
            </a:pPr>
            <a:r>
              <a:rPr lang="en-US" altLang="ko-KR" sz="1200" b="0" dirty="0" smtClean="0"/>
              <a:t>(2) </a:t>
            </a:r>
            <a:r>
              <a:rPr lang="ko-KR" altLang="en-US" sz="1200" b="0" dirty="0" smtClean="0"/>
              <a:t>고객 ‘</a:t>
            </a:r>
            <a:r>
              <a:rPr lang="ko-KR" altLang="en-US" sz="1200" b="0" dirty="0" err="1" smtClean="0"/>
              <a:t>홍길동’의</a:t>
            </a:r>
            <a:r>
              <a:rPr lang="ko-KR" altLang="en-US" sz="1200" b="0" dirty="0" smtClean="0"/>
              <a:t> 주문을 수주한 판매원의 이름을 보이시오</a:t>
            </a:r>
            <a:r>
              <a:rPr lang="en-US" altLang="ko-KR" sz="1200" b="0" dirty="0" smtClean="0"/>
              <a:t>.</a:t>
            </a:r>
          </a:p>
          <a:p>
            <a:pPr marL="0" indent="0">
              <a:buNone/>
            </a:pPr>
            <a:r>
              <a:rPr lang="en-US" altLang="ko-KR" sz="1200" b="0" dirty="0" smtClean="0"/>
              <a:t>(3) </a:t>
            </a:r>
            <a:r>
              <a:rPr lang="ko-KR" altLang="en-US" sz="1200" b="0" dirty="0" smtClean="0"/>
              <a:t>주문이 있는 판매원의 이름을 보이시오</a:t>
            </a:r>
            <a:r>
              <a:rPr lang="en-US" altLang="ko-KR" sz="1200" b="0" dirty="0" smtClean="0"/>
              <a:t>.</a:t>
            </a:r>
          </a:p>
          <a:p>
            <a:pPr marL="0" indent="0">
              <a:buNone/>
            </a:pPr>
            <a:r>
              <a:rPr lang="en-US" altLang="ko-KR" sz="1200" b="0" dirty="0" smtClean="0"/>
              <a:t>(4) </a:t>
            </a:r>
            <a:r>
              <a:rPr lang="ko-KR" altLang="en-US" sz="1200" b="0" dirty="0" smtClean="0"/>
              <a:t>주문이 없는 판매원의 이름을 보이시오</a:t>
            </a:r>
            <a:r>
              <a:rPr lang="en-US" altLang="ko-KR" sz="1200" b="0" dirty="0" smtClean="0"/>
              <a:t>.</a:t>
            </a:r>
          </a:p>
          <a:p>
            <a:pPr marL="0" indent="0">
              <a:buNone/>
            </a:pPr>
            <a:r>
              <a:rPr lang="en-US" altLang="ko-KR" sz="1200" b="0" dirty="0" smtClean="0"/>
              <a:t>(5) </a:t>
            </a:r>
            <a:r>
              <a:rPr lang="ko-KR" altLang="en-US" sz="1200" b="0" dirty="0" smtClean="0"/>
              <a:t>고객 ‘</a:t>
            </a:r>
            <a:r>
              <a:rPr lang="ko-KR" altLang="en-US" sz="1200" b="0" dirty="0" err="1" smtClean="0"/>
              <a:t>홍길동’의</a:t>
            </a:r>
            <a:r>
              <a:rPr lang="ko-KR" altLang="en-US" sz="1200" b="0" dirty="0" smtClean="0"/>
              <a:t> 주문을 수주한 판매원의 나이를 보이시오</a:t>
            </a:r>
            <a:r>
              <a:rPr lang="en-US" altLang="ko-KR" sz="1200" b="0" dirty="0" smtClean="0"/>
              <a:t>.</a:t>
            </a:r>
          </a:p>
          <a:p>
            <a:pPr marL="0" indent="0">
              <a:buNone/>
            </a:pPr>
            <a:r>
              <a:rPr lang="en-US" altLang="ko-KR" sz="1200" b="0" dirty="0" smtClean="0"/>
              <a:t>(6) </a:t>
            </a:r>
            <a:r>
              <a:rPr lang="ko-KR" altLang="en-US" sz="1200" b="0" dirty="0" smtClean="0"/>
              <a:t>나이가 </a:t>
            </a:r>
            <a:r>
              <a:rPr lang="en-US" altLang="ko-KR" sz="1200" b="0" dirty="0" smtClean="0"/>
              <a:t>25</a:t>
            </a:r>
            <a:r>
              <a:rPr lang="ko-KR" altLang="en-US" sz="1200" b="0" dirty="0" smtClean="0"/>
              <a:t>살인 판매원에게 주문한 고객의 </a:t>
            </a:r>
            <a:r>
              <a:rPr lang="en-US" altLang="ko-KR" sz="1200" b="0" dirty="0" smtClean="0"/>
              <a:t>city </a:t>
            </a:r>
            <a:r>
              <a:rPr lang="ko-KR" altLang="en-US" sz="1200" b="0" dirty="0" smtClean="0"/>
              <a:t>값을 보이시오</a:t>
            </a:r>
            <a:r>
              <a:rPr lang="en-US" altLang="ko-KR" sz="1200" b="0" dirty="0" smtClean="0"/>
              <a:t>.</a:t>
            </a:r>
          </a:p>
          <a:p>
            <a:pPr marL="0" indent="0">
              <a:buNone/>
            </a:pPr>
            <a:r>
              <a:rPr lang="en-US" altLang="ko-KR" sz="1200" b="0" dirty="0" smtClean="0"/>
              <a:t>(7) </a:t>
            </a:r>
            <a:r>
              <a:rPr lang="ko-KR" altLang="en-US" sz="1200" b="0" dirty="0" smtClean="0"/>
              <a:t>판매원의 이름과 그 판매원에게 주문을 한 고객의 이름을 보이시오</a:t>
            </a:r>
            <a:r>
              <a:rPr lang="en-US" altLang="ko-KR" sz="1200" b="0" dirty="0" smtClean="0"/>
              <a:t>. </a:t>
            </a:r>
            <a:r>
              <a:rPr lang="ko-KR" altLang="en-US" sz="1200" b="0" dirty="0" smtClean="0"/>
              <a:t>단 주문이 없는 판매원도</a:t>
            </a:r>
            <a:r>
              <a:rPr lang="en-US" altLang="ko-KR" sz="1200" b="0" dirty="0" smtClean="0"/>
              <a:t> </a:t>
            </a:r>
            <a:r>
              <a:rPr lang="ko-KR" altLang="en-US" sz="1200" b="0" dirty="0" smtClean="0"/>
              <a:t>포함하여 구한다</a:t>
            </a:r>
            <a:r>
              <a:rPr lang="en-US" altLang="ko-KR" sz="1200" b="0" dirty="0" smtClean="0"/>
              <a:t>.</a:t>
            </a:r>
            <a:endParaRPr lang="ko-KR" altLang="en-US" sz="1200" b="0" dirty="0" smtClean="0"/>
          </a:p>
          <a:p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2FDE775-F17F-4847-A0E3-5B9B41216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772816"/>
            <a:ext cx="7262446" cy="120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28810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6828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1485</TotalTime>
  <Words>2751</Words>
  <Application>Microsoft Office PowerPoint</Application>
  <PresentationFormat>화면 슬라이드 쇼(4:3)</PresentationFormat>
  <Paragraphs>478</Paragraphs>
  <Slides>71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71</vt:i4>
      </vt:variant>
    </vt:vector>
  </HeadingPairs>
  <TitlesOfParts>
    <vt:vector size="78" baseType="lpstr">
      <vt:lpstr>HY견고딕</vt:lpstr>
      <vt:lpstr>맑은 고딕</vt:lpstr>
      <vt:lpstr>Arial</vt:lpstr>
      <vt:lpstr>Symbol</vt:lpstr>
      <vt:lpstr>Tahoma</vt:lpstr>
      <vt:lpstr>Wingdings</vt:lpstr>
      <vt:lpstr>Office 테마</vt:lpstr>
      <vt:lpstr>PowerPoint 프레젠테이션</vt:lpstr>
      <vt:lpstr>02 데이터베이스 시스템의 발전</vt:lpstr>
      <vt:lpstr>PowerPoint 프레젠테이션</vt:lpstr>
      <vt:lpstr>PowerPoint 프레젠테이션</vt:lpstr>
      <vt:lpstr>01. 관계 데이터 모델의 개념</vt:lpstr>
      <vt:lpstr>1.1 릴레이션의 개념</vt:lpstr>
      <vt:lpstr>1.1 릴레이션의 개념</vt:lpstr>
      <vt:lpstr>1.1 릴레이션의 개념</vt:lpstr>
      <vt:lpstr>1.2 릴레이션 스키마와 인스턴스</vt:lpstr>
      <vt:lpstr>1.2 릴레이션 스키마와 인스턴스</vt:lpstr>
      <vt:lpstr>1.2 릴레이션 스키마와 인스턴스</vt:lpstr>
      <vt:lpstr>1.3 릴레이션의 특징</vt:lpstr>
      <vt:lpstr>1.3 릴레이션의 특징</vt:lpstr>
      <vt:lpstr>1.4 관계 데이터 모델</vt:lpstr>
      <vt:lpstr>연습문제 풀이</vt:lpstr>
      <vt:lpstr>02. 무결성 제약조건</vt:lpstr>
      <vt:lpstr>2.1 키</vt:lpstr>
      <vt:lpstr>2.1 키</vt:lpstr>
      <vt:lpstr>슈퍼키</vt:lpstr>
      <vt:lpstr>  </vt:lpstr>
      <vt:lpstr>  </vt:lpstr>
      <vt:lpstr>  </vt:lpstr>
      <vt:lpstr>  </vt:lpstr>
      <vt:lpstr>  </vt:lpstr>
      <vt:lpstr>  </vt:lpstr>
      <vt:lpstr>  </vt:lpstr>
      <vt:lpstr>2.1 키 – 내용 요약</vt:lpstr>
      <vt:lpstr>2.2 무결성 제약조건</vt:lpstr>
      <vt:lpstr>2.2 무결성 제약조건</vt:lpstr>
      <vt:lpstr>2.3 무결성의 제약조건의 수행</vt:lpstr>
      <vt:lpstr>2.3 무결성의 수행 제약조건</vt:lpstr>
      <vt:lpstr>2.3 무결성의 수행 제약조건</vt:lpstr>
      <vt:lpstr>2.3 무결성의 수행 제약조건</vt:lpstr>
      <vt:lpstr>2.3.2 참조 무결성 제약조건</vt:lpstr>
      <vt:lpstr>연습문제 풀이</vt:lpstr>
      <vt:lpstr>03. 관계대수</vt:lpstr>
      <vt:lpstr>3.1 관계대수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3.6 관계대수 사용 예제</vt:lpstr>
      <vt:lpstr>3.6 관계대수 사용 예제</vt:lpstr>
      <vt:lpstr>3.6 관계대수 사용 예제</vt:lpstr>
      <vt:lpstr>3.6 관계대수 사용 예제</vt:lpstr>
      <vt:lpstr>3.6 관계대수 사용 예제</vt:lpstr>
      <vt:lpstr>3.6 관계대수 사용 예제</vt:lpstr>
      <vt:lpstr>연습문제 풀이</vt:lpstr>
      <vt:lpstr>연습문제 풀이</vt:lpstr>
      <vt:lpstr>연습문제 풀이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ㅇㅅㅇ</dc:creator>
  <cp:lastModifiedBy>admin</cp:lastModifiedBy>
  <cp:revision>79</cp:revision>
  <dcterms:created xsi:type="dcterms:W3CDTF">2020-06-18T03:20:34Z</dcterms:created>
  <dcterms:modified xsi:type="dcterms:W3CDTF">2021-02-23T19:53:28Z</dcterms:modified>
</cp:coreProperties>
</file>