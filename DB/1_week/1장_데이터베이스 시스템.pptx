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3"/>
  </p:notesMasterIdLst>
  <p:handoutMasterIdLst>
    <p:handoutMasterId r:id="rId64"/>
  </p:handoutMasterIdLst>
  <p:sldIdLst>
    <p:sldId id="461" r:id="rId2"/>
    <p:sldId id="522" r:id="rId3"/>
    <p:sldId id="386" r:id="rId4"/>
    <p:sldId id="387" r:id="rId5"/>
    <p:sldId id="460" r:id="rId6"/>
    <p:sldId id="463" r:id="rId7"/>
    <p:sldId id="464" r:id="rId8"/>
    <p:sldId id="465" r:id="rId9"/>
    <p:sldId id="466" r:id="rId10"/>
    <p:sldId id="467" r:id="rId11"/>
    <p:sldId id="469" r:id="rId12"/>
    <p:sldId id="470" r:id="rId13"/>
    <p:sldId id="471" r:id="rId14"/>
    <p:sldId id="472" r:id="rId15"/>
    <p:sldId id="473" r:id="rId16"/>
    <p:sldId id="474" r:id="rId17"/>
    <p:sldId id="475" r:id="rId18"/>
    <p:sldId id="476" r:id="rId19"/>
    <p:sldId id="477" r:id="rId20"/>
    <p:sldId id="478" r:id="rId21"/>
    <p:sldId id="479" r:id="rId22"/>
    <p:sldId id="480" r:id="rId23"/>
    <p:sldId id="482" r:id="rId24"/>
    <p:sldId id="483" r:id="rId25"/>
    <p:sldId id="484" r:id="rId26"/>
    <p:sldId id="485" r:id="rId27"/>
    <p:sldId id="486" r:id="rId28"/>
    <p:sldId id="487" r:id="rId29"/>
    <p:sldId id="489" r:id="rId30"/>
    <p:sldId id="488" r:id="rId31"/>
    <p:sldId id="490" r:id="rId32"/>
    <p:sldId id="491" r:id="rId33"/>
    <p:sldId id="492" r:id="rId34"/>
    <p:sldId id="493" r:id="rId35"/>
    <p:sldId id="494" r:id="rId36"/>
    <p:sldId id="495" r:id="rId37"/>
    <p:sldId id="496" r:id="rId38"/>
    <p:sldId id="497" r:id="rId39"/>
    <p:sldId id="498" r:id="rId40"/>
    <p:sldId id="499" r:id="rId41"/>
    <p:sldId id="500" r:id="rId42"/>
    <p:sldId id="501" r:id="rId43"/>
    <p:sldId id="502" r:id="rId44"/>
    <p:sldId id="503" r:id="rId45"/>
    <p:sldId id="504" r:id="rId46"/>
    <p:sldId id="505" r:id="rId47"/>
    <p:sldId id="506" r:id="rId48"/>
    <p:sldId id="507" r:id="rId49"/>
    <p:sldId id="509" r:id="rId50"/>
    <p:sldId id="508" r:id="rId51"/>
    <p:sldId id="510" r:id="rId52"/>
    <p:sldId id="511" r:id="rId53"/>
    <p:sldId id="513" r:id="rId54"/>
    <p:sldId id="514" r:id="rId55"/>
    <p:sldId id="515" r:id="rId56"/>
    <p:sldId id="516" r:id="rId57"/>
    <p:sldId id="517" r:id="rId58"/>
    <p:sldId id="518" r:id="rId59"/>
    <p:sldId id="519" r:id="rId60"/>
    <p:sldId id="521" r:id="rId61"/>
    <p:sldId id="385" r:id="rId6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5873"/>
    <a:srgbClr val="DB91A3"/>
    <a:srgbClr val="E6B4C0"/>
    <a:srgbClr val="0000CC"/>
    <a:srgbClr val="F3DDE2"/>
    <a:srgbClr val="EDCAD2"/>
    <a:srgbClr val="D6D9DA"/>
    <a:srgbClr val="FFE6AD"/>
    <a:srgbClr val="AD5693"/>
    <a:srgbClr val="974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29" autoAdjust="0"/>
    <p:restoredTop sz="98898" autoAdjust="0"/>
  </p:normalViewPr>
  <p:slideViewPr>
    <p:cSldViewPr>
      <p:cViewPr varScale="1">
        <p:scale>
          <a:sx n="76" d="100"/>
          <a:sy n="76" d="100"/>
        </p:scale>
        <p:origin x="2772" y="90"/>
      </p:cViewPr>
      <p:guideLst>
        <p:guide orient="horz" pos="119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-4080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/>
              <a:pPr/>
              <a:t>2021-02-24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F0AE-7B65-4C9A-8729-A5D1A0ABE57B}" type="datetimeFigureOut">
              <a:rPr lang="ko-KR" altLang="en-US" smtClean="0"/>
              <a:pPr/>
              <a:t>2021-02-24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72E7F-A2FE-4F50-A94D-8786A43CAC6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8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저작권">
    <p:bg>
      <p:bgPr>
        <a:solidFill>
          <a:srgbClr val="D6D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7">
            <a:extLst>
              <a:ext uri="{FF2B5EF4-FFF2-40B4-BE49-F238E27FC236}">
                <a16:creationId xmlns:a16="http://schemas.microsoft.com/office/drawing/2014/main" id="{86410889-0442-4231-B9CA-3F0F289FD4E1}"/>
              </a:ext>
            </a:extLst>
          </p:cNvPr>
          <p:cNvSpPr txBox="1"/>
          <p:nvPr userDrawn="1"/>
        </p:nvSpPr>
        <p:spPr>
          <a:xfrm>
            <a:off x="467544" y="5574217"/>
            <a:ext cx="7991475" cy="135421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[</a:t>
            </a:r>
            <a:r>
              <a:rPr kumimoji="0"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강의교안 이용 안내</a:t>
            </a:r>
            <a:r>
              <a:rPr kumimoji="0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ea typeface="맑은 고딕" pitchFamily="50" charset="-127"/>
              </a:rPr>
              <a:t>]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ea typeface="맑은 고딕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dirty="0">
                <a:ea typeface="맑은 고딕" pitchFamily="50" charset="-127"/>
              </a:rPr>
              <a:t>본 강의교안의 저작권은 </a:t>
            </a:r>
            <a:r>
              <a:rPr kumimoji="0" lang="ko-KR" altLang="en-US" sz="1000" dirty="0" err="1">
                <a:ea typeface="맑은 고딕" pitchFamily="50" charset="-127"/>
              </a:rPr>
              <a:t>한빛아카데미</a:t>
            </a:r>
            <a:r>
              <a:rPr kumimoji="0" lang="ko-KR" altLang="en-US" sz="1000" dirty="0">
                <a:ea typeface="맑은 고딕" pitchFamily="50" charset="-127"/>
              </a:rPr>
              <a:t>㈜에 있습니다</a:t>
            </a:r>
            <a:r>
              <a:rPr kumimoji="0" lang="en-US" altLang="ko-KR" sz="1000" dirty="0">
                <a:ea typeface="맑은 고딕" pitchFamily="50" charset="-127"/>
              </a:rPr>
              <a:t>.</a:t>
            </a:r>
            <a:r>
              <a:rPr kumimoji="0" lang="ko-KR" altLang="en-US" sz="1000" dirty="0">
                <a:solidFill>
                  <a:srgbClr val="222222"/>
                </a:solidFill>
                <a:ea typeface="맑은 고딕" pitchFamily="50" charset="-127"/>
              </a:rPr>
              <a:t> </a:t>
            </a: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marL="171450" indent="-17145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이 자료를 무단으로 전제하거나 배포할 경우 저작권법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136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조에 의거하여 최고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5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년 이하의 징역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 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또는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5</a:t>
            </a:r>
            <a:r>
              <a:rPr kumimoji="0" lang="ko-KR" altLang="en-US" sz="1000" u="sng" dirty="0" err="1">
                <a:solidFill>
                  <a:srgbClr val="222222"/>
                </a:solidFill>
                <a:ea typeface="맑은 고딕" pitchFamily="50" charset="-127"/>
              </a:rPr>
              <a:t>천만원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 이하의 벌금에 처할 수 있고 이를 병과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(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倂科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)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할 수도 있습니다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.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83568" y="339772"/>
            <a:ext cx="6009316" cy="5185625"/>
            <a:chOff x="-31235" y="260648"/>
            <a:chExt cx="6009316" cy="5185625"/>
          </a:xfrm>
        </p:grpSpPr>
        <p:grpSp>
          <p:nvGrpSpPr>
            <p:cNvPr id="13" name="그룹 12"/>
            <p:cNvGrpSpPr/>
            <p:nvPr userDrawn="1"/>
          </p:nvGrpSpPr>
          <p:grpSpPr>
            <a:xfrm>
              <a:off x="-31235" y="260648"/>
              <a:ext cx="5897935" cy="5185625"/>
              <a:chOff x="-31235" y="260648"/>
              <a:chExt cx="5897935" cy="5185625"/>
            </a:xfrm>
          </p:grpSpPr>
          <p:pic>
            <p:nvPicPr>
              <p:cNvPr id="16" name="그림 15"/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-31235" y="260648"/>
                <a:ext cx="5897935" cy="5185624"/>
              </a:xfrm>
              <a:prstGeom prst="rect">
                <a:avLst/>
              </a:prstGeom>
            </p:spPr>
          </p:pic>
          <p:pic>
            <p:nvPicPr>
              <p:cNvPr id="17" name="그림 16"/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893169" y="4869161"/>
                <a:ext cx="686943" cy="577112"/>
              </a:xfrm>
              <a:prstGeom prst="rect">
                <a:avLst/>
              </a:prstGeom>
            </p:spPr>
          </p:pic>
          <p:pic>
            <p:nvPicPr>
              <p:cNvPr id="20" name="그림 19"/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739074" y="5187357"/>
                <a:ext cx="308189" cy="258915"/>
              </a:xfrm>
              <a:prstGeom prst="rect">
                <a:avLst/>
              </a:prstGeom>
            </p:spPr>
          </p:pic>
        </p:grpSp>
        <p:pic>
          <p:nvPicPr>
            <p:cNvPr id="14" name="그림 13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866614" y="274787"/>
              <a:ext cx="111467" cy="158400"/>
            </a:xfrm>
            <a:prstGeom prst="rect">
              <a:avLst/>
            </a:prstGeom>
          </p:spPr>
        </p:pic>
      </p:grpSp>
      <p:grpSp>
        <p:nvGrpSpPr>
          <p:cNvPr id="21" name="그룹 20"/>
          <p:cNvGrpSpPr/>
          <p:nvPr userDrawn="1"/>
        </p:nvGrpSpPr>
        <p:grpSpPr>
          <a:xfrm>
            <a:off x="6266935" y="836712"/>
            <a:ext cx="2525558" cy="2257027"/>
            <a:chOff x="5070778" y="1749430"/>
            <a:chExt cx="2525558" cy="2257027"/>
          </a:xfrm>
        </p:grpSpPr>
        <p:pic>
          <p:nvPicPr>
            <p:cNvPr id="22" name="그림 2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5148064" y="1749430"/>
              <a:ext cx="2448272" cy="2153419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70778" y="3226574"/>
              <a:ext cx="365317" cy="7798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27171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rgbClr val="D6D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 userDrawn="1"/>
        </p:nvGrpSpPr>
        <p:grpSpPr>
          <a:xfrm>
            <a:off x="683568" y="339772"/>
            <a:ext cx="6009316" cy="5185625"/>
            <a:chOff x="-31235" y="260648"/>
            <a:chExt cx="6009316" cy="5185625"/>
          </a:xfrm>
        </p:grpSpPr>
        <p:grpSp>
          <p:nvGrpSpPr>
            <p:cNvPr id="16" name="그룹 15"/>
            <p:cNvGrpSpPr/>
            <p:nvPr userDrawn="1"/>
          </p:nvGrpSpPr>
          <p:grpSpPr>
            <a:xfrm>
              <a:off x="-31235" y="260648"/>
              <a:ext cx="5897935" cy="5185625"/>
              <a:chOff x="-31235" y="260648"/>
              <a:chExt cx="5897935" cy="5185625"/>
            </a:xfrm>
          </p:grpSpPr>
          <p:pic>
            <p:nvPicPr>
              <p:cNvPr id="19" name="그림 18"/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-31235" y="260648"/>
                <a:ext cx="5897935" cy="5185624"/>
              </a:xfrm>
              <a:prstGeom prst="rect">
                <a:avLst/>
              </a:prstGeom>
            </p:spPr>
          </p:pic>
          <p:pic>
            <p:nvPicPr>
              <p:cNvPr id="20" name="그림 19"/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893169" y="4869161"/>
                <a:ext cx="686943" cy="577112"/>
              </a:xfrm>
              <a:prstGeom prst="rect">
                <a:avLst/>
              </a:prstGeom>
            </p:spPr>
          </p:pic>
          <p:pic>
            <p:nvPicPr>
              <p:cNvPr id="21" name="그림 20"/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4739074" y="5187357"/>
                <a:ext cx="308189" cy="258915"/>
              </a:xfrm>
              <a:prstGeom prst="rect">
                <a:avLst/>
              </a:prstGeom>
            </p:spPr>
          </p:pic>
        </p:grpSp>
        <p:pic>
          <p:nvPicPr>
            <p:cNvPr id="17" name="그림 1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866614" y="274787"/>
              <a:ext cx="111467" cy="158400"/>
            </a:xfrm>
            <a:prstGeom prst="rect">
              <a:avLst/>
            </a:prstGeom>
          </p:spPr>
        </p:pic>
      </p:grpSp>
      <p:grpSp>
        <p:nvGrpSpPr>
          <p:cNvPr id="22" name="그룹 21"/>
          <p:cNvGrpSpPr/>
          <p:nvPr userDrawn="1"/>
        </p:nvGrpSpPr>
        <p:grpSpPr>
          <a:xfrm>
            <a:off x="6266935" y="836712"/>
            <a:ext cx="2525558" cy="2257027"/>
            <a:chOff x="5070778" y="1749430"/>
            <a:chExt cx="2525558" cy="2257027"/>
          </a:xfrm>
        </p:grpSpPr>
        <p:pic>
          <p:nvPicPr>
            <p:cNvPr id="27" name="그림 2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5148064" y="1749430"/>
              <a:ext cx="2448272" cy="2153419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70778" y="3226574"/>
              <a:ext cx="365317" cy="779883"/>
            </a:xfrm>
            <a:prstGeom prst="rect">
              <a:avLst/>
            </a:prstGeom>
          </p:spPr>
        </p:pic>
      </p:grpSp>
      <p:sp>
        <p:nvSpPr>
          <p:cNvPr id="34" name="제목 1"/>
          <p:cNvSpPr txBox="1">
            <a:spLocks/>
          </p:cNvSpPr>
          <p:nvPr userDrawn="1"/>
        </p:nvSpPr>
        <p:spPr>
          <a:xfrm>
            <a:off x="2195736" y="5843592"/>
            <a:ext cx="694826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86410889-0442-4231-B9CA-3F0F289FD4E1}"/>
              </a:ext>
            </a:extLst>
          </p:cNvPr>
          <p:cNvSpPr txBox="1"/>
          <p:nvPr userDrawn="1"/>
        </p:nvSpPr>
        <p:spPr>
          <a:xfrm>
            <a:off x="619945" y="5921929"/>
            <a:ext cx="223224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300" b="1" dirty="0" smtClean="0">
                <a:latin typeface="+mn-lt"/>
                <a:ea typeface="맑은 고딕" pitchFamily="50" charset="-127"/>
              </a:rPr>
              <a:t>Chapter.</a:t>
            </a:r>
            <a:endParaRPr kumimoji="0" lang="en-US" altLang="ko-KR" sz="3300" b="1" dirty="0">
              <a:latin typeface="+mn-lt"/>
              <a:ea typeface="맑은 고딕" pitchFamily="50" charset="-127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37" name="제목 1"/>
          <p:cNvSpPr>
            <a:spLocks noGrp="1"/>
          </p:cNvSpPr>
          <p:nvPr>
            <p:ph type="title"/>
          </p:nvPr>
        </p:nvSpPr>
        <p:spPr>
          <a:xfrm>
            <a:off x="2348136" y="5995992"/>
            <a:ext cx="6948264" cy="548680"/>
          </a:xfrm>
        </p:spPr>
        <p:txBody>
          <a:bodyPr>
            <a:noAutofit/>
          </a:bodyPr>
          <a:lstStyle>
            <a:lvl1pPr algn="l">
              <a:defRPr sz="3000" b="1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37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E3CF5919-2159-49EA-BD93-9C45B1EAA96D}"/>
              </a:ext>
            </a:extLst>
          </p:cNvPr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id="{19267DBF-3997-413A-AA3B-689DC6F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0" indent="0">
              <a:lnSpc>
                <a:spcPct val="200000"/>
              </a:lnSpc>
              <a:buClrTx/>
              <a:buFontTx/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4" name="모서리가 둥근 직사각형 8">
            <a:extLst>
              <a:ext uri="{FF2B5EF4-FFF2-40B4-BE49-F238E27FC236}">
                <a16:creationId xmlns:a16="http://schemas.microsoft.com/office/drawing/2014/main" id="{D5A7425B-5701-466C-9ACB-C13BC673C0FC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EDCA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6867643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ED4A8C7A-84CB-4AB9-8F99-0BC584ACD685}"/>
              </a:ext>
            </a:extLst>
          </p:cNvPr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EDCA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5EC90D7B-5216-4834-B80A-E94167A6B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342900" indent="-342900">
              <a:lnSpc>
                <a:spcPct val="200000"/>
              </a:lnSpc>
              <a:buClr>
                <a:srgbClr val="559E5B"/>
              </a:buClr>
              <a:buFont typeface="Arial" panose="020B0604020202020204" pitchFamily="34" charset="0"/>
              <a:buChar char="•"/>
              <a:defRPr sz="1600" b="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altLang="ko-KR" dirty="0"/>
          </a:p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383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B4BA2D2-52F7-42A1-8EBA-192AEC431238}"/>
              </a:ext>
            </a:extLst>
          </p:cNvPr>
          <p:cNvGrpSpPr/>
          <p:nvPr userDrawn="1"/>
        </p:nvGrpSpPr>
        <p:grpSpPr>
          <a:xfrm>
            <a:off x="0" y="907564"/>
            <a:ext cx="9144000" cy="487"/>
            <a:chOff x="0" y="907564"/>
            <a:chExt cx="9144000" cy="487"/>
          </a:xfrm>
        </p:grpSpPr>
        <p:cxnSp>
          <p:nvCxnSpPr>
            <p:cNvPr id="9" name="직선 연결선 8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E6B4C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EDCAD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F3DDE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DB91A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530206" y="1124744"/>
            <a:ext cx="8208912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E1A7B5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EDCAD2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EDCAD2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EDCAD2"/>
              </a:buClr>
              <a:buSzPct val="96000"/>
              <a:defRPr sz="1050"/>
            </a:lvl4pPr>
            <a:lvl5pPr marL="990600" indent="-180975">
              <a:buClr>
                <a:srgbClr val="EDCAD2"/>
              </a:buClr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906008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1DF547D-533D-4B8A-87AD-7F8DC9D52D1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30206" y="1124744"/>
            <a:ext cx="404179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DB91A3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EDCAD2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EDCAD2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EDCAD2"/>
              </a:buClr>
              <a:buSzPct val="96000"/>
              <a:defRPr sz="1100"/>
            </a:lvl4pPr>
            <a:lvl5pPr marL="990600" indent="-180975">
              <a:buClr>
                <a:srgbClr val="EDCAD2"/>
              </a:buCl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BAE2278-5FB7-4F36-BDC0-886A849984B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44008" y="1124744"/>
            <a:ext cx="4041794" cy="54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DB91A3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EDCAD2"/>
              </a:buClr>
              <a:buFont typeface="Wingdings" pitchFamily="2" charset="2"/>
              <a:buChar char="§"/>
              <a:defRPr sz="1400"/>
            </a:lvl2pPr>
            <a:lvl3pPr marL="628650" indent="-180975">
              <a:spcAft>
                <a:spcPts val="300"/>
              </a:spcAft>
              <a:buClr>
                <a:srgbClr val="EDCAD2"/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Clr>
                <a:srgbClr val="EDCAD2"/>
              </a:buClr>
              <a:buSzPct val="96000"/>
              <a:defRPr sz="1100"/>
            </a:lvl4pPr>
            <a:lvl5pPr marL="990600" indent="-180975">
              <a:buClr>
                <a:srgbClr val="EDCAD2"/>
              </a:buClr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B4BA2D2-52F7-42A1-8EBA-192AEC431238}"/>
              </a:ext>
            </a:extLst>
          </p:cNvPr>
          <p:cNvGrpSpPr/>
          <p:nvPr userDrawn="1"/>
        </p:nvGrpSpPr>
        <p:grpSpPr>
          <a:xfrm>
            <a:off x="0" y="907564"/>
            <a:ext cx="9144000" cy="487"/>
            <a:chOff x="0" y="907564"/>
            <a:chExt cx="9144000" cy="487"/>
          </a:xfrm>
        </p:grpSpPr>
        <p:cxnSp>
          <p:nvCxnSpPr>
            <p:cNvPr id="13" name="직선 연결선 12"/>
            <p:cNvCxnSpPr/>
            <p:nvPr userDrawn="1"/>
          </p:nvCxnSpPr>
          <p:spPr>
            <a:xfrm>
              <a:off x="2124744" y="908051"/>
              <a:ext cx="2339752" cy="0"/>
            </a:xfrm>
            <a:prstGeom prst="line">
              <a:avLst/>
            </a:prstGeom>
            <a:ln w="76200">
              <a:solidFill>
                <a:srgbClr val="E6B4C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 userDrawn="1"/>
          </p:nvCxnSpPr>
          <p:spPr>
            <a:xfrm>
              <a:off x="4464496" y="908051"/>
              <a:ext cx="2339752" cy="0"/>
            </a:xfrm>
            <a:prstGeom prst="line">
              <a:avLst/>
            </a:prstGeom>
            <a:ln w="76200">
              <a:solidFill>
                <a:srgbClr val="EDCAD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 userDrawn="1"/>
          </p:nvCxnSpPr>
          <p:spPr>
            <a:xfrm>
              <a:off x="6804248" y="907564"/>
              <a:ext cx="2339752" cy="0"/>
            </a:xfrm>
            <a:prstGeom prst="line">
              <a:avLst/>
            </a:prstGeom>
            <a:ln w="76200">
              <a:solidFill>
                <a:srgbClr val="F3DDE2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 userDrawn="1"/>
          </p:nvCxnSpPr>
          <p:spPr>
            <a:xfrm>
              <a:off x="0" y="908051"/>
              <a:ext cx="2339752" cy="0"/>
            </a:xfrm>
            <a:prstGeom prst="line">
              <a:avLst/>
            </a:prstGeom>
            <a:ln w="76200">
              <a:solidFill>
                <a:srgbClr val="DB91A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58478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9">
            <a:extLst>
              <a:ext uri="{FF2B5EF4-FFF2-40B4-BE49-F238E27FC236}">
                <a16:creationId xmlns:a16="http://schemas.microsoft.com/office/drawing/2014/main" id="{A7D7FFC2-62D3-4BE0-8529-F40C1ADBD02D}"/>
              </a:ext>
            </a:extLst>
          </p:cNvPr>
          <p:cNvSpPr txBox="1"/>
          <p:nvPr userDrawn="1"/>
        </p:nvSpPr>
        <p:spPr>
          <a:xfrm>
            <a:off x="1475656" y="2767280"/>
            <a:ext cx="6696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Thank you</a:t>
            </a:r>
            <a:endParaRPr kumimoji="0" lang="ko-KR" altLang="en-US" sz="80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692FB73-1543-4900-9730-CEBEC129D71A}"/>
              </a:ext>
            </a:extLst>
          </p:cNvPr>
          <p:cNvCxnSpPr>
            <a:cxnSpLocks/>
          </p:cNvCxnSpPr>
          <p:nvPr userDrawn="1"/>
        </p:nvCxnSpPr>
        <p:spPr>
          <a:xfrm>
            <a:off x="1619672" y="4221088"/>
            <a:ext cx="5472608" cy="0"/>
          </a:xfrm>
          <a:prstGeom prst="line">
            <a:avLst/>
          </a:prstGeom>
          <a:ln w="19050">
            <a:solidFill>
              <a:srgbClr val="C858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38D78D7-6975-4922-977D-2566434936B4}"/>
              </a:ext>
            </a:extLst>
          </p:cNvPr>
          <p:cNvCxnSpPr>
            <a:cxnSpLocks/>
          </p:cNvCxnSpPr>
          <p:nvPr userDrawn="1"/>
        </p:nvCxnSpPr>
        <p:spPr>
          <a:xfrm>
            <a:off x="1691680" y="2708920"/>
            <a:ext cx="5472608" cy="0"/>
          </a:xfrm>
          <a:prstGeom prst="line">
            <a:avLst/>
          </a:prstGeom>
          <a:ln w="19050">
            <a:solidFill>
              <a:srgbClr val="C858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71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2021-02-24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1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7" r:id="rId2"/>
    <p:sldLayoutId id="2147483722" r:id="rId3"/>
    <p:sldLayoutId id="2147483723" r:id="rId4"/>
    <p:sldLayoutId id="2147483724" r:id="rId5"/>
    <p:sldLayoutId id="2147483725" r:id="rId6"/>
    <p:sldLayoutId id="2147483726" r:id="rId7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26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01 </a:t>
            </a:r>
            <a:r>
              <a:rPr lang="ko-KR" altLang="en-US" dirty="0"/>
              <a:t>데이터베이스 시스템</a:t>
            </a:r>
          </a:p>
        </p:txBody>
      </p:sp>
    </p:spTree>
    <p:extLst>
      <p:ext uri="{BB962C8B-B14F-4D97-AF65-F5344CB8AC3E}">
        <p14:creationId xmlns:p14="http://schemas.microsoft.com/office/powerpoint/2010/main" val="1913928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163D645-F8FB-4251-B666-5DF3ED3D38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데이터베이스와 데이터베이스 시스템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데이터베이스 시스템의 발전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파일 시스템과 </a:t>
            </a:r>
            <a:r>
              <a:rPr lang="en-US" altLang="ko-KR" dirty="0"/>
              <a:t>DBMS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데이터베이스 시스템의 구성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192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0CC82D4-4C63-4832-8984-B3DB80EBDB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8208912" cy="4104456"/>
          </a:xfrm>
        </p:spPr>
        <p:txBody>
          <a:bodyPr/>
          <a:lstStyle/>
          <a:p>
            <a:pPr>
              <a:buClr>
                <a:srgbClr val="EDCAD2"/>
              </a:buClr>
            </a:pPr>
            <a:r>
              <a:rPr lang="ko-KR" altLang="en-US" dirty="0"/>
              <a:t>데이터베이스의 유형을 알아보고 개념 및 특징을 이해한다</a:t>
            </a:r>
            <a:r>
              <a:rPr lang="en-US" altLang="ko-KR" dirty="0"/>
              <a:t>.</a:t>
            </a:r>
          </a:p>
          <a:p>
            <a:pPr>
              <a:buClr>
                <a:srgbClr val="EDCAD2"/>
              </a:buClr>
            </a:pPr>
            <a:r>
              <a:rPr lang="ko-KR" altLang="en-US" dirty="0"/>
              <a:t>데이터베이스 시스템을 중심으로 한 정보 시스템의 발전 과정을 알아본다</a:t>
            </a:r>
            <a:r>
              <a:rPr lang="en-US" altLang="ko-KR" dirty="0"/>
              <a:t>. </a:t>
            </a:r>
          </a:p>
          <a:p>
            <a:pPr>
              <a:buClr>
                <a:srgbClr val="EDCAD2"/>
              </a:buClr>
            </a:pPr>
            <a:r>
              <a:rPr lang="ko-KR" altLang="en-US" dirty="0"/>
              <a:t>프로그램과 데이터가 컴퓨터에 어떻게 저장되는지 이해한다</a:t>
            </a:r>
            <a:r>
              <a:rPr lang="en-US" altLang="ko-KR" dirty="0"/>
              <a:t>. </a:t>
            </a:r>
          </a:p>
          <a:p>
            <a:pPr>
              <a:buClr>
                <a:srgbClr val="EDCAD2"/>
              </a:buClr>
            </a:pPr>
            <a:r>
              <a:rPr lang="ko-KR" altLang="en-US" dirty="0"/>
              <a:t>데이터베이스 시스템의 구성 요소를 알아본다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036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01. </a:t>
            </a:r>
            <a:r>
              <a:rPr lang="ko-KR" altLang="en-US" dirty="0"/>
              <a:t>데이터베이스와 데이터베이스 시스템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07FE7C-BE07-489D-A94A-C8EE73F1BCE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정보</a:t>
            </a:r>
            <a:r>
              <a:rPr lang="en-US" altLang="ko-KR" dirty="0"/>
              <a:t>, </a:t>
            </a:r>
            <a:r>
              <a:rPr lang="ko-KR" altLang="en-US" dirty="0"/>
              <a:t>지식</a:t>
            </a:r>
            <a:endParaRPr lang="en-US" altLang="ko-KR" dirty="0"/>
          </a:p>
          <a:p>
            <a:r>
              <a:rPr lang="ko-KR" altLang="en-US" dirty="0"/>
              <a:t>일상생활의 데이터베이스</a:t>
            </a:r>
            <a:endParaRPr lang="en-US" altLang="ko-KR" dirty="0"/>
          </a:p>
          <a:p>
            <a:r>
              <a:rPr lang="ko-KR" altLang="en-US" dirty="0"/>
              <a:t>데이터베이스의 개념 및 특징</a:t>
            </a:r>
            <a:endParaRPr lang="en-US" altLang="ko-KR" dirty="0"/>
          </a:p>
          <a:p>
            <a:r>
              <a:rPr lang="ko-KR" altLang="en-US" dirty="0"/>
              <a:t>데이터베이스 시스템의 구성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2355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정보</a:t>
            </a:r>
            <a:r>
              <a:rPr lang="en-US" altLang="ko-KR" dirty="0"/>
              <a:t>, </a:t>
            </a:r>
            <a:r>
              <a:rPr lang="ko-KR" altLang="en-US" dirty="0"/>
              <a:t>지식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07FE7C-BE07-489D-A94A-C8EE73F1BCE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en-US" altLang="ko-KR" dirty="0"/>
              <a:t>: </a:t>
            </a:r>
            <a:r>
              <a:rPr lang="ko-KR" altLang="en-US" dirty="0"/>
              <a:t>관찰의 결과로 나타난 정량적 혹은 정성적인 실제 값</a:t>
            </a:r>
            <a:endParaRPr lang="en-US" altLang="ko-KR" dirty="0"/>
          </a:p>
          <a:p>
            <a:r>
              <a:rPr lang="ko-KR" altLang="en-US" dirty="0"/>
              <a:t>정보 </a:t>
            </a:r>
            <a:r>
              <a:rPr lang="en-US" altLang="ko-KR" dirty="0"/>
              <a:t>: </a:t>
            </a:r>
            <a:r>
              <a:rPr lang="ko-KR" altLang="en-US" dirty="0"/>
              <a:t>데이터에 의미를 부여한 것</a:t>
            </a:r>
            <a:endParaRPr lang="en-US" altLang="ko-KR" dirty="0"/>
          </a:p>
          <a:p>
            <a:r>
              <a:rPr lang="ko-KR" altLang="en-US" dirty="0"/>
              <a:t>지식 </a:t>
            </a:r>
            <a:r>
              <a:rPr lang="en-US" altLang="ko-KR" dirty="0"/>
              <a:t>: </a:t>
            </a:r>
            <a:r>
              <a:rPr lang="ko-KR" altLang="en-US" dirty="0"/>
              <a:t>사물이나 현상에 대한 이해</a:t>
            </a:r>
          </a:p>
          <a:p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24" y="2708920"/>
            <a:ext cx="7160096" cy="365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 smtClean="0"/>
              <a:t>데이터베이스의 활용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07FE7C-BE07-489D-A94A-C8EE73F1BCE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데이터베이스 </a:t>
            </a:r>
            <a:r>
              <a:rPr lang="en-US" altLang="ko-KR" dirty="0"/>
              <a:t>: </a:t>
            </a:r>
            <a:r>
              <a:rPr lang="ko-KR" altLang="en-US" dirty="0"/>
              <a:t>조직에 필요한 정보를 얻기 위해 논리적으로 연관된 데이터를 모아 구조적으로 통합해 놓은 것</a:t>
            </a:r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97DCC67-649D-499E-A356-DE1117797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42" y="2276872"/>
            <a:ext cx="6522659" cy="360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25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일상생활의 데이터베이스</a:t>
            </a:r>
            <a:endParaRPr lang="en-US" altLang="ko-KR" dirty="0"/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87158DDE-95FA-4A28-B021-A54268A75DE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간단한 거래도 많은 데이터가 포함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276872"/>
            <a:ext cx="3456384" cy="335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86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일상생활의 데이터베이스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1B8D49-7DA8-4664-A15E-F6ECB698323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ko-KR" altLang="en-US" dirty="0"/>
              <a:t>데이터베이스 시스템은 데이터의 검색과 변경 작업을 주로 수행함</a:t>
            </a:r>
            <a:endParaRPr lang="en-US" altLang="ko-KR" dirty="0"/>
          </a:p>
          <a:p>
            <a:pPr algn="just"/>
            <a:r>
              <a:rPr lang="ko-KR" altLang="en-US" dirty="0"/>
              <a:t>변경이란 시간에 따라 변하는 데이터 값을 데이터베이스에 반영하기 위해 수행하는 삽입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수정 등의 작업을 말함</a:t>
            </a:r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B3FE66-2C0B-4B0B-8A4C-EEEF36C512EC}"/>
              </a:ext>
            </a:extLst>
          </p:cNvPr>
          <p:cNvGrpSpPr/>
          <p:nvPr/>
        </p:nvGrpSpPr>
        <p:grpSpPr>
          <a:xfrm>
            <a:off x="108650" y="2852356"/>
            <a:ext cx="1145931" cy="2799996"/>
            <a:chOff x="171962" y="2994370"/>
            <a:chExt cx="1145931" cy="2799996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6C7642CE-0285-465E-8763-F0172CD9E57D}"/>
                </a:ext>
              </a:extLst>
            </p:cNvPr>
            <p:cNvCxnSpPr/>
            <p:nvPr/>
          </p:nvCxnSpPr>
          <p:spPr>
            <a:xfrm>
              <a:off x="776584" y="3429000"/>
              <a:ext cx="0" cy="1913926"/>
            </a:xfrm>
            <a:prstGeom prst="straightConnector1">
              <a:avLst/>
            </a:prstGeom>
            <a:ln w="57150">
              <a:solidFill>
                <a:schemeClr val="bg1">
                  <a:lumMod val="75000"/>
                </a:schemeClr>
              </a:solidFill>
              <a:headEnd type="triangle" w="lg" len="med"/>
              <a:tailEnd type="triangl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EB22F6-1683-4F83-ADD3-EE792CDBD63B}"/>
                </a:ext>
              </a:extLst>
            </p:cNvPr>
            <p:cNvSpPr txBox="1"/>
            <p:nvPr/>
          </p:nvSpPr>
          <p:spPr>
            <a:xfrm>
              <a:off x="171962" y="2994370"/>
              <a:ext cx="1082619" cy="475253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pPr algn="ctr"/>
              <a:r>
                <a:rPr lang="ko-KR" altLang="en-US" sz="1050" b="1" dirty="0">
                  <a:solidFill>
                    <a:srgbClr val="DB91A3"/>
                  </a:solidFill>
                  <a:latin typeface="+mn-ea"/>
                </a:rPr>
                <a:t>구축이</a:t>
              </a:r>
              <a:r>
                <a:rPr lang="en-US" altLang="ko-KR" sz="1050" b="1" dirty="0">
                  <a:solidFill>
                    <a:srgbClr val="DB91A3"/>
                  </a:solidFill>
                  <a:latin typeface="+mn-ea"/>
                </a:rPr>
                <a:t> </a:t>
              </a:r>
              <a:r>
                <a:rPr lang="ko-KR" altLang="en-US" sz="1050" b="1" dirty="0">
                  <a:solidFill>
                    <a:srgbClr val="DB91A3"/>
                  </a:solidFill>
                  <a:latin typeface="+mn-ea"/>
                </a:rPr>
                <a:t>쉬움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0F1F5B-DF82-4571-A37E-2D88982DC596}"/>
                </a:ext>
              </a:extLst>
            </p:cNvPr>
            <p:cNvSpPr txBox="1"/>
            <p:nvPr/>
          </p:nvSpPr>
          <p:spPr>
            <a:xfrm>
              <a:off x="235274" y="5319113"/>
              <a:ext cx="1082619" cy="475253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rmAutofit/>
            </a:bodyPr>
            <a:lstStyle/>
            <a:p>
              <a:pPr algn="ctr"/>
              <a:r>
                <a:rPr lang="ko-KR" altLang="en-US" sz="1050" b="1" dirty="0">
                  <a:solidFill>
                    <a:srgbClr val="DB91A3"/>
                  </a:solidFill>
                  <a:latin typeface="+mn-ea"/>
                </a:rPr>
                <a:t>구축이</a:t>
              </a:r>
              <a:r>
                <a:rPr lang="en-US" altLang="ko-KR" sz="1050" b="1" dirty="0">
                  <a:solidFill>
                    <a:srgbClr val="DB91A3"/>
                  </a:solidFill>
                  <a:latin typeface="+mn-ea"/>
                </a:rPr>
                <a:t> </a:t>
              </a:r>
              <a:r>
                <a:rPr lang="ko-KR" altLang="en-US" sz="1050" b="1" dirty="0">
                  <a:solidFill>
                    <a:srgbClr val="DB91A3"/>
                  </a:solidFill>
                  <a:latin typeface="+mn-ea"/>
                </a:rPr>
                <a:t>어려움</a:t>
              </a: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884" y="2780928"/>
            <a:ext cx="6131426" cy="345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25"/>
          <a:stretch/>
        </p:blipFill>
        <p:spPr>
          <a:xfrm>
            <a:off x="2818763" y="4616321"/>
            <a:ext cx="3057647" cy="215071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데이터베이스의 개념 및 특징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1B8D49-7DA8-4664-A15E-F6ECB698323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1400" dirty="0" smtClean="0"/>
              <a:t>[</a:t>
            </a:r>
            <a:r>
              <a:rPr lang="ko-KR" altLang="en-US" sz="1400" dirty="0" smtClean="0"/>
              <a:t>개념</a:t>
            </a:r>
            <a:r>
              <a:rPr lang="en-US" altLang="ko-KR" sz="1400" dirty="0" smtClean="0"/>
              <a:t>]</a:t>
            </a:r>
          </a:p>
          <a:p>
            <a:pPr>
              <a:buFont typeface="Wingdings" pitchFamily="2" charset="2"/>
              <a:buChar char=""/>
            </a:pPr>
            <a:r>
              <a:rPr lang="ko-KR" altLang="en-US" sz="1400" dirty="0" smtClean="0"/>
              <a:t>통합된 </a:t>
            </a:r>
            <a:r>
              <a:rPr lang="ko-KR" altLang="en-US" sz="1400" dirty="0"/>
              <a:t>데이터</a:t>
            </a:r>
            <a:r>
              <a:rPr lang="en-US" altLang="ko-KR" sz="1400" dirty="0"/>
              <a:t>(integrated data)</a:t>
            </a:r>
            <a:br>
              <a:rPr lang="en-US" altLang="ko-KR" sz="1400" dirty="0"/>
            </a:br>
            <a:r>
              <a:rPr lang="ko-KR" altLang="en-US" sz="1200" b="0" dirty="0"/>
              <a:t>데이터를 통합하는 개념으로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각자 사용하던 데이터의 중복을 최소화하여 중복으로 인한 데이터 불일치 </a:t>
            </a:r>
            <a:r>
              <a:rPr lang="ko-KR" altLang="en-US" sz="1200" b="0" dirty="0" err="1" smtClean="0"/>
              <a:t>현상을제거</a:t>
            </a:r>
            <a:endParaRPr lang="en-US" altLang="ko-KR" sz="1200" b="0" dirty="0"/>
          </a:p>
          <a:p>
            <a:pPr>
              <a:buFont typeface="Wingdings" pitchFamily="2" charset="2"/>
              <a:buChar char=""/>
            </a:pPr>
            <a:r>
              <a:rPr lang="ko-KR" altLang="en-US" sz="1400" dirty="0"/>
              <a:t>저장된 데이터</a:t>
            </a:r>
            <a:r>
              <a:rPr lang="en-US" altLang="ko-KR" sz="1400" dirty="0"/>
              <a:t>(stored data)</a:t>
            </a:r>
            <a:br>
              <a:rPr lang="en-US" altLang="ko-KR" sz="1400" dirty="0"/>
            </a:br>
            <a:r>
              <a:rPr lang="ko-KR" altLang="en-US" sz="1200" b="0" dirty="0"/>
              <a:t>문서로 보관된 데이터가 아니라 디스크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테이프 같은 컴퓨터 저장장치에 저장된 데이터를 의미</a:t>
            </a:r>
            <a:endParaRPr lang="en-US" altLang="ko-KR" sz="1400" b="0" dirty="0"/>
          </a:p>
          <a:p>
            <a:pPr>
              <a:buFont typeface="Wingdings" pitchFamily="2" charset="2"/>
              <a:buChar char=""/>
            </a:pPr>
            <a:r>
              <a:rPr lang="ko-KR" altLang="en-US" sz="1400" dirty="0" smtClean="0"/>
              <a:t>운영 </a:t>
            </a:r>
            <a:r>
              <a:rPr lang="ko-KR" altLang="en-US" sz="1400" dirty="0"/>
              <a:t>데이터</a:t>
            </a:r>
            <a:r>
              <a:rPr lang="en-US" altLang="ko-KR" sz="1400" dirty="0"/>
              <a:t>(operational data)</a:t>
            </a:r>
            <a:br>
              <a:rPr lang="en-US" altLang="ko-KR" sz="1400" dirty="0"/>
            </a:br>
            <a:r>
              <a:rPr lang="ko-KR" altLang="en-US" sz="1200" b="0" dirty="0"/>
              <a:t>조직의 목적을 위해 사용되는 데이터를 의미한다</a:t>
            </a:r>
            <a:r>
              <a:rPr lang="en-US" altLang="ko-KR" sz="1200" b="0" dirty="0"/>
              <a:t>. </a:t>
            </a:r>
            <a:r>
              <a:rPr lang="ko-KR" altLang="en-US" sz="1200" b="0" dirty="0"/>
              <a:t>즉 업무를 위한 검색을 할 목적으로 저장된 </a:t>
            </a:r>
            <a:r>
              <a:rPr lang="en-US" altLang="ko-KR" sz="1200" b="0" dirty="0"/>
              <a:t/>
            </a:r>
            <a:br>
              <a:rPr lang="en-US" altLang="ko-KR" sz="1200" b="0" dirty="0"/>
            </a:br>
            <a:r>
              <a:rPr lang="ko-KR" altLang="en-US" sz="1200" b="0" dirty="0"/>
              <a:t>데이터</a:t>
            </a:r>
            <a:endParaRPr lang="en-US" altLang="ko-KR" sz="1400" b="0" dirty="0"/>
          </a:p>
          <a:p>
            <a:pPr>
              <a:buFont typeface="Wingdings" pitchFamily="2" charset="2"/>
              <a:buChar char=""/>
            </a:pPr>
            <a:r>
              <a:rPr lang="ko-KR" altLang="en-US" sz="1400" dirty="0" smtClean="0"/>
              <a:t>공용 </a:t>
            </a:r>
            <a:r>
              <a:rPr lang="ko-KR" altLang="en-US" sz="1400" dirty="0"/>
              <a:t>데이터</a:t>
            </a:r>
            <a:r>
              <a:rPr lang="en-US" altLang="ko-KR" sz="1400" dirty="0"/>
              <a:t>(shared data)</a:t>
            </a:r>
            <a:br>
              <a:rPr lang="en-US" altLang="ko-KR" sz="1400" dirty="0"/>
            </a:br>
            <a:r>
              <a:rPr lang="ko-KR" altLang="en-US" sz="1200" b="0" dirty="0"/>
              <a:t>한 사람 또는 한 업무를 위해 사용되는 데이터가 아니라 공동으로 사용되는 데이터를 의미</a:t>
            </a:r>
            <a:endParaRPr lang="en-US" altLang="ko-KR" sz="1400" b="0" dirty="0"/>
          </a:p>
          <a:p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40328" y="5107157"/>
            <a:ext cx="559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2">
                    <a:lumMod val="10000"/>
                  </a:schemeClr>
                </a:solidFill>
              </a:rPr>
              <a:t>통합</a:t>
            </a:r>
            <a:endParaRPr lang="ko-KR" alt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2513" y="4797152"/>
            <a:ext cx="559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2">
                    <a:lumMod val="10000"/>
                  </a:schemeClr>
                </a:solidFill>
              </a:rPr>
              <a:t>운영</a:t>
            </a:r>
            <a:endParaRPr lang="ko-KR" alt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12513" y="6252630"/>
            <a:ext cx="559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2">
                    <a:lumMod val="10000"/>
                  </a:schemeClr>
                </a:solidFill>
              </a:rPr>
              <a:t>공용</a:t>
            </a:r>
            <a:endParaRPr lang="ko-KR" alt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48064" y="4504856"/>
            <a:ext cx="559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bg2">
                    <a:lumMod val="10000"/>
                  </a:schemeClr>
                </a:solidFill>
              </a:rPr>
              <a:t>저장</a:t>
            </a:r>
            <a:endParaRPr lang="ko-KR" alt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523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데이터베이스의 개념 및 특징</a:t>
            </a:r>
            <a:endParaRPr lang="en-US" altLang="ko-KR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788A916-F75F-4E74-B1A7-05C70BEE4B7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 smtClean="0"/>
              <a:t>[</a:t>
            </a:r>
            <a:r>
              <a:rPr lang="ko-KR" altLang="en-US" sz="1400" dirty="0" smtClean="0"/>
              <a:t>특징</a:t>
            </a:r>
            <a:r>
              <a:rPr lang="en-US" altLang="ko-KR" sz="1400" dirty="0" smtClean="0"/>
              <a:t>]</a:t>
            </a:r>
          </a:p>
          <a:p>
            <a:pPr>
              <a:buFont typeface="Wingdings" pitchFamily="2" charset="2"/>
              <a:buChar char=""/>
            </a:pPr>
            <a:r>
              <a:rPr lang="ko-KR" altLang="en-US" sz="1400" dirty="0" smtClean="0"/>
              <a:t>실시간 </a:t>
            </a:r>
            <a:r>
              <a:rPr lang="ko-KR" altLang="en-US" sz="1400" dirty="0"/>
              <a:t>접근성</a:t>
            </a:r>
            <a:r>
              <a:rPr lang="en-US" altLang="ko-KR" sz="1400" dirty="0"/>
              <a:t>(real time accessibility)</a:t>
            </a:r>
          </a:p>
          <a:p>
            <a:pPr algn="just">
              <a:buNone/>
            </a:pPr>
            <a:r>
              <a:rPr lang="en-US" altLang="ko-KR" sz="1400" dirty="0"/>
              <a:t>  </a:t>
            </a:r>
            <a:r>
              <a:rPr lang="en-US" altLang="ko-KR" sz="1200" dirty="0"/>
              <a:t>   </a:t>
            </a:r>
            <a:r>
              <a:rPr lang="ko-KR" altLang="en-US" sz="1200" b="0" dirty="0"/>
              <a:t>데이터베이스는 실시간으로 서비스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사용자가 데이터를 요청하면 몇 시간이나 몇 일 뒤에 결과를 전송하는 것이 아니라 수 초 내에 결과를 서비스</a:t>
            </a:r>
            <a:endParaRPr lang="en-US" altLang="ko-KR" sz="1400" b="0" dirty="0"/>
          </a:p>
          <a:p>
            <a:pPr>
              <a:buNone/>
            </a:pPr>
            <a:endParaRPr lang="en-US" altLang="ko-KR" sz="1050" dirty="0"/>
          </a:p>
          <a:p>
            <a:pPr>
              <a:buFont typeface="Wingdings" pitchFamily="2" charset="2"/>
              <a:buChar char=""/>
            </a:pPr>
            <a:r>
              <a:rPr lang="ko-KR" altLang="en-US" sz="1400" dirty="0"/>
              <a:t>계속적인 변화</a:t>
            </a:r>
            <a:r>
              <a:rPr lang="en-US" altLang="ko-KR" sz="1400" dirty="0"/>
              <a:t>(continuous change)</a:t>
            </a:r>
          </a:p>
          <a:p>
            <a:pPr algn="just">
              <a:buNone/>
            </a:pPr>
            <a:r>
              <a:rPr lang="en-US" altLang="ko-KR" sz="1400" dirty="0"/>
              <a:t>     </a:t>
            </a:r>
            <a:r>
              <a:rPr lang="ko-KR" altLang="en-US" sz="1200" b="0" dirty="0"/>
              <a:t>데이터베이스에 저장된 내용은 어느 한 순간의 상태를 나타내지만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데이터 값은 시간에 따라 항상 바뀜</a:t>
            </a:r>
            <a:r>
              <a:rPr lang="en-US" altLang="ko-KR" sz="1200" b="0" dirty="0"/>
              <a:t>. </a:t>
            </a:r>
            <a:r>
              <a:rPr lang="ko-KR" altLang="en-US" sz="1200" b="0" dirty="0"/>
              <a:t>데이터베이스는 삽입</a:t>
            </a:r>
            <a:r>
              <a:rPr lang="en-US" altLang="ko-KR" sz="1200" b="0" dirty="0"/>
              <a:t>(insert), </a:t>
            </a:r>
            <a:r>
              <a:rPr lang="ko-KR" altLang="en-US" sz="1200" b="0" dirty="0"/>
              <a:t>삭제</a:t>
            </a:r>
            <a:r>
              <a:rPr lang="en-US" altLang="ko-KR" sz="1200" b="0" dirty="0"/>
              <a:t>(delete), </a:t>
            </a:r>
            <a:r>
              <a:rPr lang="ko-KR" altLang="en-US" sz="1200" b="0" dirty="0"/>
              <a:t>수정</a:t>
            </a:r>
            <a:r>
              <a:rPr lang="en-US" altLang="ko-KR" sz="1200" b="0" dirty="0"/>
              <a:t>(update) </a:t>
            </a:r>
            <a:r>
              <a:rPr lang="ko-KR" altLang="en-US" sz="1200" b="0" dirty="0"/>
              <a:t>등의 작업을 통하여 바뀐 데이터 값을 저장</a:t>
            </a:r>
            <a:endParaRPr lang="en-US" altLang="ko-KR" sz="1400" b="0" dirty="0"/>
          </a:p>
          <a:p>
            <a:pPr>
              <a:buNone/>
            </a:pPr>
            <a:endParaRPr lang="en-US" altLang="ko-KR" sz="1050" dirty="0"/>
          </a:p>
          <a:p>
            <a:pPr>
              <a:buFont typeface="Wingdings" pitchFamily="2" charset="2"/>
              <a:buChar char=""/>
            </a:pPr>
            <a:r>
              <a:rPr lang="ko-KR" altLang="en-US" sz="1400" dirty="0"/>
              <a:t>동시 공유</a:t>
            </a:r>
            <a:r>
              <a:rPr lang="en-US" altLang="ko-KR" sz="1400" dirty="0"/>
              <a:t>(concurrent sharing)</a:t>
            </a:r>
          </a:p>
          <a:p>
            <a:pPr algn="just">
              <a:buNone/>
            </a:pPr>
            <a:r>
              <a:rPr lang="en-US" altLang="ko-KR" sz="1400" dirty="0"/>
              <a:t> </a:t>
            </a:r>
            <a:r>
              <a:rPr lang="en-US" altLang="ko-KR" sz="1200" dirty="0"/>
              <a:t>    </a:t>
            </a:r>
            <a:r>
              <a:rPr lang="ko-KR" altLang="en-US" sz="1200" b="0" dirty="0"/>
              <a:t>데이터베이스는 서로 다른 업무 또는 여러 사용자에게 동시에 공유동시</a:t>
            </a:r>
            <a:r>
              <a:rPr lang="en-US" altLang="ko-KR" sz="1200" b="0" dirty="0"/>
              <a:t>(concurrent)</a:t>
            </a:r>
            <a:r>
              <a:rPr lang="ko-KR" altLang="en-US" sz="1200" b="0" dirty="0"/>
              <a:t>는 </a:t>
            </a:r>
            <a:r>
              <a:rPr lang="ko-KR" altLang="en-US" sz="1200" b="0" dirty="0" err="1"/>
              <a:t>병행이라고도</a:t>
            </a:r>
            <a:r>
              <a:rPr lang="ko-KR" altLang="en-US" sz="1200" b="0" dirty="0"/>
              <a:t> 하며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데이터베이스에 접근하는 프로그램이 여러 개 있다는 의미</a:t>
            </a:r>
            <a:endParaRPr lang="en-US" altLang="ko-KR" sz="1400" b="0" dirty="0"/>
          </a:p>
          <a:p>
            <a:pPr>
              <a:buNone/>
            </a:pPr>
            <a:endParaRPr lang="en-US" altLang="ko-KR" sz="1050" dirty="0"/>
          </a:p>
          <a:p>
            <a:pPr>
              <a:buFont typeface="Wingdings" pitchFamily="2" charset="2"/>
              <a:buChar char=""/>
            </a:pPr>
            <a:r>
              <a:rPr lang="ko-KR" altLang="en-US" sz="1400" dirty="0"/>
              <a:t>내용에 따른 참조</a:t>
            </a:r>
            <a:r>
              <a:rPr lang="en-US" altLang="ko-KR" sz="1400" dirty="0"/>
              <a:t>(reference by content)</a:t>
            </a:r>
          </a:p>
          <a:p>
            <a:pPr>
              <a:buNone/>
            </a:pPr>
            <a:r>
              <a:rPr lang="en-US" altLang="ko-KR" sz="1400" dirty="0"/>
              <a:t>   </a:t>
            </a:r>
            <a:r>
              <a:rPr lang="en-US" altLang="ko-KR" sz="1200" dirty="0"/>
              <a:t>  </a:t>
            </a:r>
            <a:r>
              <a:rPr lang="ko-KR" altLang="en-US" sz="1200" b="0" dirty="0"/>
              <a:t>데이터베이스에 저장된 데이터는 데이터의 물리적인 위치가 아니라 데이터 값에 따라 참조</a:t>
            </a:r>
            <a:endParaRPr lang="en-US" altLang="ko-KR" sz="1400" b="0" dirty="0"/>
          </a:p>
        </p:txBody>
      </p:sp>
    </p:spTree>
    <p:extLst>
      <p:ext uri="{BB962C8B-B14F-4D97-AF65-F5344CB8AC3E}">
        <p14:creationId xmlns:p14="http://schemas.microsoft.com/office/powerpoint/2010/main" val="2075671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데이터베이스 시스템의 구성</a:t>
            </a:r>
            <a:endParaRPr lang="en-US" altLang="ko-KR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0"/>
          </p:nvPr>
        </p:nvPicPr>
        <p:blipFill>
          <a:blip r:embed="rId2"/>
          <a:stretch>
            <a:fillRect/>
          </a:stretch>
        </p:blipFill>
        <p:spPr>
          <a:xfrm>
            <a:off x="1064941" y="1628800"/>
            <a:ext cx="7244664" cy="41044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2808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02. </a:t>
            </a:r>
            <a:r>
              <a:rPr lang="ko-KR" altLang="en-US" dirty="0"/>
              <a:t>데이터베이스 시스템의 발전</a:t>
            </a:r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3CC89DF-CD85-476A-A0D4-D397E54ED26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마당서점과 데이터베이스 시스템</a:t>
            </a:r>
            <a:endParaRPr lang="en-US" altLang="ko-KR" dirty="0"/>
          </a:p>
          <a:p>
            <a:r>
              <a:rPr lang="ko-KR" altLang="en-US" dirty="0"/>
              <a:t>정보 시스템의 발전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974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[1</a:t>
            </a:r>
            <a:r>
              <a:rPr lang="ko-KR" altLang="en-US" dirty="0"/>
              <a:t>단계</a:t>
            </a:r>
            <a:r>
              <a:rPr lang="en-US" altLang="ko-KR" dirty="0"/>
              <a:t>] </a:t>
            </a:r>
            <a:r>
              <a:rPr lang="ko-KR" altLang="en-US" dirty="0"/>
              <a:t>마당서점의 시작</a:t>
            </a:r>
            <a:endParaRPr lang="en-US" altLang="ko-KR" dirty="0"/>
          </a:p>
        </p:txBody>
      </p:sp>
      <p:pic>
        <p:nvPicPr>
          <p:cNvPr id="7" name="내용 개체 틀 6" descr="컴퓨터, 테이블, 표지판이(가) 표시된 사진&#10;&#10;자동 생성된 설명">
            <a:extLst>
              <a:ext uri="{FF2B5EF4-FFF2-40B4-BE49-F238E27FC236}">
                <a16:creationId xmlns:a16="http://schemas.microsoft.com/office/drawing/2014/main" id="{01CE7FAA-8CA6-4DD7-A250-72DA91BBCB6B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800814"/>
            <a:ext cx="8208963" cy="254673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2F7FC-9A2D-4CD3-8905-54180D047A51}"/>
              </a:ext>
            </a:extLst>
          </p:cNvPr>
          <p:cNvSpPr txBox="1"/>
          <p:nvPr/>
        </p:nvSpPr>
        <p:spPr>
          <a:xfrm>
            <a:off x="1084714" y="6089455"/>
            <a:ext cx="1944216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그림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마당서점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초기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9F58910-9DB4-44BE-BAAC-547B3B119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116126"/>
              </p:ext>
            </p:extLst>
          </p:nvPr>
        </p:nvGraphicFramePr>
        <p:xfrm>
          <a:off x="971625" y="4642436"/>
          <a:ext cx="7056784" cy="1152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100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근처 학교의 학생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지역 주민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서비스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사장이 직접 도서 안내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회계업무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계산기 사용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장부에 기록</a:t>
                      </a:r>
                      <a:endParaRPr kumimoji="0" lang="ko-KR" altLang="en-US" sz="14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294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[2</a:t>
            </a:r>
            <a:r>
              <a:rPr lang="ko-KR" altLang="en-US" dirty="0"/>
              <a:t>단계</a:t>
            </a:r>
            <a:r>
              <a:rPr lang="en-US" altLang="ko-KR" dirty="0"/>
              <a:t>] </a:t>
            </a:r>
            <a:r>
              <a:rPr lang="ko-KR" altLang="en-US" dirty="0"/>
              <a:t>컴퓨터의 도입</a:t>
            </a:r>
            <a:endParaRPr lang="en-US" altLang="ko-KR" dirty="0"/>
          </a:p>
        </p:txBody>
      </p:sp>
      <p:pic>
        <p:nvPicPr>
          <p:cNvPr id="8" name="내용 개체 틀 7" descr="그리기, 테이블이(가) 표시된 사진&#10;&#10;자동 생성된 설명">
            <a:extLst>
              <a:ext uri="{FF2B5EF4-FFF2-40B4-BE49-F238E27FC236}">
                <a16:creationId xmlns:a16="http://schemas.microsoft.com/office/drawing/2014/main" id="{48C37D2B-4FAC-40A7-9C84-50839AD35250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114613"/>
            <a:ext cx="6336704" cy="342782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2F7FC-9A2D-4CD3-8905-54180D047A51}"/>
              </a:ext>
            </a:extLst>
          </p:cNvPr>
          <p:cNvSpPr txBox="1"/>
          <p:nvPr/>
        </p:nvSpPr>
        <p:spPr>
          <a:xfrm>
            <a:off x="1084714" y="6089455"/>
            <a:ext cx="2911222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그림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마당서점 초기 전산화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(+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컴퓨터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9F58910-9DB4-44BE-BAAC-547B3B119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681323"/>
              </p:ext>
            </p:extLst>
          </p:nvPr>
        </p:nvGraphicFramePr>
        <p:xfrm>
          <a:off x="971625" y="4643612"/>
          <a:ext cx="7056784" cy="1152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1000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근처 학교의 학생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지역 주민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서비스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컴퓨터를 이용하여 도서 검색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직원 고용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회계업무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컴퓨터 사용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파일 시스템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419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[3</a:t>
            </a:r>
            <a:r>
              <a:rPr lang="ko-KR" altLang="en-US" dirty="0"/>
              <a:t>단계</a:t>
            </a:r>
            <a:r>
              <a:rPr lang="en-US" altLang="ko-KR" dirty="0"/>
              <a:t>] </a:t>
            </a:r>
            <a:r>
              <a:rPr lang="ko-KR" altLang="en-US" dirty="0"/>
              <a:t>지점 개설 및 데이터베이스 구축</a:t>
            </a:r>
            <a:endParaRPr lang="en-US" altLang="ko-KR" dirty="0"/>
          </a:p>
        </p:txBody>
      </p:sp>
      <p:pic>
        <p:nvPicPr>
          <p:cNvPr id="7" name="내용 개체 틀 6" descr="그리기이(가) 표시된 사진&#10;&#10;자동 생성된 설명">
            <a:extLst>
              <a:ext uri="{FF2B5EF4-FFF2-40B4-BE49-F238E27FC236}">
                <a16:creationId xmlns:a16="http://schemas.microsoft.com/office/drawing/2014/main" id="{64FCA1F8-ABAF-461B-BB14-71E93F4D3EC0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18" y="1828707"/>
            <a:ext cx="8208963" cy="258726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2F7FC-9A2D-4CD3-8905-54180D047A51}"/>
              </a:ext>
            </a:extLst>
          </p:cNvPr>
          <p:cNvSpPr txBox="1"/>
          <p:nvPr/>
        </p:nvSpPr>
        <p:spPr>
          <a:xfrm>
            <a:off x="1084714" y="6089455"/>
            <a:ext cx="3991342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그림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마당서점 데이터베이스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(DBMS)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도입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(+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원격통신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9F58910-9DB4-44BE-BAAC-547B3B119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68837"/>
              </p:ext>
            </p:extLst>
          </p:nvPr>
        </p:nvGraphicFramePr>
        <p:xfrm>
          <a:off x="971600" y="4643612"/>
          <a:ext cx="7416824" cy="1152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1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10,000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 지역 고객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서비스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클라이언트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서버 시스템으로 지점을 연결하여 도서 검색 서비스 제공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회계업무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컴퓨터 사용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데이터베이스 시스템 도입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495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[4</a:t>
            </a:r>
            <a:r>
              <a:rPr lang="ko-KR" altLang="en-US" dirty="0"/>
              <a:t>단계</a:t>
            </a:r>
            <a:r>
              <a:rPr lang="en-US" altLang="ko-KR" dirty="0"/>
              <a:t>] </a:t>
            </a:r>
            <a:r>
              <a:rPr lang="ko-KR" altLang="en-US" dirty="0"/>
              <a:t>홈페이지 구축</a:t>
            </a:r>
            <a:endParaRPr lang="en-US" altLang="ko-KR" dirty="0"/>
          </a:p>
        </p:txBody>
      </p:sp>
      <p:pic>
        <p:nvPicPr>
          <p:cNvPr id="14" name="내용 개체 틀 13" descr="컴퓨터, 방이(가) 표시된 사진&#10;&#10;자동 생성된 설명">
            <a:extLst>
              <a:ext uri="{FF2B5EF4-FFF2-40B4-BE49-F238E27FC236}">
                <a16:creationId xmlns:a16="http://schemas.microsoft.com/office/drawing/2014/main" id="{01A4A2FF-143A-46E4-BBB2-4B418731A8CC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101" y="1234978"/>
            <a:ext cx="6858903" cy="313802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2F7FC-9A2D-4CD3-8905-54180D047A51}"/>
              </a:ext>
            </a:extLst>
          </p:cNvPr>
          <p:cNvSpPr txBox="1"/>
          <p:nvPr/>
        </p:nvSpPr>
        <p:spPr>
          <a:xfrm>
            <a:off x="1084714" y="6089455"/>
            <a:ext cx="3055238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그림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마당서점 홈페이지 구축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(+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인터넷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9F58910-9DB4-44BE-BAAC-547B3B119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023360"/>
              </p:ext>
            </p:extLst>
          </p:nvPr>
        </p:nvGraphicFramePr>
        <p:xfrm>
          <a:off x="971600" y="4643612"/>
          <a:ext cx="7416824" cy="1152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1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100,000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국민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전국으로 배송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서비스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인터넷으로 도서 검색 및 주문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인사업무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컴퓨터와 인터넷 사용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시스템으로 지점 간 연계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50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[5</a:t>
            </a:r>
            <a:r>
              <a:rPr lang="ko-KR" altLang="en-US" dirty="0"/>
              <a:t>단계</a:t>
            </a:r>
            <a:r>
              <a:rPr lang="en-US" altLang="ko-KR" dirty="0"/>
              <a:t>] </a:t>
            </a:r>
            <a:r>
              <a:rPr lang="ko-KR" altLang="en-US" dirty="0"/>
              <a:t>인터넷 쇼핑몰 운영</a:t>
            </a:r>
            <a:endParaRPr lang="en-US" altLang="ko-KR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975AB0C-3D29-4592-B20F-1FB469B9F9E3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34" y="1634937"/>
            <a:ext cx="7148332" cy="262125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2F7FC-9A2D-4CD3-8905-54180D047A51}"/>
              </a:ext>
            </a:extLst>
          </p:cNvPr>
          <p:cNvSpPr txBox="1"/>
          <p:nvPr/>
        </p:nvSpPr>
        <p:spPr>
          <a:xfrm>
            <a:off x="1084714" y="6089455"/>
            <a:ext cx="2767206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그림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마당서점 인터넷 쇼핑몰 운영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9F58910-9DB4-44BE-BAAC-547B3B119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386966"/>
              </p:ext>
            </p:extLst>
          </p:nvPr>
        </p:nvGraphicFramePr>
        <p:xfrm>
          <a:off x="971600" y="4643612"/>
          <a:ext cx="7416824" cy="1152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1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1,000,000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국민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전국으로 배송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서비스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인터넷 종합 쇼핑 서비스 제공</a:t>
                      </a:r>
                    </a:p>
                    <a:p>
                      <a:pPr marL="285750" indent="-285750">
                        <a:buClr>
                          <a:srgbClr val="EDCAD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인사업무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컴퓨터와 인터넷 사용</a:t>
                      </a:r>
                      <a:r>
                        <a:rPr lang="en-US" altLang="ko-KR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DB </a:t>
                      </a:r>
                      <a:r>
                        <a:rPr lang="ko-KR" altLang="en-US" sz="14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서버 여러 개 구축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9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597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pic>
        <p:nvPicPr>
          <p:cNvPr id="8" name="내용 개체 틀 7" descr="스크린샷이(가) 표시된 사진&#10;&#10;자동 생성된 설명">
            <a:extLst>
              <a:ext uri="{FF2B5EF4-FFF2-40B4-BE49-F238E27FC236}">
                <a16:creationId xmlns:a16="http://schemas.microsoft.com/office/drawing/2014/main" id="{27B99179-319E-48C5-BB05-65733D87828F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206" y="1268760"/>
            <a:ext cx="6843186" cy="4854707"/>
          </a:xfrm>
        </p:spPr>
      </p:pic>
    </p:spTree>
    <p:extLst>
      <p:ext uri="{BB962C8B-B14F-4D97-AF65-F5344CB8AC3E}">
        <p14:creationId xmlns:p14="http://schemas.microsoft.com/office/powerpoint/2010/main" val="1013672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 smtClean="0"/>
              <a:t>2</a:t>
            </a:r>
            <a:r>
              <a:rPr lang="en-US" altLang="ko-KR" dirty="0"/>
              <a:t>. </a:t>
            </a:r>
            <a:r>
              <a:rPr lang="ko-KR" altLang="en-US" dirty="0"/>
              <a:t>정보 시스템의 발전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EC4C69-0799-4AC5-9C7D-50280918FB3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Font typeface="Wingdings" pitchFamily="2" charset="2"/>
              <a:buChar char=""/>
            </a:pPr>
            <a:r>
              <a:rPr lang="ko-KR" altLang="en-US" dirty="0"/>
              <a:t>파일 시스템</a:t>
            </a:r>
            <a:endParaRPr lang="en-US" altLang="ko-KR" dirty="0"/>
          </a:p>
          <a:p>
            <a:pPr indent="-160338">
              <a:buFont typeface="Arial" panose="020B0604020202020204" pitchFamily="34" charset="0"/>
              <a:buChar char="•"/>
            </a:pPr>
            <a:r>
              <a:rPr lang="ko-KR" altLang="en-US" sz="1200" b="0" dirty="0"/>
              <a:t>데이터를 파일 단위로 파일 서버에 저장</a:t>
            </a:r>
            <a:endParaRPr lang="en-US" altLang="ko-KR" sz="1200" b="0" dirty="0"/>
          </a:p>
          <a:p>
            <a:pPr indent="-160338">
              <a:buFont typeface="Arial" panose="020B0604020202020204" pitchFamily="34" charset="0"/>
              <a:buChar char="•"/>
            </a:pPr>
            <a:r>
              <a:rPr lang="ko-KR" altLang="en-US" sz="1200" b="0" dirty="0"/>
              <a:t>각</a:t>
            </a:r>
            <a:r>
              <a:rPr lang="en-US" altLang="ko-KR" sz="1200" b="0" dirty="0"/>
              <a:t> </a:t>
            </a:r>
            <a:r>
              <a:rPr lang="ko-KR" altLang="en-US" sz="1200" b="0" dirty="0"/>
              <a:t>컴퓨터는 </a:t>
            </a:r>
            <a:r>
              <a:rPr lang="en-US" altLang="ko-KR" sz="1200" b="0" dirty="0"/>
              <a:t>LAN</a:t>
            </a:r>
            <a:r>
              <a:rPr lang="ko-KR" altLang="en-US" sz="1200" b="0" dirty="0"/>
              <a:t>을 통하여 파일 서버에 연결되어 있고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파일 서버에 저장된 데이터를 사용하기 위해 각 컴퓨터의 응용 프로그램에서 열기</a:t>
            </a:r>
            <a:r>
              <a:rPr lang="en-US" altLang="ko-KR" sz="1200" b="0" dirty="0"/>
              <a:t>/</a:t>
            </a:r>
            <a:r>
              <a:rPr lang="ko-KR" altLang="en-US" sz="1200" b="0" dirty="0"/>
              <a:t>닫기</a:t>
            </a:r>
            <a:r>
              <a:rPr lang="en-US" altLang="ko-KR" sz="1200" b="0" dirty="0"/>
              <a:t>(open/close)</a:t>
            </a:r>
            <a:r>
              <a:rPr lang="ko-KR" altLang="en-US" sz="1200" b="0" dirty="0"/>
              <a:t>를 요청</a:t>
            </a:r>
            <a:endParaRPr lang="en-US" altLang="ko-KR" sz="1200" b="0" dirty="0"/>
          </a:p>
          <a:p>
            <a:pPr indent="-160338">
              <a:buFont typeface="Arial" panose="020B0604020202020204" pitchFamily="34" charset="0"/>
              <a:buChar char="•"/>
            </a:pPr>
            <a:r>
              <a:rPr lang="ko-KR" altLang="en-US" sz="1200" b="0" dirty="0"/>
              <a:t>각 응용 프로그램이 독립적으로 파일을 다루기 때문에 데이터가 중복 저장될 가능성이 있음</a:t>
            </a:r>
            <a:endParaRPr lang="en-US" altLang="ko-KR" sz="1200" b="0" dirty="0"/>
          </a:p>
          <a:p>
            <a:pPr indent="-160338">
              <a:buFont typeface="Arial" panose="020B0604020202020204" pitchFamily="34" charset="0"/>
              <a:buChar char="•"/>
            </a:pPr>
            <a:r>
              <a:rPr lang="ko-KR" altLang="en-US" sz="1200" b="0" dirty="0"/>
              <a:t>동시에 파일을 다루기 때문에 데이터의 일관성이 훼손될 수 있음</a:t>
            </a:r>
            <a:endParaRPr lang="en-US" altLang="ko-KR" sz="1200" b="0" dirty="0"/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DC5CF-83FC-4DB0-BB14-B3B73F71F723}"/>
              </a:ext>
            </a:extLst>
          </p:cNvPr>
          <p:cNvSpPr txBox="1"/>
          <p:nvPr/>
        </p:nvSpPr>
        <p:spPr>
          <a:xfrm>
            <a:off x="3272060" y="6104329"/>
            <a:ext cx="1584176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그림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파일 시스템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996" y="3108257"/>
            <a:ext cx="3028132" cy="276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75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정보 시스템의 발전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EC4C69-0799-4AC5-9C7D-50280918FB3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Font typeface="Wingdings" pitchFamily="2" charset="2"/>
              <a:buChar char=""/>
            </a:pPr>
            <a:r>
              <a:rPr lang="ko-KR" altLang="en-US" dirty="0"/>
              <a:t>데이터베이스 시스템</a:t>
            </a:r>
            <a:endParaRPr lang="en-US" altLang="ko-KR" dirty="0"/>
          </a:p>
          <a:p>
            <a:pPr indent="-165100" algn="just">
              <a:buFont typeface="Arial" pitchFamily="34" charset="0"/>
              <a:buChar char="•"/>
            </a:pPr>
            <a:r>
              <a:rPr lang="en-US" altLang="ko-KR" sz="1200" b="0" dirty="0"/>
              <a:t>DBMS</a:t>
            </a:r>
            <a:r>
              <a:rPr lang="ko-KR" altLang="en-US" sz="1200" b="0" dirty="0"/>
              <a:t>를 도입하여 데이터를 통합 관리하는 시스템</a:t>
            </a:r>
            <a:endParaRPr lang="en-US" altLang="ko-KR" sz="1200" b="0" dirty="0"/>
          </a:p>
          <a:p>
            <a:pPr indent="-165100" algn="just">
              <a:buFont typeface="Arial" pitchFamily="34" charset="0"/>
              <a:buChar char="•"/>
            </a:pPr>
            <a:r>
              <a:rPr lang="en-US" altLang="ko-KR" sz="1200" b="0" dirty="0"/>
              <a:t>DBMS</a:t>
            </a:r>
            <a:r>
              <a:rPr lang="ko-KR" altLang="en-US" sz="1200" b="0" dirty="0"/>
              <a:t>가 설치되어 데이터를 가진 쪽을 서버</a:t>
            </a:r>
            <a:r>
              <a:rPr lang="en-US" altLang="ko-KR" sz="1200" b="0" dirty="0"/>
              <a:t>(server),</a:t>
            </a:r>
            <a:r>
              <a:rPr lang="ko-KR" altLang="en-US" sz="1200" b="0" dirty="0"/>
              <a:t> 외부에서 데이터 요청하는 쪽을 클라이언트</a:t>
            </a:r>
            <a:r>
              <a:rPr lang="en-US" altLang="ko-KR" sz="1200" b="0" dirty="0"/>
              <a:t>(client)</a:t>
            </a:r>
            <a:r>
              <a:rPr lang="ko-KR" altLang="en-US" sz="1200" b="0" dirty="0"/>
              <a:t>라고 함</a:t>
            </a:r>
            <a:endParaRPr lang="en-US" altLang="ko-KR" sz="1200" b="0" dirty="0"/>
          </a:p>
          <a:p>
            <a:pPr indent="-165100" algn="just">
              <a:buFont typeface="Arial" pitchFamily="34" charset="0"/>
              <a:buChar char="•"/>
            </a:pPr>
            <a:r>
              <a:rPr lang="en-US" altLang="ko-KR" sz="1200" b="0" dirty="0"/>
              <a:t>DBMS </a:t>
            </a:r>
            <a:r>
              <a:rPr lang="ko-KR" altLang="en-US" sz="1200" b="0" dirty="0"/>
              <a:t>서버가 파일을 다루며 데이터의 일관성 유지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복구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동시 접근 제어 등의 기능을 수행</a:t>
            </a:r>
            <a:endParaRPr lang="en-US" altLang="ko-KR" sz="1200" b="0" dirty="0"/>
          </a:p>
          <a:p>
            <a:pPr indent="-165100" algn="just">
              <a:buFont typeface="Arial" pitchFamily="34" charset="0"/>
              <a:buChar char="•"/>
            </a:pPr>
            <a:r>
              <a:rPr lang="ko-KR" altLang="en-US" sz="1200" b="0" dirty="0"/>
              <a:t>데이터의 중복을 줄이고 데이터를 </a:t>
            </a:r>
            <a:r>
              <a:rPr lang="ko-KR" altLang="en-US" sz="1200" b="0" dirty="0" err="1"/>
              <a:t>표준화하며</a:t>
            </a:r>
            <a:r>
              <a:rPr lang="ko-KR" altLang="en-US" sz="1200" b="0" dirty="0"/>
              <a:t> 무결성을 유지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DC5CF-83FC-4DB0-BB14-B3B73F71F723}"/>
              </a:ext>
            </a:extLst>
          </p:cNvPr>
          <p:cNvSpPr txBox="1"/>
          <p:nvPr/>
        </p:nvSpPr>
        <p:spPr>
          <a:xfrm>
            <a:off x="2827354" y="6104329"/>
            <a:ext cx="2160240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그림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데이터베이스 시스템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874665"/>
            <a:ext cx="3240360" cy="308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07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정보 시스템의 발전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EC4C69-0799-4AC5-9C7D-50280918FB3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Font typeface="Wingdings" pitchFamily="2" charset="2"/>
              <a:buChar char=""/>
            </a:pPr>
            <a:r>
              <a:rPr lang="ko-KR" altLang="en-US" dirty="0"/>
              <a:t>웹 데이터베이스 시스템</a:t>
            </a:r>
            <a:endParaRPr lang="en-US" altLang="ko-KR" dirty="0"/>
          </a:p>
          <a:p>
            <a:pPr indent="-165100">
              <a:buFont typeface="Arial" pitchFamily="34" charset="0"/>
              <a:buChar char="•"/>
            </a:pPr>
            <a:r>
              <a:rPr lang="ko-KR" altLang="en-US" sz="1200" b="0" dirty="0"/>
              <a:t>데이터베이스를 웹 브라우저에서 사용할 수 있도록 서비스하는 시스템</a:t>
            </a:r>
            <a:endParaRPr lang="en-US" altLang="ko-KR" sz="1200" b="0" dirty="0"/>
          </a:p>
          <a:p>
            <a:pPr indent="-165100">
              <a:buFont typeface="Arial" pitchFamily="34" charset="0"/>
              <a:buChar char="•"/>
            </a:pPr>
            <a:r>
              <a:rPr lang="ko-KR" altLang="en-US" sz="1200" b="0" dirty="0"/>
              <a:t>불특정 다수 고객을 상대로 하는 온라인 상거래나 공공 민원 서비스 등에 사용됨</a:t>
            </a:r>
            <a:endParaRPr lang="en-US" altLang="ko-KR" sz="1200" b="0" dirty="0"/>
          </a:p>
          <a:p>
            <a:pPr>
              <a:buNone/>
            </a:pPr>
            <a:r>
              <a:rPr lang="en-US" altLang="ko-KR" dirty="0"/>
              <a:t>    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DC5CF-83FC-4DB0-BB14-B3B73F71F723}"/>
              </a:ext>
            </a:extLst>
          </p:cNvPr>
          <p:cNvSpPr txBox="1"/>
          <p:nvPr/>
        </p:nvSpPr>
        <p:spPr>
          <a:xfrm>
            <a:off x="3131840" y="5630958"/>
            <a:ext cx="2376264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그림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웹 데이터베이스 시스템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238977"/>
            <a:ext cx="5914914" cy="302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21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46D3-0756-4021-A487-201EBA34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정보 시스템의 발전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EC4C69-0799-4AC5-9C7D-50280918FB3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Font typeface="Wingdings" pitchFamily="2" charset="2"/>
              <a:buChar char=""/>
            </a:pPr>
            <a:r>
              <a:rPr lang="ko-KR" altLang="en-US" dirty="0"/>
              <a:t>분산 데이터베이스 시스템</a:t>
            </a:r>
            <a:endParaRPr lang="en-US" altLang="ko-KR" dirty="0"/>
          </a:p>
          <a:p>
            <a:pPr indent="-165100">
              <a:buFont typeface="Arial" pitchFamily="34" charset="0"/>
              <a:buChar char="•"/>
              <a:tabLst>
                <a:tab pos="88900" algn="l"/>
              </a:tabLst>
            </a:pPr>
            <a:r>
              <a:rPr lang="ko-KR" altLang="en-US" sz="1200" b="0" dirty="0"/>
              <a:t>여러 곳에 분산된 </a:t>
            </a:r>
            <a:r>
              <a:rPr lang="en-US" altLang="ko-KR" sz="1200" b="0" dirty="0"/>
              <a:t>DBMS </a:t>
            </a:r>
            <a:r>
              <a:rPr lang="ko-KR" altLang="en-US" sz="1200" b="0" dirty="0"/>
              <a:t>서버를 연결하여 운영하는 시스템</a:t>
            </a:r>
            <a:endParaRPr lang="en-US" altLang="ko-KR" sz="1200" b="0" dirty="0"/>
          </a:p>
          <a:p>
            <a:pPr indent="-165100">
              <a:buFont typeface="Arial" pitchFamily="34" charset="0"/>
              <a:buChar char="•"/>
              <a:tabLst>
                <a:tab pos="88900" algn="l"/>
              </a:tabLst>
            </a:pPr>
            <a:r>
              <a:rPr lang="ko-KR" altLang="en-US" sz="1200" b="0" dirty="0"/>
              <a:t>대규모의 응용 시스템에 사용됨</a:t>
            </a:r>
            <a:endParaRPr lang="en-US" altLang="ko-KR" sz="1200" b="0" dirty="0"/>
          </a:p>
          <a:p>
            <a:pPr>
              <a:buNone/>
            </a:pPr>
            <a:r>
              <a:rPr lang="en-US" altLang="ko-KR" dirty="0"/>
              <a:t>    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0AA47-BCC0-4D20-89BD-E9AF01F962B7}"/>
              </a:ext>
            </a:extLst>
          </p:cNvPr>
          <p:cNvSpPr txBox="1"/>
          <p:nvPr/>
        </p:nvSpPr>
        <p:spPr>
          <a:xfrm>
            <a:off x="544654" y="5414934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endParaRPr lang="ko-KR" altLang="en-US" sz="11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DC5CF-83FC-4DB0-BB14-B3B73F71F723}"/>
              </a:ext>
            </a:extLst>
          </p:cNvPr>
          <p:cNvSpPr txBox="1"/>
          <p:nvPr/>
        </p:nvSpPr>
        <p:spPr>
          <a:xfrm>
            <a:off x="2915816" y="5517232"/>
            <a:ext cx="2520280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그림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 분산 데이터베이스 시스템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246994"/>
            <a:ext cx="6223182" cy="277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17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611560" y="1196753"/>
            <a:ext cx="3024336" cy="5267150"/>
            <a:chOff x="1907704" y="1014850"/>
            <a:chExt cx="2880320" cy="5106305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6226" b="5922"/>
            <a:stretch/>
          </p:blipFill>
          <p:spPr>
            <a:xfrm>
              <a:off x="1907704" y="1014850"/>
              <a:ext cx="2057371" cy="5026252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3923928" y="1124744"/>
              <a:ext cx="864096" cy="49964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99FBD50C-158C-4940-BF8E-350F0A53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정보 시스템의 발전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4F2C2D-BE59-4829-BE49-3097AE12B01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699792" y="1224611"/>
            <a:ext cx="4032448" cy="4896544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212775" lvl="1" indent="-108000" algn="just">
              <a:lnSpc>
                <a:spcPct val="100000"/>
              </a:lnSpc>
            </a:pPr>
            <a:r>
              <a:rPr lang="en-US" altLang="ko-KR" sz="1200" dirty="0"/>
              <a:t>1970</a:t>
            </a:r>
            <a:r>
              <a:rPr lang="ko-KR" altLang="en-US" sz="1200" dirty="0"/>
              <a:t>년대</a:t>
            </a:r>
            <a:endParaRPr lang="en-US" altLang="ko-KR" sz="1200" dirty="0"/>
          </a:p>
          <a:p>
            <a:pPr marL="393750" lvl="2" indent="-108000" algn="just">
              <a:lnSpc>
                <a:spcPct val="100000"/>
              </a:lnSpc>
            </a:pPr>
            <a:r>
              <a:rPr lang="ko-KR" altLang="en-US" sz="1100" dirty="0"/>
              <a:t>정보 시스템 없음</a:t>
            </a:r>
            <a:endParaRPr lang="en-US" altLang="ko-KR" sz="1100" dirty="0"/>
          </a:p>
          <a:p>
            <a:pPr marL="393750" lvl="2" indent="-108000" algn="just">
              <a:lnSpc>
                <a:spcPct val="100000"/>
              </a:lnSpc>
            </a:pPr>
            <a:r>
              <a:rPr lang="en-US" altLang="ko-KR" sz="1100" dirty="0"/>
              <a:t> </a:t>
            </a:r>
            <a:r>
              <a:rPr lang="ko-KR" altLang="en-US" sz="1100" dirty="0"/>
              <a:t>수작업으로 회계 업무</a:t>
            </a:r>
            <a:endParaRPr lang="en-US" altLang="ko-KR" sz="1100" dirty="0"/>
          </a:p>
          <a:p>
            <a:pPr marL="393750" lvl="2" indent="-108000" algn="just">
              <a:lnSpc>
                <a:spcPct val="100000"/>
              </a:lnSpc>
            </a:pPr>
            <a:endParaRPr lang="ko-KR" altLang="en-US" sz="300" dirty="0">
              <a:solidFill>
                <a:srgbClr val="000000"/>
              </a:solidFill>
            </a:endParaRPr>
          </a:p>
          <a:p>
            <a:pPr marL="212775" lvl="1" indent="-10800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altLang="ko-KR" sz="1200" dirty="0"/>
              <a:t>1980</a:t>
            </a:r>
            <a:r>
              <a:rPr lang="ko-KR" altLang="en-US" sz="1200" dirty="0"/>
              <a:t>년대</a:t>
            </a:r>
            <a:endParaRPr lang="en-US" altLang="ko-KR" sz="1200" dirty="0"/>
          </a:p>
          <a:p>
            <a:pPr marL="393750" lvl="2" indent="-108000" algn="just">
              <a:lnSpc>
                <a:spcPct val="100000"/>
              </a:lnSpc>
            </a:pPr>
            <a:r>
              <a:rPr lang="en-US" altLang="ko-KR" sz="1100" dirty="0"/>
              <a:t> </a:t>
            </a:r>
            <a:r>
              <a:rPr lang="ko-KR" altLang="en-US" sz="1100" dirty="0"/>
              <a:t>파일 시스템 사용</a:t>
            </a:r>
            <a:endParaRPr lang="en-US" altLang="ko-KR" sz="1100" dirty="0"/>
          </a:p>
          <a:p>
            <a:pPr marL="393750" lvl="2" indent="-108000" algn="just">
              <a:lnSpc>
                <a:spcPct val="100000"/>
              </a:lnSpc>
            </a:pPr>
            <a:r>
              <a:rPr lang="en-US" altLang="ko-KR" sz="1100" dirty="0"/>
              <a:t> </a:t>
            </a:r>
            <a:r>
              <a:rPr lang="ko-KR" altLang="en-US" sz="1100" dirty="0"/>
              <a:t>파일을 이용한 응용 프로그램으로 업무 처리</a:t>
            </a:r>
            <a:endParaRPr lang="en-US" altLang="ko-KR" sz="1100" dirty="0"/>
          </a:p>
          <a:p>
            <a:pPr marL="393750" lvl="2" indent="-108000" algn="just">
              <a:lnSpc>
                <a:spcPct val="100000"/>
              </a:lnSpc>
            </a:pPr>
            <a:endParaRPr lang="ko-KR" altLang="en-US" sz="900" dirty="0">
              <a:solidFill>
                <a:srgbClr val="000000"/>
              </a:solidFill>
            </a:endParaRPr>
          </a:p>
          <a:p>
            <a:pPr marL="212775" lvl="1" indent="-10800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altLang="ko-KR" sz="1200" dirty="0"/>
              <a:t>1990</a:t>
            </a:r>
            <a:r>
              <a:rPr lang="ko-KR" altLang="en-US" sz="1200" dirty="0"/>
              <a:t>년대</a:t>
            </a:r>
            <a:endParaRPr lang="en-US" altLang="ko-KR" sz="1200" dirty="0"/>
          </a:p>
          <a:p>
            <a:pPr marL="393750" lvl="2" indent="-108000" algn="just">
              <a:lnSpc>
                <a:spcPct val="100000"/>
              </a:lnSpc>
            </a:pPr>
            <a:r>
              <a:rPr lang="ko-KR" altLang="en-US" sz="1100" dirty="0"/>
              <a:t>정보 시스템</a:t>
            </a:r>
            <a:r>
              <a:rPr lang="en-US" altLang="ko-KR" sz="1100" dirty="0"/>
              <a:t>, </a:t>
            </a:r>
            <a:r>
              <a:rPr lang="ko-KR" altLang="en-US" sz="1100" dirty="0"/>
              <a:t>데이터베이스 시스템 사용</a:t>
            </a:r>
            <a:endParaRPr lang="en-US" altLang="ko-KR" sz="1100" dirty="0"/>
          </a:p>
          <a:p>
            <a:pPr marL="393750" lvl="2" indent="-108000" algn="just">
              <a:lnSpc>
                <a:spcPct val="100000"/>
              </a:lnSpc>
            </a:pPr>
            <a:r>
              <a:rPr lang="en-US" altLang="ko-KR" sz="1100" dirty="0"/>
              <a:t>DBMS</a:t>
            </a:r>
            <a:r>
              <a:rPr lang="ko-KR" altLang="en-US" sz="1100" dirty="0"/>
              <a:t>를 이용하여 업무 처리</a:t>
            </a:r>
            <a:endParaRPr lang="en-US" altLang="ko-KR" sz="1100" dirty="0"/>
          </a:p>
          <a:p>
            <a:pPr marL="393750" lvl="2" indent="-108000" algn="just"/>
            <a:r>
              <a:rPr lang="ko-KR" altLang="en-US" sz="1100" dirty="0"/>
              <a:t>정보 공유</a:t>
            </a:r>
            <a:r>
              <a:rPr lang="en-US" altLang="ko-KR" sz="1100" dirty="0"/>
              <a:t>, </a:t>
            </a:r>
            <a:r>
              <a:rPr lang="ko-KR" altLang="en-US" sz="1100" dirty="0"/>
              <a:t>실시간 서비스</a:t>
            </a:r>
            <a:r>
              <a:rPr lang="en-US" altLang="ko-KR" sz="1100" dirty="0"/>
              <a:t>, LAN </a:t>
            </a:r>
            <a:r>
              <a:rPr lang="ko-KR" altLang="en-US" sz="1100" dirty="0"/>
              <a:t>기술</a:t>
            </a:r>
            <a:endParaRPr lang="en-US" altLang="ko-KR" sz="1100" dirty="0"/>
          </a:p>
          <a:p>
            <a:pPr marL="393750" lvl="2" indent="-108000" algn="just"/>
            <a:endParaRPr lang="en-US" altLang="ko-KR" sz="600" dirty="0"/>
          </a:p>
          <a:p>
            <a:pPr marL="212775" lvl="1" indent="-10800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altLang="ko-KR" sz="1200" dirty="0"/>
              <a:t>2000</a:t>
            </a:r>
            <a:r>
              <a:rPr lang="ko-KR" altLang="en-US" sz="1200" dirty="0"/>
              <a:t>년대</a:t>
            </a:r>
            <a:endParaRPr lang="en-US" altLang="ko-KR" sz="1200" dirty="0"/>
          </a:p>
          <a:p>
            <a:pPr marL="393750" lvl="2" indent="-108000" algn="just">
              <a:lnSpc>
                <a:spcPct val="100000"/>
              </a:lnSpc>
            </a:pPr>
            <a:r>
              <a:rPr lang="ko-KR" altLang="en-US" sz="1100" dirty="0"/>
              <a:t>정보 시스템</a:t>
            </a:r>
            <a:r>
              <a:rPr lang="en-US" altLang="ko-KR" sz="1100" dirty="0"/>
              <a:t>, </a:t>
            </a:r>
            <a:r>
              <a:rPr lang="ko-KR" altLang="en-US" sz="1100" dirty="0"/>
              <a:t>웹 데이터베이스 시스템</a:t>
            </a:r>
            <a:r>
              <a:rPr lang="en-US" altLang="ko-KR" sz="1100" dirty="0"/>
              <a:t>, </a:t>
            </a:r>
            <a:r>
              <a:rPr lang="ko-KR" altLang="en-US" sz="1100" dirty="0"/>
              <a:t>인터넷 사용</a:t>
            </a:r>
            <a:endParaRPr lang="en-US" altLang="ko-KR" sz="1100" dirty="0"/>
          </a:p>
          <a:p>
            <a:pPr marL="393750" lvl="2" indent="-108000" algn="just">
              <a:lnSpc>
                <a:spcPct val="100000"/>
              </a:lnSpc>
            </a:pPr>
            <a:r>
              <a:rPr lang="ko-KR" altLang="en-US" sz="1100" dirty="0"/>
              <a:t>인터넷 쇼핑몰을 개설하여 온라인 상거래 실시</a:t>
            </a:r>
            <a:endParaRPr lang="en-US" altLang="ko-KR" sz="1100" dirty="0"/>
          </a:p>
          <a:p>
            <a:pPr marL="393750" lvl="2" indent="-108000" algn="just"/>
            <a:r>
              <a:rPr lang="ko-KR" altLang="en-US" sz="1100" dirty="0"/>
              <a:t>실시간 서비스</a:t>
            </a:r>
            <a:r>
              <a:rPr lang="en-US" altLang="ko-KR" sz="1100" dirty="0"/>
              <a:t>, </a:t>
            </a:r>
            <a:r>
              <a:rPr lang="ko-KR" altLang="en-US" sz="1100" dirty="0"/>
              <a:t>웹 브라우저 기술</a:t>
            </a:r>
            <a:endParaRPr lang="en-US" altLang="ko-KR" sz="1100" dirty="0"/>
          </a:p>
          <a:p>
            <a:pPr marL="393750" lvl="2" indent="-108000" algn="just"/>
            <a:endParaRPr lang="en-US" altLang="ko-KR" sz="100" dirty="0"/>
          </a:p>
          <a:p>
            <a:pPr marL="212775" lvl="1" indent="-10800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altLang="ko-KR" sz="1200" dirty="0"/>
              <a:t>2010</a:t>
            </a:r>
            <a:r>
              <a:rPr lang="ko-KR" altLang="en-US" sz="1200" dirty="0"/>
              <a:t>년대</a:t>
            </a:r>
            <a:endParaRPr lang="en-US" altLang="ko-KR" sz="1200" dirty="0"/>
          </a:p>
          <a:p>
            <a:pPr marL="393750" lvl="2" indent="-108000" algn="just">
              <a:lnSpc>
                <a:spcPct val="100000"/>
              </a:lnSpc>
            </a:pPr>
            <a:r>
              <a:rPr lang="ko-KR" altLang="en-US" sz="1100" dirty="0"/>
              <a:t>정보 시스템</a:t>
            </a:r>
            <a:r>
              <a:rPr lang="en-US" altLang="ko-KR" sz="1100" dirty="0"/>
              <a:t>, </a:t>
            </a:r>
            <a:r>
              <a:rPr lang="ko-KR" altLang="en-US" sz="1100" dirty="0"/>
              <a:t>분산 데이터베이스 시스템</a:t>
            </a:r>
            <a:r>
              <a:rPr lang="en-US" altLang="ko-KR" sz="1100" dirty="0"/>
              <a:t>, </a:t>
            </a:r>
            <a:r>
              <a:rPr lang="ko-KR" altLang="en-US" sz="1100" dirty="0"/>
              <a:t>인터넷 사용</a:t>
            </a:r>
            <a:endParaRPr lang="en-US" altLang="ko-KR" sz="1100" dirty="0"/>
          </a:p>
          <a:p>
            <a:pPr marL="393750" lvl="2" indent="-108000" algn="just">
              <a:lnSpc>
                <a:spcPct val="100000"/>
              </a:lnSpc>
            </a:pPr>
            <a:r>
              <a:rPr lang="ko-KR" altLang="en-US" sz="1100" dirty="0"/>
              <a:t>고객 서비스 및 내부 업무를 인터넷으로 처리</a:t>
            </a:r>
            <a:endParaRPr lang="en-US" altLang="ko-KR" sz="1100" dirty="0"/>
          </a:p>
          <a:p>
            <a:pPr marL="393750" lvl="2" indent="-108000" algn="just"/>
            <a:r>
              <a:rPr lang="ko-KR" altLang="en-US" sz="1100" dirty="0"/>
              <a:t>대규모 응용 시스템에 </a:t>
            </a:r>
            <a:r>
              <a:rPr lang="ko-KR" altLang="en-US" sz="1100" dirty="0" smtClean="0"/>
              <a:t>사용</a:t>
            </a:r>
            <a:endParaRPr lang="en-US" altLang="ko-KR" sz="11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6597633"/>
            <a:ext cx="2593870" cy="17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8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 </a:t>
            </a:r>
            <a:r>
              <a:rPr lang="ko-KR" altLang="en-US" dirty="0"/>
              <a:t>파일 시스템과 </a:t>
            </a:r>
            <a:r>
              <a:rPr lang="en-US" altLang="ko-KR" dirty="0"/>
              <a:t>DBMS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7537D-2743-4F51-91E9-9867B1A07C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마당서점 데이터를 저장하는 방법</a:t>
            </a:r>
            <a:endParaRPr lang="en-US" altLang="ko-KR" dirty="0"/>
          </a:p>
          <a:p>
            <a:r>
              <a:rPr lang="ko-KR" altLang="en-US" dirty="0"/>
              <a:t>마당서점 데이터의 저장 방법 비교</a:t>
            </a:r>
            <a:endParaRPr lang="en-US" altLang="ko-KR" dirty="0"/>
          </a:p>
          <a:p>
            <a:r>
              <a:rPr lang="ko-KR" altLang="en-US" dirty="0"/>
              <a:t>파일 시스템과 </a:t>
            </a:r>
            <a:r>
              <a:rPr lang="en-US" altLang="ko-KR" dirty="0"/>
              <a:t>DBMS</a:t>
            </a:r>
            <a:r>
              <a:rPr lang="ko-KR" altLang="en-US" dirty="0"/>
              <a:t>의 비교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920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마당서점 데이터를 저장하는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7537D-2743-4F51-91E9-9867B1A07C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프로그램 </a:t>
            </a:r>
            <a:r>
              <a:rPr lang="en-US" altLang="ko-KR" dirty="0"/>
              <a:t>1]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700808"/>
            <a:ext cx="5028472" cy="398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2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187070"/>
            <a:ext cx="2952328" cy="567093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데이터를 프로그램 내부에 저장하는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7537D-2743-4F51-91E9-9867B1A07C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프로그램 </a:t>
            </a:r>
            <a:r>
              <a:rPr lang="en-US" altLang="ko-KR" dirty="0"/>
              <a:t>1]</a:t>
            </a:r>
          </a:p>
          <a:p>
            <a:pPr lvl="1"/>
            <a:r>
              <a:rPr lang="ko-KR" altLang="en-US" dirty="0"/>
              <a:t>데이터를 프로그램 내부에 저장</a:t>
            </a:r>
            <a:endParaRPr lang="en-US" altLang="ko-KR" dirty="0"/>
          </a:p>
          <a:p>
            <a:pPr lvl="2" indent="-165100"/>
            <a:r>
              <a:rPr lang="en-US" altLang="ko-KR" dirty="0"/>
              <a:t>C </a:t>
            </a:r>
            <a:r>
              <a:rPr lang="ko-KR" altLang="en-US" dirty="0"/>
              <a:t>언어의 구조체 </a:t>
            </a:r>
            <a:r>
              <a:rPr lang="en-US" altLang="ko-KR" dirty="0"/>
              <a:t>BOOK</a:t>
            </a:r>
            <a:r>
              <a:rPr lang="ko-KR" altLang="en-US" dirty="0"/>
              <a:t>을 먼저 선언하고 </a:t>
            </a:r>
            <a:r>
              <a:rPr lang="en-US" altLang="ko-KR" dirty="0"/>
              <a:t>main( )</a:t>
            </a:r>
            <a:br>
              <a:rPr lang="en-US" altLang="ko-KR" dirty="0"/>
            </a:br>
            <a:r>
              <a:rPr lang="ko-KR" altLang="en-US" dirty="0"/>
              <a:t>프로그램에서 구조체 배열 변수 </a:t>
            </a:r>
            <a:r>
              <a:rPr lang="en-US" altLang="ko-KR" dirty="0"/>
              <a:t>BOOKS[ ]</a:t>
            </a:r>
            <a:r>
              <a:rPr lang="ko-KR" altLang="en-US" dirty="0"/>
              <a:t>에 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  <a:p>
            <a:pPr lvl="2" indent="-165100"/>
            <a:r>
              <a:rPr lang="ko-KR" altLang="en-US" dirty="0"/>
              <a:t>데이터를 저장</a:t>
            </a:r>
            <a:endParaRPr lang="en-US" altLang="ko-KR" dirty="0"/>
          </a:p>
          <a:p>
            <a:pPr lvl="2" indent="-165100"/>
            <a:r>
              <a:rPr lang="ko-KR" altLang="en-US" dirty="0"/>
              <a:t>도서 데이터는 프로그램 내 구조체 변수에 저장됨</a:t>
            </a:r>
            <a:endParaRPr lang="en-US" altLang="ko-KR" dirty="0"/>
          </a:p>
          <a:p>
            <a:pPr lvl="2" indent="-165100"/>
            <a:endParaRPr lang="en-US" altLang="ko-KR" dirty="0"/>
          </a:p>
          <a:p>
            <a:pPr lvl="2" indent="-165100"/>
            <a:r>
              <a:rPr lang="ko-KR" altLang="en-US" dirty="0"/>
              <a:t>문제점 </a:t>
            </a:r>
            <a:r>
              <a:rPr lang="en-US" altLang="ko-KR" dirty="0"/>
              <a:t>: </a:t>
            </a:r>
            <a:r>
              <a:rPr lang="ko-KR" altLang="en-US" dirty="0"/>
              <a:t>새로운 데이터가 생길 때마다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프로그램을 수정한 후 다시 컴파일해야 함</a:t>
            </a:r>
            <a:r>
              <a:rPr lang="en-US" altLang="ko-KR" dirty="0"/>
              <a:t> </a:t>
            </a:r>
            <a:endParaRPr lang="ko-KR" altLang="en-US" dirty="0"/>
          </a:p>
          <a:p>
            <a:pPr lvl="2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29494-76CA-4CF5-96D6-9FBC18C143CC}"/>
              </a:ext>
            </a:extLst>
          </p:cNvPr>
          <p:cNvSpPr txBox="1"/>
          <p:nvPr/>
        </p:nvSpPr>
        <p:spPr>
          <a:xfrm flipH="1">
            <a:off x="6979595" y="1102648"/>
            <a:ext cx="864096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소스코드</a:t>
            </a:r>
          </a:p>
        </p:txBody>
      </p:sp>
    </p:spTree>
    <p:extLst>
      <p:ext uri="{BB962C8B-B14F-4D97-AF65-F5344CB8AC3E}">
        <p14:creationId xmlns:p14="http://schemas.microsoft.com/office/powerpoint/2010/main" val="496838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파일 시스템을 사용하는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7537D-2743-4F51-91E9-9867B1A07C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프로그램 </a:t>
            </a:r>
            <a:r>
              <a:rPr lang="en-US" altLang="ko-KR" dirty="0"/>
              <a:t>2]</a:t>
            </a:r>
          </a:p>
          <a:p>
            <a:pPr lvl="1"/>
            <a:endParaRPr lang="ko-KR" altLang="en-US" dirty="0"/>
          </a:p>
          <a:p>
            <a:pPr lvl="2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700808"/>
            <a:ext cx="4968552" cy="402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45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87"/>
          <a:stretch/>
        </p:blipFill>
        <p:spPr>
          <a:xfrm>
            <a:off x="4716016" y="1160124"/>
            <a:ext cx="3257633" cy="564100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</a:t>
            </a:r>
            <a:r>
              <a:rPr lang="ko-KR" altLang="en-US" dirty="0"/>
              <a:t>파일 시스템을 사용하는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7537D-2743-4F51-91E9-9867B1A07C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프로그램 </a:t>
            </a:r>
            <a:r>
              <a:rPr lang="en-US" altLang="ko-KR" dirty="0"/>
              <a:t>2]</a:t>
            </a:r>
          </a:p>
          <a:p>
            <a:pPr lvl="1"/>
            <a:r>
              <a:rPr lang="ko-KR" altLang="en-US" dirty="0"/>
              <a:t>데이터를 프로그램 내부에 저장</a:t>
            </a:r>
            <a:endParaRPr lang="en-US" altLang="ko-KR" dirty="0"/>
          </a:p>
          <a:p>
            <a:pPr lvl="2" indent="-165100">
              <a:lnSpc>
                <a:spcPct val="100000"/>
              </a:lnSpc>
            </a:pPr>
            <a:r>
              <a:rPr lang="en-US" altLang="ko-KR" dirty="0"/>
              <a:t>BOOK </a:t>
            </a:r>
            <a:r>
              <a:rPr lang="ko-KR" altLang="en-US" dirty="0"/>
              <a:t>데이터 구조를 먼저 선언하고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main( ) </a:t>
            </a:r>
            <a:r>
              <a:rPr lang="ko-KR" altLang="en-US" dirty="0"/>
              <a:t>프로그램에서 파일로부터 데이터를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불러와 구조체 배열 변수 </a:t>
            </a:r>
            <a:r>
              <a:rPr lang="en-US" altLang="ko-KR" dirty="0"/>
              <a:t>BOOKS[ ]</a:t>
            </a:r>
            <a:r>
              <a:rPr lang="ko-KR" altLang="en-US" dirty="0"/>
              <a:t>에 저장</a:t>
            </a:r>
            <a:endParaRPr lang="en-US" altLang="ko-KR" dirty="0"/>
          </a:p>
          <a:p>
            <a:pPr lvl="2" indent="-165100">
              <a:lnSpc>
                <a:spcPct val="100000"/>
              </a:lnSpc>
            </a:pPr>
            <a:endParaRPr lang="ko-KR" altLang="en-US" dirty="0"/>
          </a:p>
          <a:p>
            <a:pPr lvl="2" indent="-165100">
              <a:lnSpc>
                <a:spcPct val="100000"/>
              </a:lnSpc>
            </a:pPr>
            <a:r>
              <a:rPr lang="ko-KR" altLang="en-US" dirty="0"/>
              <a:t>새로운 데이터가 추가되어도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프로그램을 수정할 필요 없음</a:t>
            </a:r>
          </a:p>
          <a:p>
            <a:pPr lvl="2" indent="-165100">
              <a:lnSpc>
                <a:spcPct val="100000"/>
              </a:lnSpc>
            </a:pPr>
            <a:endParaRPr lang="ko-KR" altLang="en-US" dirty="0"/>
          </a:p>
          <a:p>
            <a:pPr lvl="2" indent="-165100">
              <a:lnSpc>
                <a:spcPct val="100000"/>
              </a:lnSpc>
            </a:pPr>
            <a:r>
              <a:rPr lang="ko-KR" altLang="en-US" dirty="0"/>
              <a:t>문제점 </a:t>
            </a:r>
            <a:r>
              <a:rPr lang="en-US" altLang="ko-KR" dirty="0"/>
              <a:t>: </a:t>
            </a:r>
            <a:r>
              <a:rPr lang="ko-KR" altLang="en-US" dirty="0"/>
              <a:t>같은 파일을 두 개의 프로그램이 공유하는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것이 운영체제의 도움 없이 불가능</a:t>
            </a:r>
          </a:p>
          <a:p>
            <a:pPr lvl="2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29494-76CA-4CF5-96D6-9FBC18C143CC}"/>
              </a:ext>
            </a:extLst>
          </p:cNvPr>
          <p:cNvSpPr txBox="1"/>
          <p:nvPr/>
        </p:nvSpPr>
        <p:spPr>
          <a:xfrm>
            <a:off x="6516216" y="1124744"/>
            <a:ext cx="864096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소스코드</a:t>
            </a:r>
          </a:p>
        </p:txBody>
      </p:sp>
    </p:spTree>
    <p:extLst>
      <p:ext uri="{BB962C8B-B14F-4D97-AF65-F5344CB8AC3E}">
        <p14:creationId xmlns:p14="http://schemas.microsoft.com/office/powerpoint/2010/main" val="227296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DBMS</a:t>
            </a:r>
            <a:r>
              <a:rPr lang="ko-KR" altLang="en-US" dirty="0"/>
              <a:t>를 사용하는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7537D-2743-4F51-91E9-9867B1A07C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프로그램 </a:t>
            </a:r>
            <a:r>
              <a:rPr lang="en-US" altLang="ko-KR" dirty="0"/>
              <a:t>3</a:t>
            </a:r>
            <a:r>
              <a:rPr lang="en-US" altLang="ko-KR" dirty="0" smtClean="0"/>
              <a:t>] SSMS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pic>
        <p:nvPicPr>
          <p:cNvPr id="1027" name="_x441004096" descr="EMB000067dc065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00808"/>
            <a:ext cx="6048672" cy="4089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1403648" y="5789995"/>
            <a:ext cx="4572000" cy="381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400" kern="0" dirty="0">
                <a:solidFill>
                  <a:srgbClr val="0000CC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Microsoft SQL Server</a:t>
            </a:r>
            <a:r>
              <a:rPr lang="en-US" altLang="ko-KR" sz="1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400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데이터베이스 관리 화면</a:t>
            </a:r>
            <a:endParaRPr lang="ko-KR" altLang="en-US" sz="1400" kern="0" dirty="0">
              <a:solidFill>
                <a:schemeClr val="tx1">
                  <a:lumMod val="95000"/>
                  <a:lumOff val="5000"/>
                </a:schemeClr>
              </a:solidFill>
              <a:latin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4868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28"/>
          <a:stretch/>
        </p:blipFill>
        <p:spPr>
          <a:xfrm>
            <a:off x="4589508" y="1280267"/>
            <a:ext cx="4149610" cy="54092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DBMS</a:t>
            </a:r>
            <a:r>
              <a:rPr lang="ko-KR" altLang="en-US" dirty="0"/>
              <a:t>를 사용하는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7537D-2743-4F51-91E9-9867B1A07C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프로그램 </a:t>
            </a:r>
            <a:r>
              <a:rPr lang="en-US" altLang="ko-KR" dirty="0"/>
              <a:t>3]</a:t>
            </a:r>
          </a:p>
          <a:p>
            <a:pPr lvl="1"/>
            <a:r>
              <a:rPr lang="ko-KR" altLang="en-US" dirty="0"/>
              <a:t>데이터를 </a:t>
            </a:r>
            <a:r>
              <a:rPr lang="en-US" altLang="ko-KR" dirty="0"/>
              <a:t>DBMS</a:t>
            </a:r>
            <a:r>
              <a:rPr lang="ko-KR" altLang="en-US" dirty="0"/>
              <a:t> 내부에 저장</a:t>
            </a:r>
            <a:endParaRPr lang="en-US" altLang="ko-KR" dirty="0"/>
          </a:p>
          <a:p>
            <a:pPr lvl="2" indent="-165100"/>
            <a:r>
              <a:rPr lang="ko-KR" altLang="en-US" dirty="0"/>
              <a:t>데이터 정의와 데이터 값을 </a:t>
            </a:r>
            <a:r>
              <a:rPr lang="en-US" altLang="ko-KR" dirty="0"/>
              <a:t>DBMS</a:t>
            </a:r>
            <a:r>
              <a:rPr lang="ko-KR" altLang="en-US" dirty="0"/>
              <a:t>가 관리</a:t>
            </a:r>
          </a:p>
          <a:p>
            <a:pPr lvl="2" indent="-165100"/>
            <a:r>
              <a:rPr lang="en-US" altLang="ko-KR" dirty="0"/>
              <a:t>DBMS</a:t>
            </a:r>
            <a:r>
              <a:rPr lang="ko-KR" altLang="en-US" dirty="0"/>
              <a:t>는 데이터 정의</a:t>
            </a:r>
            <a:r>
              <a:rPr lang="en-US" altLang="ko-KR" dirty="0"/>
              <a:t>, </a:t>
            </a:r>
            <a:r>
              <a:rPr lang="ko-KR" altLang="en-US" dirty="0"/>
              <a:t>데이터 변경 등의 작업을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할 수 있는 별도의 프로그램을 갖고 있음</a:t>
            </a:r>
          </a:p>
          <a:p>
            <a:pPr lvl="2" indent="-165100"/>
            <a:endParaRPr lang="ko-KR" altLang="en-US" dirty="0"/>
          </a:p>
          <a:p>
            <a:pPr lvl="2" indent="-165100"/>
            <a:r>
              <a:rPr lang="ko-KR" altLang="en-US" dirty="0"/>
              <a:t>프로그램에 데이터 정의나 데이터 값을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포함하지 않기 때문에 데이터 구조가 바뀌어도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다시 컴파일할 필요가 없음</a:t>
            </a:r>
          </a:p>
          <a:p>
            <a:pPr lvl="2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29494-76CA-4CF5-96D6-9FBC18C143CC}"/>
              </a:ext>
            </a:extLst>
          </p:cNvPr>
          <p:cNvSpPr txBox="1"/>
          <p:nvPr/>
        </p:nvSpPr>
        <p:spPr>
          <a:xfrm>
            <a:off x="7020272" y="1215881"/>
            <a:ext cx="864096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소스코드</a:t>
            </a:r>
          </a:p>
        </p:txBody>
      </p:sp>
    </p:spTree>
    <p:extLst>
      <p:ext uri="{BB962C8B-B14F-4D97-AF65-F5344CB8AC3E}">
        <p14:creationId xmlns:p14="http://schemas.microsoft.com/office/powerpoint/2010/main" val="3914209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마당서점 데이터의 저장 방법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7537D-2743-4F51-91E9-9867B1A07C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프로그램 </a:t>
            </a:r>
            <a:r>
              <a:rPr lang="en-US" altLang="ko-KR" dirty="0"/>
              <a:t>1]</a:t>
            </a:r>
          </a:p>
          <a:p>
            <a:pPr lvl="2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450A1A8-884C-4BED-AF90-65700C2428BB}"/>
              </a:ext>
            </a:extLst>
          </p:cNvPr>
          <p:cNvSpPr txBox="1">
            <a:spLocks/>
          </p:cNvSpPr>
          <p:nvPr/>
        </p:nvSpPr>
        <p:spPr>
          <a:xfrm>
            <a:off x="4352438" y="1700808"/>
            <a:ext cx="456368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559E5B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9DCBA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9DCBA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9DCBA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9DCBA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>
              <a:lnSpc>
                <a:spcPts val="2100"/>
              </a:lnSpc>
              <a:buClr>
                <a:srgbClr val="E6B4C0"/>
              </a:buClr>
              <a:buFont typeface="Arial" pitchFamily="34" charset="0"/>
              <a:buChar char="•"/>
            </a:pPr>
            <a:r>
              <a:rPr lang="ko-KR" altLang="en-US" sz="1200" dirty="0"/>
              <a:t>프로그램에 데이터 정의와 데이터 값을 모두 포함하는 방식</a:t>
            </a:r>
            <a:endParaRPr lang="en-US" altLang="ko-KR" sz="1200" dirty="0"/>
          </a:p>
          <a:p>
            <a:pPr marL="285750" lvl="1">
              <a:lnSpc>
                <a:spcPts val="2100"/>
              </a:lnSpc>
              <a:buClr>
                <a:srgbClr val="E6B4C0"/>
              </a:buClr>
              <a:buFont typeface="Arial" pitchFamily="34" charset="0"/>
              <a:buChar char="•"/>
            </a:pPr>
            <a:r>
              <a:rPr lang="ko-KR" altLang="en-US" sz="1200" dirty="0"/>
              <a:t>프로그램에 </a:t>
            </a:r>
            <a:r>
              <a:rPr lang="en-US" altLang="ko-KR" sz="1200" dirty="0"/>
              <a:t>BOOK </a:t>
            </a:r>
            <a:r>
              <a:rPr lang="ko-KR" altLang="en-US" sz="1200" dirty="0"/>
              <a:t>데이터 구조를 정의하고 데이터 값도 </a:t>
            </a:r>
            <a:r>
              <a:rPr lang="ko-KR" altLang="en-US" sz="1200" dirty="0" smtClean="0"/>
              <a:t>직접 </a:t>
            </a:r>
            <a:r>
              <a:rPr lang="ko-KR" altLang="en-US" sz="1200" dirty="0"/>
              <a:t>변수에 저장함</a:t>
            </a:r>
            <a:endParaRPr lang="en-US" altLang="ko-KR" sz="1200" dirty="0"/>
          </a:p>
          <a:p>
            <a:pPr marL="285750" lvl="1">
              <a:lnSpc>
                <a:spcPts val="2100"/>
              </a:lnSpc>
              <a:buClr>
                <a:srgbClr val="E6B4C0"/>
              </a:buClr>
              <a:buFont typeface="Arial" pitchFamily="34" charset="0"/>
              <a:buChar char="•"/>
            </a:pPr>
            <a:r>
              <a:rPr lang="ko-KR" altLang="en-US" sz="1200" dirty="0"/>
              <a:t>데이터 구조 혹은 데이터 값이 바뀌면 프로그램을 다시 </a:t>
            </a:r>
            <a:r>
              <a:rPr lang="ko-KR" altLang="en-US" sz="1200" dirty="0" smtClean="0"/>
              <a:t>컴파일해야 </a:t>
            </a:r>
            <a:r>
              <a:rPr lang="ko-KR" altLang="en-US" sz="1200" dirty="0"/>
              <a:t>함</a:t>
            </a:r>
            <a:endParaRPr lang="en-US" altLang="ko-KR" sz="1200" dirty="0"/>
          </a:p>
          <a:p>
            <a:pPr lvl="2">
              <a:buClr>
                <a:srgbClr val="E6B4C0"/>
              </a:buClr>
            </a:pP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22645"/>
            <a:ext cx="3749355" cy="343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9113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마당서점 데이터의 저장 방법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7537D-2743-4F51-91E9-9867B1A07C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프로그램 </a:t>
            </a:r>
            <a:r>
              <a:rPr lang="en-US" altLang="ko-KR" dirty="0"/>
              <a:t>2]</a:t>
            </a:r>
          </a:p>
          <a:p>
            <a:pPr lvl="2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450A1A8-884C-4BED-AF90-65700C2428BB}"/>
              </a:ext>
            </a:extLst>
          </p:cNvPr>
          <p:cNvSpPr txBox="1">
            <a:spLocks/>
          </p:cNvSpPr>
          <p:nvPr/>
        </p:nvSpPr>
        <p:spPr>
          <a:xfrm>
            <a:off x="4352438" y="1700808"/>
            <a:ext cx="456368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559E5B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9DCBA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9DCBA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9DCBA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9DCBA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algn="just">
              <a:lnSpc>
                <a:spcPts val="2100"/>
              </a:lnSpc>
              <a:buClr>
                <a:srgbClr val="E6B4C0"/>
              </a:buClr>
              <a:buFont typeface="Arial" pitchFamily="34" charset="0"/>
              <a:buChar char="•"/>
            </a:pPr>
            <a:r>
              <a:rPr lang="ko-KR" altLang="en-US" sz="1200" dirty="0"/>
              <a:t>파일에 데이터 값</a:t>
            </a:r>
            <a:r>
              <a:rPr lang="en-US" altLang="ko-KR" sz="1200" dirty="0"/>
              <a:t>, </a:t>
            </a:r>
            <a:r>
              <a:rPr lang="ko-KR" altLang="en-US" sz="1200" dirty="0"/>
              <a:t>프로그램에 데이터 정의를 포함하는 방식</a:t>
            </a:r>
          </a:p>
          <a:p>
            <a:pPr marL="285750" lvl="1" algn="just">
              <a:lnSpc>
                <a:spcPts val="2100"/>
              </a:lnSpc>
              <a:buClr>
                <a:srgbClr val="E6B4C0"/>
              </a:buClr>
              <a:buFont typeface="Arial" pitchFamily="34" charset="0"/>
              <a:buChar char="•"/>
            </a:pPr>
            <a:r>
              <a:rPr lang="ko-KR" altLang="en-US" sz="1200" dirty="0"/>
              <a:t>프로그램에 </a:t>
            </a:r>
            <a:r>
              <a:rPr lang="en-US" altLang="ko-KR" sz="1200" dirty="0"/>
              <a:t>BOOK </a:t>
            </a:r>
            <a:r>
              <a:rPr lang="ko-KR" altLang="en-US" sz="1200" dirty="0"/>
              <a:t>데이터 구조만 정의하고</a:t>
            </a:r>
            <a:r>
              <a:rPr lang="en-US" altLang="ko-KR" sz="1200" dirty="0"/>
              <a:t>, </a:t>
            </a:r>
            <a:r>
              <a:rPr lang="ko-KR" altLang="en-US" sz="1200" dirty="0"/>
              <a:t>데이터 값은 </a:t>
            </a:r>
            <a:r>
              <a:rPr lang="en-US" altLang="ko-KR" sz="1200" dirty="0"/>
              <a:t>book.dat</a:t>
            </a:r>
            <a:r>
              <a:rPr lang="ko-KR" altLang="en-US" sz="1200" dirty="0"/>
              <a:t>라는 파일에 저장됨</a:t>
            </a:r>
          </a:p>
          <a:p>
            <a:pPr marL="285750" lvl="1">
              <a:lnSpc>
                <a:spcPts val="2100"/>
              </a:lnSpc>
              <a:spcBef>
                <a:spcPts val="200"/>
              </a:spcBef>
              <a:buClr>
                <a:srgbClr val="E6B4C0"/>
              </a:buClr>
              <a:buFont typeface="Arial" pitchFamily="34" charset="0"/>
              <a:buChar char="•"/>
            </a:pPr>
            <a:r>
              <a:rPr lang="ko-KR" altLang="en-US" sz="1200" dirty="0" smtClean="0"/>
              <a:t>데이터 값이 바뀌면 프로그램에 </a:t>
            </a:r>
            <a:r>
              <a:rPr lang="ko-KR" altLang="en-US" sz="1200" dirty="0"/>
              <a:t>변경이 </a:t>
            </a:r>
            <a:r>
              <a:rPr lang="ko-KR" altLang="en-US" sz="1200" dirty="0" smtClean="0"/>
              <a:t>없지만 데이터 구조가 </a:t>
            </a:r>
            <a:r>
              <a:rPr lang="ko-KR" altLang="en-US" sz="1200" dirty="0"/>
              <a:t>바뀌면 프로그램을 다시 컴파일해야 함</a:t>
            </a:r>
          </a:p>
          <a:p>
            <a:pPr lvl="2">
              <a:spcBef>
                <a:spcPts val="200"/>
              </a:spcBef>
              <a:buClr>
                <a:srgbClr val="E6B4C0"/>
              </a:buClr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84" y="1772816"/>
            <a:ext cx="4094953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10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마당서점 데이터의 저장 방법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7537D-2743-4F51-91E9-9867B1A07C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프로그램 </a:t>
            </a:r>
            <a:r>
              <a:rPr lang="en-US" altLang="ko-KR" dirty="0"/>
              <a:t>3]</a:t>
            </a:r>
          </a:p>
          <a:p>
            <a:pPr lvl="2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450A1A8-884C-4BED-AF90-65700C2428BB}"/>
              </a:ext>
            </a:extLst>
          </p:cNvPr>
          <p:cNvSpPr txBox="1">
            <a:spLocks/>
          </p:cNvSpPr>
          <p:nvPr/>
        </p:nvSpPr>
        <p:spPr>
          <a:xfrm>
            <a:off x="4352438" y="1700808"/>
            <a:ext cx="456368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685800" rtl="0" eaLnBrk="1" latinLnBrk="1" hangingPunct="1">
              <a:lnSpc>
                <a:spcPct val="150000"/>
              </a:lnSpc>
              <a:spcBef>
                <a:spcPts val="0"/>
              </a:spcBef>
              <a:buClr>
                <a:srgbClr val="559E5B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400"/>
              </a:spcAft>
              <a:buClr>
                <a:srgbClr val="9DCBA0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9DCBA0"/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spcAft>
                <a:spcPts val="300"/>
              </a:spcAft>
              <a:buClr>
                <a:srgbClr val="9DCBA0"/>
              </a:buClr>
              <a:buSzPct val="96000"/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685800" rtl="0" eaLnBrk="1" latinLnBrk="1" hangingPunct="1">
              <a:lnSpc>
                <a:spcPct val="90000"/>
              </a:lnSpc>
              <a:spcBef>
                <a:spcPts val="375"/>
              </a:spcBef>
              <a:buClr>
                <a:srgbClr val="9DCBA0"/>
              </a:buClr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algn="just">
              <a:lnSpc>
                <a:spcPts val="2100"/>
              </a:lnSpc>
              <a:buClr>
                <a:srgbClr val="E6B4C0"/>
              </a:buClr>
              <a:buFont typeface="Arial" pitchFamily="34" charset="0"/>
              <a:buChar char="•"/>
            </a:pPr>
            <a:r>
              <a:rPr lang="en-US" altLang="ko-KR" sz="1200" dirty="0"/>
              <a:t>DBMS</a:t>
            </a:r>
            <a:r>
              <a:rPr lang="ko-KR" altLang="en-US" sz="1200" dirty="0"/>
              <a:t>가 데이터 정의와 데이터 값을 관리하는 방식</a:t>
            </a:r>
          </a:p>
          <a:p>
            <a:pPr marL="285750" lvl="1" algn="just">
              <a:lnSpc>
                <a:spcPts val="2100"/>
              </a:lnSpc>
              <a:buClr>
                <a:srgbClr val="E6B4C0"/>
              </a:buClr>
              <a:buFont typeface="Arial" pitchFamily="34" charset="0"/>
              <a:buChar char="•"/>
            </a:pPr>
            <a:r>
              <a:rPr lang="en-US" altLang="ko-KR" sz="1200" dirty="0"/>
              <a:t>BOOK </a:t>
            </a:r>
            <a:r>
              <a:rPr lang="ko-KR" altLang="en-US" sz="1200" dirty="0"/>
              <a:t>데이터 구조는 </a:t>
            </a:r>
            <a:r>
              <a:rPr lang="en-US" altLang="ko-KR" sz="1200" dirty="0"/>
              <a:t>DBMS</a:t>
            </a:r>
            <a:r>
              <a:rPr lang="ko-KR" altLang="en-US" sz="1200" dirty="0"/>
              <a:t>가 관리하고</a:t>
            </a:r>
            <a:r>
              <a:rPr lang="en-US" altLang="ko-KR" sz="1200" dirty="0"/>
              <a:t>, </a:t>
            </a:r>
            <a:r>
              <a:rPr lang="ko-KR" altLang="en-US" sz="1200" dirty="0"/>
              <a:t>데이터 값은 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ko-KR" altLang="en-US" sz="1200" dirty="0"/>
              <a:t>데이터베이스에 저장됨</a:t>
            </a:r>
          </a:p>
          <a:p>
            <a:pPr marL="285750" lvl="1" algn="just">
              <a:lnSpc>
                <a:spcPts val="2100"/>
              </a:lnSpc>
              <a:buClr>
                <a:srgbClr val="E6B4C0"/>
              </a:buClr>
              <a:buFont typeface="Arial" pitchFamily="34" charset="0"/>
              <a:buChar char="•"/>
            </a:pPr>
            <a:r>
              <a:rPr lang="ko-KR" altLang="en-US" sz="1200" dirty="0"/>
              <a:t>데이터 값이 바뀌거나 데이터 값이 바뀌어도 프로그램을 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ko-KR" altLang="en-US" sz="1200" dirty="0"/>
              <a:t>다시 컴파일할 필요 없음</a:t>
            </a:r>
          </a:p>
          <a:p>
            <a:pPr lvl="2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06" y="1772816"/>
            <a:ext cx="3557841" cy="433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903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파일 시스템과 </a:t>
            </a:r>
            <a:r>
              <a:rPr lang="en-US" altLang="ko-KR" dirty="0"/>
              <a:t>DBMS</a:t>
            </a:r>
            <a:r>
              <a:rPr lang="ko-KR" altLang="en-US" dirty="0"/>
              <a:t>의 비교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276872"/>
            <a:ext cx="8208963" cy="2764878"/>
          </a:xfrm>
        </p:spPr>
      </p:pic>
    </p:spTree>
    <p:extLst>
      <p:ext uri="{BB962C8B-B14F-4D97-AF65-F5344CB8AC3E}">
        <p14:creationId xmlns:p14="http://schemas.microsoft.com/office/powerpoint/2010/main" val="27963332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파일 시스템과 </a:t>
            </a:r>
            <a:r>
              <a:rPr lang="en-US" altLang="ko-KR" dirty="0"/>
              <a:t>DBMS</a:t>
            </a:r>
            <a:r>
              <a:rPr lang="ko-KR" altLang="en-US" dirty="0"/>
              <a:t>의 비교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844824"/>
            <a:ext cx="4464496" cy="1969468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005064"/>
            <a:ext cx="5310925" cy="208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3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파일 시스템과 </a:t>
            </a:r>
            <a:r>
              <a:rPr lang="en-US" altLang="ko-KR" dirty="0"/>
              <a:t>DBMS</a:t>
            </a:r>
            <a:r>
              <a:rPr lang="ko-KR" altLang="en-US" dirty="0"/>
              <a:t>의 비교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25" y="2269943"/>
            <a:ext cx="8208963" cy="3110276"/>
          </a:xfrm>
        </p:spPr>
      </p:pic>
    </p:spTree>
    <p:extLst>
      <p:ext uri="{BB962C8B-B14F-4D97-AF65-F5344CB8AC3E}">
        <p14:creationId xmlns:p14="http://schemas.microsoft.com/office/powerpoint/2010/main" val="2689033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dirty="0"/>
              <a:t>데이터베이스 시스템의 구성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E5EB2D-ABC3-4EA3-A546-2566C7D35CB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데이터베이스 언어</a:t>
            </a:r>
            <a:endParaRPr lang="en-US" altLang="ko-KR" dirty="0"/>
          </a:p>
          <a:p>
            <a:r>
              <a:rPr lang="ko-KR" altLang="en-US" dirty="0"/>
              <a:t>데이터베이스 사용자</a:t>
            </a:r>
            <a:endParaRPr lang="en-US" altLang="ko-KR" dirty="0"/>
          </a:p>
          <a:p>
            <a:r>
              <a:rPr lang="en-US" altLang="ko-KR" dirty="0"/>
              <a:t>DBMS</a:t>
            </a:r>
          </a:p>
          <a:p>
            <a:r>
              <a:rPr lang="ko-KR" altLang="en-US" dirty="0"/>
              <a:t>데이터 모델</a:t>
            </a:r>
            <a:endParaRPr lang="en-US" altLang="ko-KR" dirty="0"/>
          </a:p>
          <a:p>
            <a:r>
              <a:rPr lang="ko-KR" altLang="en-US" dirty="0"/>
              <a:t>데이터베이스의 개념적 구조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2059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</a:t>
            </a:r>
            <a:r>
              <a:rPr lang="ko-KR" altLang="en-US" dirty="0"/>
              <a:t>데이터베이스 시스템의 구성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196752"/>
            <a:ext cx="7017486" cy="5399087"/>
          </a:xfrm>
        </p:spPr>
      </p:pic>
    </p:spTree>
    <p:extLst>
      <p:ext uri="{BB962C8B-B14F-4D97-AF65-F5344CB8AC3E}">
        <p14:creationId xmlns:p14="http://schemas.microsoft.com/office/powerpoint/2010/main" val="889052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언어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AF514D-A05B-48EB-8BF8-B825F838B97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</a:p>
          <a:p>
            <a:pPr lvl="1" indent="-165100">
              <a:buFont typeface="Arial" pitchFamily="34" charset="0"/>
              <a:buChar char="•"/>
            </a:pPr>
            <a:r>
              <a:rPr lang="ko-KR" altLang="en-US" dirty="0"/>
              <a:t>데이터 </a:t>
            </a:r>
            <a:r>
              <a:rPr lang="ko-KR" altLang="en-US" dirty="0" err="1"/>
              <a:t>정의어</a:t>
            </a:r>
            <a:r>
              <a:rPr lang="en-US" altLang="ko-KR" dirty="0"/>
              <a:t>(DDL, Data Definition Language)</a:t>
            </a:r>
          </a:p>
          <a:p>
            <a:pPr lvl="1" indent="-165100">
              <a:buFont typeface="Arial" pitchFamily="34" charset="0"/>
              <a:buChar char="•"/>
            </a:pPr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en-US" altLang="ko-KR" dirty="0"/>
              <a:t>(DML, Data Manipulation Language)</a:t>
            </a:r>
          </a:p>
          <a:p>
            <a:pPr lvl="1" indent="-165100">
              <a:buFont typeface="Arial" pitchFamily="34" charset="0"/>
              <a:buChar char="•"/>
            </a:pPr>
            <a:r>
              <a:rPr lang="ko-KR" altLang="en-US" dirty="0"/>
              <a:t>데이터 </a:t>
            </a:r>
            <a:r>
              <a:rPr lang="ko-KR" altLang="en-US" dirty="0" err="1"/>
              <a:t>제어어</a:t>
            </a:r>
            <a:r>
              <a:rPr lang="en-US" altLang="ko-KR" dirty="0"/>
              <a:t>(DCL, Data Control Language)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86C22-042B-487B-9915-219FD3004CA9}"/>
              </a:ext>
            </a:extLst>
          </p:cNvPr>
          <p:cNvSpPr txBox="1"/>
          <p:nvPr/>
        </p:nvSpPr>
        <p:spPr>
          <a:xfrm>
            <a:off x="1093781" y="2823329"/>
            <a:ext cx="6480720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1-1   Book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테이블에서 모든 도서이름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1200" b="1" dirty="0" err="1">
                <a:solidFill>
                  <a:schemeClr val="bg1"/>
                </a:solidFill>
                <a:latin typeface="+mn-ea"/>
              </a:rPr>
              <a:t>bookname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과 출판사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(publisher)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를 </a:t>
            </a: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검색하시오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339505"/>
            <a:ext cx="6383437" cy="2520280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 flipH="1">
            <a:off x="3670075" y="5188560"/>
            <a:ext cx="288032" cy="144016"/>
          </a:xfrm>
          <a:prstGeom prst="rightArrow">
            <a:avLst/>
          </a:prstGeom>
          <a:solidFill>
            <a:srgbClr val="E6B4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4543056"/>
            <a:ext cx="3288384" cy="154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522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14" y="1916832"/>
            <a:ext cx="6912768" cy="24482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언어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86C22-042B-487B-9915-219FD3004CA9}"/>
              </a:ext>
            </a:extLst>
          </p:cNvPr>
          <p:cNvSpPr txBox="1"/>
          <p:nvPr/>
        </p:nvSpPr>
        <p:spPr>
          <a:xfrm>
            <a:off x="988114" y="1268760"/>
            <a:ext cx="7078620" cy="276999"/>
          </a:xfrm>
          <a:prstGeom prst="rect">
            <a:avLst/>
          </a:prstGeom>
          <a:solidFill>
            <a:srgbClr val="E6B4C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질의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1-2  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가격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(price)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이 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10,000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원 이상인 도서이름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1200" b="1" dirty="0" err="1">
                <a:solidFill>
                  <a:schemeClr val="bg1"/>
                </a:solidFill>
                <a:latin typeface="+mn-ea"/>
              </a:rPr>
              <a:t>bookname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과 출판사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(publisher)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</a:rPr>
              <a:t>를 </a:t>
            </a:r>
            <a:r>
              <a:rPr lang="ko-KR" altLang="en-US" sz="1200" b="1" dirty="0" err="1">
                <a:solidFill>
                  <a:schemeClr val="bg1"/>
                </a:solidFill>
                <a:latin typeface="+mn-ea"/>
              </a:rPr>
              <a:t>검색하시오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오른쪽 화살표 8"/>
          <p:cNvSpPr/>
          <p:nvPr/>
        </p:nvSpPr>
        <p:spPr>
          <a:xfrm flipH="1">
            <a:off x="3698648" y="3933056"/>
            <a:ext cx="288032" cy="144016"/>
          </a:xfrm>
          <a:prstGeom prst="rightArrow">
            <a:avLst/>
          </a:prstGeom>
          <a:solidFill>
            <a:srgbClr val="E6B4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789040"/>
            <a:ext cx="3288384" cy="154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77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데이터베이스 사용자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283B6F-841A-4987-9DB9-66ED70AA47A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일반사용자</a:t>
            </a:r>
            <a:endParaRPr lang="en-US" altLang="ko-KR" dirty="0"/>
          </a:p>
          <a:p>
            <a:pPr lvl="1" indent="-165100" algn="just">
              <a:buFont typeface="Arial" pitchFamily="34" charset="0"/>
              <a:buChar char="•"/>
            </a:pPr>
            <a:r>
              <a:rPr lang="ko-KR" altLang="en-US" b="0" dirty="0"/>
              <a:t>은행의 창구 혹은 관공서의 민원 접수처 등에서 데이터를 다루는 업무를 하는 사람</a:t>
            </a:r>
            <a:endParaRPr lang="en-US" altLang="ko-KR" b="0" dirty="0"/>
          </a:p>
          <a:p>
            <a:pPr lvl="1" indent="-165100" algn="just">
              <a:buFont typeface="Arial" pitchFamily="34" charset="0"/>
              <a:buChar char="•"/>
            </a:pPr>
            <a:r>
              <a:rPr lang="ko-KR" altLang="en-US" b="0" dirty="0"/>
              <a:t>프로그래머가 개발한 프로그램을 이용하여 데이터베이스에 접근</a:t>
            </a:r>
            <a:r>
              <a:rPr lang="en-US" altLang="ko-KR" b="0" dirty="0"/>
              <a:t> </a:t>
            </a:r>
            <a:r>
              <a:rPr lang="ko-KR" altLang="en-US" b="0" dirty="0"/>
              <a:t>일반인 </a:t>
            </a:r>
            <a:endParaRPr lang="en-US" altLang="ko-KR" b="0" dirty="0"/>
          </a:p>
          <a:p>
            <a:pPr algn="just">
              <a:buNone/>
            </a:pPr>
            <a:endParaRPr lang="en-US" altLang="ko-KR" sz="700" dirty="0"/>
          </a:p>
          <a:p>
            <a:r>
              <a:rPr lang="ko-KR" altLang="en-US" dirty="0" err="1"/>
              <a:t>응용프로그래머</a:t>
            </a:r>
            <a:endParaRPr lang="en-US" altLang="ko-KR" dirty="0"/>
          </a:p>
          <a:p>
            <a:pPr lvl="1" indent="-165100" algn="just">
              <a:buFont typeface="Arial" pitchFamily="34" charset="0"/>
              <a:buChar char="•"/>
            </a:pPr>
            <a:r>
              <a:rPr lang="ko-KR" altLang="en-US" b="0" dirty="0"/>
              <a:t>일반 사용자가 사용할 수 있도록 프로그램을 만드는 사람</a:t>
            </a:r>
            <a:endParaRPr lang="en-US" altLang="ko-KR" b="0" dirty="0"/>
          </a:p>
          <a:p>
            <a:pPr lvl="1" indent="-165100" algn="just">
              <a:buFont typeface="Arial" pitchFamily="34" charset="0"/>
              <a:buChar char="•"/>
            </a:pPr>
            <a:r>
              <a:rPr lang="ko-KR" altLang="en-US" b="0" dirty="0"/>
              <a:t>자바</a:t>
            </a:r>
            <a:r>
              <a:rPr lang="en-US" altLang="ko-KR" b="0" dirty="0"/>
              <a:t>, C, JSP </a:t>
            </a:r>
            <a:r>
              <a:rPr lang="ko-KR" altLang="en-US" b="0" dirty="0"/>
              <a:t>등의 프로그래밍 언어와 </a:t>
            </a:r>
            <a:r>
              <a:rPr lang="en-US" altLang="ko-KR" b="0" dirty="0"/>
              <a:t>SQL</a:t>
            </a:r>
            <a:r>
              <a:rPr lang="ko-KR" altLang="en-US" b="0" dirty="0"/>
              <a:t>을 사용하여 일반 사용자를 위한 사용자 인터페이스와 데이터를 관리하는 응용 로직을 개발</a:t>
            </a:r>
            <a:endParaRPr lang="en-US" altLang="ko-KR" b="0" dirty="0"/>
          </a:p>
          <a:p>
            <a:pPr algn="just">
              <a:buNone/>
            </a:pPr>
            <a:endParaRPr lang="en-US" altLang="ko-KR" sz="700" dirty="0"/>
          </a:p>
          <a:p>
            <a:r>
              <a:rPr lang="en-US" altLang="ko-KR" dirty="0"/>
              <a:t>SQL </a:t>
            </a:r>
            <a:r>
              <a:rPr lang="ko-KR" altLang="en-US" dirty="0"/>
              <a:t>사용자</a:t>
            </a:r>
            <a:endParaRPr lang="en-US" altLang="ko-KR" dirty="0"/>
          </a:p>
          <a:p>
            <a:pPr lvl="1" indent="-165100">
              <a:buFont typeface="Arial" pitchFamily="34" charset="0"/>
              <a:buChar char="•"/>
            </a:pPr>
            <a:r>
              <a:rPr lang="en-US" altLang="ko-KR" b="0" dirty="0"/>
              <a:t>SQL</a:t>
            </a:r>
            <a:r>
              <a:rPr lang="ko-KR" altLang="en-US" b="0" dirty="0"/>
              <a:t>을 사용하여 업무를 처리하는 </a:t>
            </a:r>
            <a:r>
              <a:rPr lang="en-US" altLang="ko-KR" b="0" dirty="0"/>
              <a:t>IT </a:t>
            </a:r>
            <a:r>
              <a:rPr lang="ko-KR" altLang="en-US" b="0" dirty="0"/>
              <a:t>부서의 담당자</a:t>
            </a:r>
            <a:endParaRPr lang="en-US" altLang="ko-KR" b="0" dirty="0"/>
          </a:p>
          <a:p>
            <a:pPr lvl="1" indent="-165100">
              <a:buFont typeface="Arial" pitchFamily="34" charset="0"/>
              <a:buChar char="•"/>
            </a:pPr>
            <a:r>
              <a:rPr lang="ko-KR" altLang="en-US" b="0" dirty="0"/>
              <a:t>응용 프로그램으로 구현되어 있지 않은 업무를 </a:t>
            </a:r>
            <a:r>
              <a:rPr lang="en-US" altLang="ko-KR" b="0" dirty="0"/>
              <a:t>SQL</a:t>
            </a:r>
            <a:r>
              <a:rPr lang="ko-KR" altLang="en-US" b="0" dirty="0"/>
              <a:t>을 사용하여 처리</a:t>
            </a:r>
            <a:endParaRPr lang="en-US" altLang="ko-KR" b="0" dirty="0"/>
          </a:p>
          <a:p>
            <a:pPr>
              <a:buNone/>
            </a:pPr>
            <a:endParaRPr lang="en-US" altLang="ko-KR" sz="700" dirty="0"/>
          </a:p>
          <a:p>
            <a:r>
              <a:rPr lang="ko-KR" altLang="en-US" dirty="0"/>
              <a:t>데이터베이스 관리자</a:t>
            </a:r>
            <a:r>
              <a:rPr lang="en-US" altLang="ko-KR" dirty="0"/>
              <a:t>(DBA, Database Administrator)</a:t>
            </a:r>
          </a:p>
          <a:p>
            <a:pPr lvl="1" indent="-165100">
              <a:buFont typeface="Arial" pitchFamily="34" charset="0"/>
              <a:buChar char="•"/>
            </a:pPr>
            <a:r>
              <a:rPr lang="ko-KR" altLang="en-US" b="0" dirty="0"/>
              <a:t>데이터베이스 운영 조직의 데이터베이스 시스템을 총괄하는 사람</a:t>
            </a:r>
            <a:endParaRPr lang="en-US" altLang="ko-KR" b="0" dirty="0"/>
          </a:p>
          <a:p>
            <a:pPr lvl="1" indent="-165100">
              <a:buFont typeface="Arial" pitchFamily="34" charset="0"/>
              <a:buChar char="•"/>
            </a:pPr>
            <a:r>
              <a:rPr lang="ko-KR" altLang="en-US" b="0" dirty="0"/>
              <a:t>데이터 설계</a:t>
            </a:r>
            <a:r>
              <a:rPr lang="en-US" altLang="ko-KR" b="0" dirty="0"/>
              <a:t>, </a:t>
            </a:r>
            <a:r>
              <a:rPr lang="ko-KR" altLang="en-US" b="0" dirty="0"/>
              <a:t>구현</a:t>
            </a:r>
            <a:r>
              <a:rPr lang="en-US" altLang="ko-KR" b="0" dirty="0"/>
              <a:t>, </a:t>
            </a:r>
            <a:r>
              <a:rPr lang="ko-KR" altLang="en-US" b="0" dirty="0"/>
              <a:t>유지보수의 전 과정을 담당</a:t>
            </a:r>
            <a:endParaRPr lang="en-US" altLang="ko-KR" b="0" dirty="0"/>
          </a:p>
          <a:p>
            <a:pPr lvl="1" indent="-165100">
              <a:buFont typeface="Arial" pitchFamily="34" charset="0"/>
              <a:buChar char="•"/>
            </a:pPr>
            <a:r>
              <a:rPr lang="ko-KR" altLang="en-US" b="0" dirty="0"/>
              <a:t>데이터베이스 사용자 통제</a:t>
            </a:r>
            <a:r>
              <a:rPr lang="en-US" altLang="ko-KR" b="0" dirty="0"/>
              <a:t>, </a:t>
            </a:r>
            <a:r>
              <a:rPr lang="ko-KR" altLang="en-US" b="0" dirty="0"/>
              <a:t>보안</a:t>
            </a:r>
            <a:r>
              <a:rPr lang="en-US" altLang="ko-KR" b="0" dirty="0"/>
              <a:t>, </a:t>
            </a:r>
            <a:r>
              <a:rPr lang="ko-KR" altLang="en-US" b="0" dirty="0"/>
              <a:t>성능 모니터링</a:t>
            </a:r>
            <a:r>
              <a:rPr lang="en-US" altLang="ko-KR" b="0" dirty="0"/>
              <a:t>, </a:t>
            </a:r>
            <a:r>
              <a:rPr lang="ko-KR" altLang="en-US" b="0" dirty="0"/>
              <a:t>데이터 전체 파악 및 관리</a:t>
            </a:r>
            <a:r>
              <a:rPr lang="en-US" altLang="ko-KR" b="0" dirty="0"/>
              <a:t>, </a:t>
            </a:r>
            <a:r>
              <a:rPr lang="ko-KR" altLang="en-US" b="0" dirty="0"/>
              <a:t>데이터 이동 및 복사 등 제반 업무를 함</a:t>
            </a:r>
            <a:endParaRPr lang="en-US" altLang="ko-KR" b="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1701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데이터베이스 사용자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25" y="2622392"/>
            <a:ext cx="8208963" cy="2405379"/>
          </a:xfrm>
        </p:spPr>
      </p:pic>
    </p:spTree>
    <p:extLst>
      <p:ext uri="{BB962C8B-B14F-4D97-AF65-F5344CB8AC3E}">
        <p14:creationId xmlns:p14="http://schemas.microsoft.com/office/powerpoint/2010/main" val="6421979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DBMS</a:t>
            </a:r>
            <a:endParaRPr lang="ko-KR" altLang="en-US" dirty="0"/>
          </a:p>
        </p:txBody>
      </p:sp>
      <p:pic>
        <p:nvPicPr>
          <p:cNvPr id="11" name="내용 개체 틀 10" descr="스크린샷이(가) 표시된 사진&#10;&#10;자동 생성된 설명">
            <a:extLst>
              <a:ext uri="{FF2B5EF4-FFF2-40B4-BE49-F238E27FC236}">
                <a16:creationId xmlns:a16="http://schemas.microsoft.com/office/drawing/2014/main" id="{BB3B0C22-EA51-41C4-9C29-5CE859D4CA04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772816"/>
            <a:ext cx="7744301" cy="2753529"/>
          </a:xfrm>
        </p:spPr>
      </p:pic>
    </p:spTree>
    <p:extLst>
      <p:ext uri="{BB962C8B-B14F-4D97-AF65-F5344CB8AC3E}">
        <p14:creationId xmlns:p14="http://schemas.microsoft.com/office/powerpoint/2010/main" val="23151886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3332FA-B6E8-4F38-A0D4-5DB6C9CC1E7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계층 데이터 모델</a:t>
            </a:r>
            <a:r>
              <a:rPr lang="en-US" altLang="ko-KR" dirty="0"/>
              <a:t>(hierarchical data model)</a:t>
            </a:r>
          </a:p>
          <a:p>
            <a:r>
              <a:rPr lang="ko-KR" altLang="en-US" dirty="0"/>
              <a:t>네트워크 데이터 모델</a:t>
            </a:r>
            <a:r>
              <a:rPr lang="en-US" altLang="ko-KR" dirty="0"/>
              <a:t>(network data model) </a:t>
            </a:r>
          </a:p>
          <a:p>
            <a:r>
              <a:rPr lang="ko-KR" altLang="en-US" dirty="0"/>
              <a:t>객체 데이터 모델</a:t>
            </a:r>
            <a:r>
              <a:rPr lang="en-US" altLang="ko-KR" dirty="0"/>
              <a:t>(object data model)</a:t>
            </a:r>
          </a:p>
          <a:p>
            <a:r>
              <a:rPr lang="ko-KR" altLang="en-US" dirty="0"/>
              <a:t>관계 데이터 모델</a:t>
            </a:r>
            <a:r>
              <a:rPr lang="en-US" altLang="ko-KR" dirty="0"/>
              <a:t>(relational data model)</a:t>
            </a:r>
          </a:p>
          <a:p>
            <a:r>
              <a:rPr lang="ko-KR" altLang="en-US" dirty="0"/>
              <a:t>객체</a:t>
            </a:r>
            <a:r>
              <a:rPr lang="en-US" altLang="ko-KR" dirty="0"/>
              <a:t>-</a:t>
            </a:r>
            <a:r>
              <a:rPr lang="ko-KR" altLang="en-US" dirty="0"/>
              <a:t>관계 데이터 모델</a:t>
            </a:r>
            <a:r>
              <a:rPr lang="en-US" altLang="ko-KR" dirty="0"/>
              <a:t>(object-relational data model) </a:t>
            </a:r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8A99E4-A359-41D3-ABBF-74A32389748E}"/>
              </a:ext>
            </a:extLst>
          </p:cNvPr>
          <p:cNvSpPr txBox="1"/>
          <p:nvPr/>
        </p:nvSpPr>
        <p:spPr>
          <a:xfrm>
            <a:off x="4716016" y="2210688"/>
            <a:ext cx="2088232" cy="57606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700" b="1" i="1" dirty="0">
                <a:solidFill>
                  <a:srgbClr val="DB91A3"/>
                </a:solidFill>
                <a:latin typeface="+mn-lt"/>
              </a:rPr>
              <a:t>→ </a:t>
            </a:r>
            <a:r>
              <a:rPr lang="ko-KR" altLang="en-US" sz="1400" b="1" i="1" dirty="0">
                <a:solidFill>
                  <a:srgbClr val="DB91A3"/>
                </a:solidFill>
                <a:latin typeface="+mj-lt"/>
                <a:ea typeface="+mj-ea"/>
              </a:rPr>
              <a:t>가장 많이 쓰인다</a:t>
            </a:r>
            <a:endParaRPr lang="en-US" altLang="ko-KR" sz="1400" b="1" i="1" dirty="0">
              <a:solidFill>
                <a:srgbClr val="DB91A3"/>
              </a:solidFill>
              <a:latin typeface="+mj-lt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F64CD-9025-4B8A-8544-D9B773CD23B9}"/>
              </a:ext>
            </a:extLst>
          </p:cNvPr>
          <p:cNvSpPr txBox="1"/>
          <p:nvPr/>
        </p:nvSpPr>
        <p:spPr>
          <a:xfrm>
            <a:off x="1446563" y="2930768"/>
            <a:ext cx="2880320" cy="72008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60000"/>
              </a:lnSpc>
            </a:pPr>
            <a:r>
              <a:rPr lang="ko-KR" altLang="en-US" sz="1400" b="1" i="1" dirty="0">
                <a:solidFill>
                  <a:srgbClr val="DB91A3"/>
                </a:solidFill>
                <a:latin typeface="+mj-ea"/>
                <a:ea typeface="+mj-ea"/>
              </a:rPr>
              <a:t>→ 관계 데이터 모델과 객체 데이터 </a:t>
            </a:r>
            <a:endParaRPr lang="en-US" altLang="ko-KR" sz="1400" b="1" i="1" dirty="0">
              <a:solidFill>
                <a:srgbClr val="DB91A3"/>
              </a:solidFill>
              <a:latin typeface="+mj-ea"/>
              <a:ea typeface="+mj-ea"/>
            </a:endParaRPr>
          </a:p>
          <a:p>
            <a:pPr>
              <a:lnSpc>
                <a:spcPct val="160000"/>
              </a:lnSpc>
            </a:pPr>
            <a:r>
              <a:rPr lang="en-US" altLang="ko-KR" sz="1400" b="1" i="1" dirty="0">
                <a:solidFill>
                  <a:srgbClr val="DB91A3"/>
                </a:solidFill>
                <a:latin typeface="+mj-ea"/>
                <a:ea typeface="+mj-ea"/>
              </a:rPr>
              <a:t>     </a:t>
            </a:r>
            <a:r>
              <a:rPr lang="ko-KR" altLang="en-US" sz="1400" b="1" i="1" dirty="0">
                <a:solidFill>
                  <a:srgbClr val="DB91A3"/>
                </a:solidFill>
                <a:latin typeface="+mj-ea"/>
                <a:ea typeface="+mj-ea"/>
              </a:rPr>
              <a:t>모델의 장점을 결합한 모델</a:t>
            </a:r>
            <a:endParaRPr lang="en-US" altLang="ko-KR" sz="1400" b="1" i="1" dirty="0">
              <a:solidFill>
                <a:srgbClr val="DB91A3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168071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006A86B1-787E-40E5-B817-901714965B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학생</a:t>
            </a:r>
            <a:r>
              <a:rPr lang="en-US" altLang="ko-KR" dirty="0"/>
              <a:t>-</a:t>
            </a:r>
            <a:r>
              <a:rPr lang="ko-KR" altLang="en-US" dirty="0"/>
              <a:t>강좌 관계</a:t>
            </a:r>
            <a:r>
              <a:rPr lang="en-US" altLang="ko-KR" dirty="0"/>
              <a:t>(relationship)</a:t>
            </a:r>
            <a:r>
              <a:rPr lang="ko-KR" altLang="en-US" dirty="0"/>
              <a:t>를 표현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+mj-ea"/>
              <a:buAutoNum type="circleNumDbPlain"/>
            </a:pPr>
            <a:r>
              <a:rPr lang="ko-KR" altLang="en-US" dirty="0"/>
              <a:t>포인터 사용 </a:t>
            </a:r>
            <a:r>
              <a:rPr lang="en-US" altLang="ko-KR" dirty="0"/>
              <a:t>: </a:t>
            </a:r>
            <a:r>
              <a:rPr lang="ko-KR" altLang="en-US" dirty="0"/>
              <a:t>계층 데이터 모델</a:t>
            </a:r>
            <a:r>
              <a:rPr lang="en-US" altLang="ko-KR" dirty="0"/>
              <a:t>, </a:t>
            </a:r>
            <a:r>
              <a:rPr lang="ko-KR" altLang="en-US" dirty="0"/>
              <a:t>네트워크 데이터 모델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51" y="1527672"/>
            <a:ext cx="7200000" cy="252036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51" y="4509120"/>
            <a:ext cx="7200000" cy="216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019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51" y="4537388"/>
            <a:ext cx="7200000" cy="21037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006A86B1-787E-40E5-B817-901714965B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학생</a:t>
            </a:r>
            <a:r>
              <a:rPr lang="en-US" altLang="ko-KR" dirty="0"/>
              <a:t>-</a:t>
            </a:r>
            <a:r>
              <a:rPr lang="ko-KR" altLang="en-US" dirty="0"/>
              <a:t>강좌 관계</a:t>
            </a:r>
            <a:r>
              <a:rPr lang="en-US" altLang="ko-KR" dirty="0"/>
              <a:t>(relationship)</a:t>
            </a:r>
            <a:r>
              <a:rPr lang="ko-KR" altLang="en-US" dirty="0"/>
              <a:t>를 표현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+mj-ea"/>
              <a:buAutoNum type="circleNumDbPlain" startAt="2"/>
            </a:pPr>
            <a:r>
              <a:rPr lang="ko-KR" altLang="en-US" dirty="0"/>
              <a:t>속성 값 사용 </a:t>
            </a:r>
            <a:r>
              <a:rPr lang="en-US" altLang="ko-KR" dirty="0"/>
              <a:t>: </a:t>
            </a:r>
            <a:r>
              <a:rPr lang="ko-KR" altLang="en-US" dirty="0"/>
              <a:t>관계 데이터 모델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D0ABBE-C6AC-4566-900E-9D6BF3E0F872}"/>
              </a:ext>
            </a:extLst>
          </p:cNvPr>
          <p:cNvSpPr/>
          <p:nvPr/>
        </p:nvSpPr>
        <p:spPr>
          <a:xfrm>
            <a:off x="2579072" y="5151368"/>
            <a:ext cx="432048" cy="2880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1CE63C-3C8D-4DE3-B9B9-3B0597CCEBA7}"/>
              </a:ext>
            </a:extLst>
          </p:cNvPr>
          <p:cNvSpPr/>
          <p:nvPr/>
        </p:nvSpPr>
        <p:spPr>
          <a:xfrm>
            <a:off x="3203848" y="5589240"/>
            <a:ext cx="504056" cy="3600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51" y="1527672"/>
            <a:ext cx="7200000" cy="252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740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51" y="4503101"/>
            <a:ext cx="7200000" cy="21383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006A86B1-787E-40E5-B817-901714965B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학생</a:t>
            </a:r>
            <a:r>
              <a:rPr lang="en-US" altLang="ko-KR" dirty="0"/>
              <a:t>-</a:t>
            </a:r>
            <a:r>
              <a:rPr lang="ko-KR" altLang="en-US" dirty="0"/>
              <a:t>강좌 관계</a:t>
            </a:r>
            <a:r>
              <a:rPr lang="en-US" altLang="ko-KR" dirty="0"/>
              <a:t>(relationship)</a:t>
            </a:r>
            <a:r>
              <a:rPr lang="ko-KR" altLang="en-US" dirty="0"/>
              <a:t>를 표현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+mj-ea"/>
              <a:buAutoNum type="circleNumDbPlain" startAt="3"/>
            </a:pPr>
            <a:r>
              <a:rPr lang="ko-KR" altLang="en-US" dirty="0"/>
              <a:t>객체식별자 사용</a:t>
            </a:r>
            <a:r>
              <a:rPr lang="en-US" altLang="ko-KR" dirty="0"/>
              <a:t>: </a:t>
            </a:r>
            <a:r>
              <a:rPr lang="ko-KR" altLang="en-US" dirty="0"/>
              <a:t>객체 데이터 모델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107B64-1107-4C3C-9F3B-913B369E10B8}"/>
              </a:ext>
            </a:extLst>
          </p:cNvPr>
          <p:cNvSpPr/>
          <p:nvPr/>
        </p:nvSpPr>
        <p:spPr>
          <a:xfrm>
            <a:off x="2574826" y="5115882"/>
            <a:ext cx="432048" cy="2880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ECFCC2-E351-4D20-B7FC-BA1CA1D40B02}"/>
              </a:ext>
            </a:extLst>
          </p:cNvPr>
          <p:cNvSpPr/>
          <p:nvPr/>
        </p:nvSpPr>
        <p:spPr>
          <a:xfrm>
            <a:off x="3222898" y="5583934"/>
            <a:ext cx="432048" cy="32403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51" y="1527672"/>
            <a:ext cx="7200000" cy="252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5435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006A86B1-787E-40E5-B817-901714965B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412776"/>
            <a:ext cx="6671592" cy="457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016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006A86B1-787E-40E5-B817-901714965B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899" y="1962018"/>
            <a:ext cx="6588000" cy="396880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900" y="1442571"/>
            <a:ext cx="6588000" cy="54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0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006A86B1-787E-40E5-B817-901714965B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034924-B680-4885-B813-6BB71B277FFE}"/>
              </a:ext>
            </a:extLst>
          </p:cNvPr>
          <p:cNvSpPr/>
          <p:nvPr/>
        </p:nvSpPr>
        <p:spPr>
          <a:xfrm>
            <a:off x="1197779" y="6207695"/>
            <a:ext cx="97930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㈜ 그림은 데이터 모델이 주로 사용되는 시기를 표시</a:t>
            </a:r>
            <a:endParaRPr lang="en-US" altLang="ko-KR" sz="1200" dirty="0"/>
          </a:p>
          <a:p>
            <a:r>
              <a:rPr lang="ko-KR" altLang="en-US" sz="1200" dirty="0"/>
              <a:t>계층과 네트워크 모델은 </a:t>
            </a:r>
            <a:r>
              <a:rPr lang="en-US" altLang="ko-KR" sz="1200" dirty="0"/>
              <a:t>1960</a:t>
            </a:r>
            <a:r>
              <a:rPr lang="ko-KR" altLang="en-US" sz="1200" dirty="0"/>
              <a:t>년대</a:t>
            </a:r>
            <a:r>
              <a:rPr lang="en-US" altLang="ko-KR" sz="1200" dirty="0"/>
              <a:t>, </a:t>
            </a:r>
            <a:r>
              <a:rPr lang="ko-KR" altLang="en-US" sz="1200" dirty="0"/>
              <a:t>관계 데이터모델은 </a:t>
            </a:r>
            <a:r>
              <a:rPr lang="en-US" altLang="ko-KR" sz="1200" dirty="0"/>
              <a:t>1970</a:t>
            </a:r>
            <a:r>
              <a:rPr lang="ko-KR" altLang="en-US" sz="1200" dirty="0"/>
              <a:t>년대에 처음 사용되기 시작</a:t>
            </a:r>
            <a:endParaRPr lang="en-US" altLang="ko-KR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751196"/>
            <a:ext cx="6228689" cy="43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0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데이터베이스의 개념적 구조</a:t>
            </a:r>
            <a:endParaRPr lang="ko-KR" altLang="en-US" dirty="0"/>
          </a:p>
        </p:txBody>
      </p:sp>
      <p:sp>
        <p:nvSpPr>
          <p:cNvPr id="17" name="내용 개체 틀 16">
            <a:extLst>
              <a:ext uri="{FF2B5EF4-FFF2-40B4-BE49-F238E27FC236}">
                <a16:creationId xmlns:a16="http://schemas.microsoft.com/office/drawing/2014/main" id="{006A86B1-787E-40E5-B817-901714965B5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단계 데이터베이스 구조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526" y="1988840"/>
            <a:ext cx="7020272" cy="40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8099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데이터베이스의 개념적 구조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3332FA-B6E8-4F38-A0D4-5DB6C9CC1E7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외부 스키마</a:t>
            </a:r>
            <a:endParaRPr lang="en-US" altLang="ko-KR" dirty="0"/>
          </a:p>
          <a:p>
            <a:pPr lvl="2" indent="-165100"/>
            <a:r>
              <a:rPr lang="ko-KR" altLang="en-US" b="0" dirty="0"/>
              <a:t>일반 사용자나 응용 프로그래머가 접근하는 계층</a:t>
            </a:r>
            <a:r>
              <a:rPr lang="en-US" altLang="ko-KR" b="0" dirty="0"/>
              <a:t>,</a:t>
            </a:r>
            <a:r>
              <a:rPr lang="ko-KR" altLang="en-US" b="0" dirty="0"/>
              <a:t> 전체 데이터베이스 중에서 하나의 논리적인 부분을 의미</a:t>
            </a:r>
            <a:endParaRPr lang="en-US" altLang="ko-KR" b="0" dirty="0"/>
          </a:p>
          <a:p>
            <a:pPr lvl="2" indent="-165100"/>
            <a:r>
              <a:rPr lang="ko-KR" altLang="en-US" b="0" dirty="0"/>
              <a:t>여러 개의 외부 스키마</a:t>
            </a:r>
            <a:r>
              <a:rPr lang="en-US" altLang="ko-KR" b="0" dirty="0"/>
              <a:t>(external schema)</a:t>
            </a:r>
            <a:r>
              <a:rPr lang="ko-KR" altLang="en-US" b="0" dirty="0"/>
              <a:t>가 있을 수 있음</a:t>
            </a:r>
            <a:endParaRPr lang="en-US" altLang="ko-KR" b="0" dirty="0"/>
          </a:p>
          <a:p>
            <a:pPr lvl="2" indent="-165100"/>
            <a:r>
              <a:rPr lang="ko-KR" altLang="en-US" b="0" dirty="0"/>
              <a:t>서브 스키마</a:t>
            </a:r>
            <a:r>
              <a:rPr lang="en-US" altLang="ko-KR" b="0" dirty="0"/>
              <a:t>(sub schema)</a:t>
            </a:r>
            <a:r>
              <a:rPr lang="ko-KR" altLang="en-US" b="0" dirty="0"/>
              <a:t>라고도 하며</a:t>
            </a:r>
            <a:r>
              <a:rPr lang="en-US" altLang="ko-KR" b="0" dirty="0"/>
              <a:t>, </a:t>
            </a:r>
            <a:r>
              <a:rPr lang="ko-KR" altLang="en-US" b="0" dirty="0"/>
              <a:t>뷰</a:t>
            </a:r>
            <a:r>
              <a:rPr lang="en-US" altLang="ko-KR" b="0" dirty="0"/>
              <a:t>(view)</a:t>
            </a:r>
            <a:r>
              <a:rPr lang="ko-KR" altLang="en-US" b="0" dirty="0"/>
              <a:t>의 개념임</a:t>
            </a:r>
            <a:endParaRPr lang="en-US" altLang="ko-KR" b="0" dirty="0"/>
          </a:p>
          <a:p>
            <a:pPr>
              <a:buNone/>
            </a:pPr>
            <a:endParaRPr lang="en-US" altLang="ko-KR" sz="1000" b="0" dirty="0"/>
          </a:p>
          <a:p>
            <a:r>
              <a:rPr lang="ko-KR" altLang="en-US" dirty="0"/>
              <a:t>개념 스키마</a:t>
            </a:r>
            <a:endParaRPr lang="en-US" altLang="ko-KR" dirty="0"/>
          </a:p>
          <a:p>
            <a:pPr lvl="2" indent="-165100"/>
            <a:r>
              <a:rPr lang="ko-KR" altLang="en-US" b="0" dirty="0"/>
              <a:t>전체 데이터베이스의 정의를 의미</a:t>
            </a:r>
            <a:endParaRPr lang="en-US" altLang="ko-KR" b="0" dirty="0"/>
          </a:p>
          <a:p>
            <a:pPr lvl="2" indent="-165100"/>
            <a:r>
              <a:rPr lang="ko-KR" altLang="en-US" b="0" dirty="0"/>
              <a:t>통합 조직별로 하나만 존재하며 </a:t>
            </a:r>
            <a:r>
              <a:rPr lang="en-US" altLang="ko-KR" b="0" dirty="0"/>
              <a:t>DBA</a:t>
            </a:r>
            <a:r>
              <a:rPr lang="ko-KR" altLang="en-US" b="0" dirty="0"/>
              <a:t>가 관리함</a:t>
            </a:r>
            <a:endParaRPr lang="en-US" altLang="ko-KR" b="0" dirty="0"/>
          </a:p>
          <a:p>
            <a:pPr lvl="2" indent="-165100"/>
            <a:r>
              <a:rPr lang="ko-KR" altLang="en-US" b="0" dirty="0"/>
              <a:t>하나의 데이터베이스에는 하나의 개념 스키마</a:t>
            </a:r>
            <a:r>
              <a:rPr lang="en-US" altLang="ko-KR" b="0" dirty="0"/>
              <a:t>(conceptual schema)</a:t>
            </a:r>
            <a:r>
              <a:rPr lang="ko-KR" altLang="en-US" b="0" dirty="0"/>
              <a:t>가 있음</a:t>
            </a:r>
            <a:endParaRPr lang="en-US" altLang="ko-KR" b="0" dirty="0"/>
          </a:p>
          <a:p>
            <a:pPr>
              <a:buNone/>
            </a:pPr>
            <a:endParaRPr lang="en-US" altLang="ko-KR" sz="1050" b="0" dirty="0"/>
          </a:p>
          <a:p>
            <a:r>
              <a:rPr lang="ko-KR" altLang="en-US" dirty="0"/>
              <a:t>내부 스키마</a:t>
            </a:r>
            <a:endParaRPr lang="en-US" altLang="ko-KR" dirty="0"/>
          </a:p>
          <a:p>
            <a:pPr lvl="2" indent="-165100"/>
            <a:r>
              <a:rPr lang="ko-KR" altLang="en-US" b="0" dirty="0"/>
              <a:t>물리적 저장 장치에 데이터베이스가 실제로 저장되는 방법의 표현</a:t>
            </a:r>
            <a:endParaRPr lang="en-US" altLang="ko-KR" b="0" dirty="0"/>
          </a:p>
          <a:p>
            <a:pPr lvl="2" indent="-165100"/>
            <a:r>
              <a:rPr lang="ko-KR" altLang="en-US" b="0" dirty="0"/>
              <a:t>내부 스키마</a:t>
            </a:r>
            <a:r>
              <a:rPr lang="en-US" altLang="ko-KR" b="0" dirty="0"/>
              <a:t>(</a:t>
            </a:r>
            <a:r>
              <a:rPr lang="en-US" altLang="ko-KR" b="0" dirty="0" err="1"/>
              <a:t>intenal</a:t>
            </a:r>
            <a:r>
              <a:rPr lang="en-US" altLang="ko-KR" b="0" dirty="0"/>
              <a:t> schema)</a:t>
            </a:r>
            <a:r>
              <a:rPr lang="ko-KR" altLang="en-US" b="0" dirty="0"/>
              <a:t>는 하나</a:t>
            </a:r>
            <a:endParaRPr lang="en-US" altLang="ko-KR" b="0" dirty="0"/>
          </a:p>
          <a:p>
            <a:pPr lvl="2" indent="-165100"/>
            <a:r>
              <a:rPr lang="ko-KR" altLang="en-US" b="0" dirty="0"/>
              <a:t>인덱스</a:t>
            </a:r>
            <a:r>
              <a:rPr lang="en-US" altLang="ko-KR" b="0" dirty="0"/>
              <a:t>, </a:t>
            </a:r>
            <a:r>
              <a:rPr lang="ko-KR" altLang="en-US" b="0" dirty="0"/>
              <a:t>데이터 레코드의 배치 방법</a:t>
            </a:r>
            <a:r>
              <a:rPr lang="en-US" altLang="ko-KR" b="0" dirty="0"/>
              <a:t>, </a:t>
            </a:r>
            <a:r>
              <a:rPr lang="ko-KR" altLang="en-US" b="0" dirty="0"/>
              <a:t>데이터 압축 등에 관한 사항이 포함됨</a:t>
            </a:r>
            <a:endParaRPr lang="en-US" altLang="ko-KR" b="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1455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데이터베이스의 개념적 구조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3332FA-B6E8-4F38-A0D4-5DB6C9CC1E7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외부</a:t>
            </a:r>
            <a:r>
              <a:rPr lang="en-US" altLang="ko-KR" dirty="0"/>
              <a:t>/</a:t>
            </a:r>
            <a:r>
              <a:rPr lang="ko-KR" altLang="en-US" dirty="0"/>
              <a:t>개념 매핑</a:t>
            </a:r>
            <a:endParaRPr lang="en-US" altLang="ko-KR" dirty="0"/>
          </a:p>
          <a:p>
            <a:pPr lvl="2" indent="-165100"/>
            <a:r>
              <a:rPr lang="ko-KR" altLang="en-US" b="0" dirty="0"/>
              <a:t>사용자의 외부 스키마와 개념 스키마 간의 매핑</a:t>
            </a:r>
            <a:r>
              <a:rPr lang="en-US" altLang="ko-KR" b="0" dirty="0"/>
              <a:t>(</a:t>
            </a:r>
            <a:r>
              <a:rPr lang="ko-KR" altLang="en-US" b="0" dirty="0"/>
              <a:t>사상</a:t>
            </a:r>
            <a:r>
              <a:rPr lang="en-US" altLang="ko-KR" b="0" dirty="0"/>
              <a:t>)</a:t>
            </a:r>
          </a:p>
          <a:p>
            <a:pPr lvl="2" indent="-165100"/>
            <a:r>
              <a:rPr lang="ko-KR" altLang="en-US" b="0" dirty="0"/>
              <a:t>외부 스키마의 데이터가 개념 스키마의 어느 부분에 해당되는지 대응시킴</a:t>
            </a:r>
            <a:endParaRPr lang="en-US" altLang="ko-KR" b="0" dirty="0"/>
          </a:p>
          <a:p>
            <a:pPr>
              <a:buNone/>
            </a:pPr>
            <a:endParaRPr lang="en-US" altLang="ko-KR" sz="1000" b="0" dirty="0"/>
          </a:p>
          <a:p>
            <a:r>
              <a:rPr lang="ko-KR" altLang="en-US" dirty="0"/>
              <a:t>개념</a:t>
            </a:r>
            <a:r>
              <a:rPr lang="en-US" altLang="ko-KR" dirty="0"/>
              <a:t>/</a:t>
            </a:r>
            <a:r>
              <a:rPr lang="ko-KR" altLang="en-US" dirty="0"/>
              <a:t>내부 매핑</a:t>
            </a:r>
            <a:endParaRPr lang="en-US" altLang="ko-KR" dirty="0"/>
          </a:p>
          <a:p>
            <a:pPr lvl="2" indent="-165100"/>
            <a:r>
              <a:rPr lang="ko-KR" altLang="en-US" b="0" dirty="0"/>
              <a:t>개념 스키마의 데이터가 내부 스키마의 물리적 장치 어디에 어떤 방법으로 저장되는지 대응시킴</a:t>
            </a:r>
            <a:endParaRPr lang="en-US" altLang="ko-KR" b="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86342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r>
              <a:rPr lang="ko-KR" altLang="en-US" dirty="0"/>
              <a:t>단계 데이터베이스 구조</a:t>
            </a:r>
          </a:p>
        </p:txBody>
      </p:sp>
      <p:pic>
        <p:nvPicPr>
          <p:cNvPr id="9" name="내용 개체 틀 8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9087DEC3-DC99-4019-9BB8-92EB7959D33F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34" y="1125538"/>
            <a:ext cx="6742545" cy="5399087"/>
          </a:xfrm>
        </p:spPr>
      </p:pic>
    </p:spTree>
    <p:extLst>
      <p:ext uri="{BB962C8B-B14F-4D97-AF65-F5344CB8AC3E}">
        <p14:creationId xmlns:p14="http://schemas.microsoft.com/office/powerpoint/2010/main" val="32949800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r>
              <a:rPr lang="ko-KR" altLang="en-US" dirty="0"/>
              <a:t>단계 데이터베이스 구조</a:t>
            </a:r>
          </a:p>
        </p:txBody>
      </p:sp>
      <p:pic>
        <p:nvPicPr>
          <p:cNvPr id="6" name="내용 개체 틀 5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BA88D14C-490D-4729-8A60-C20BA105163A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661" y="1125538"/>
            <a:ext cx="7184091" cy="5399087"/>
          </a:xfrm>
        </p:spPr>
      </p:pic>
    </p:spTree>
    <p:extLst>
      <p:ext uri="{BB962C8B-B14F-4D97-AF65-F5344CB8AC3E}">
        <p14:creationId xmlns:p14="http://schemas.microsoft.com/office/powerpoint/2010/main" val="745955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r>
              <a:rPr lang="ko-KR" altLang="en-US" dirty="0"/>
              <a:t>단계 데이터베이스 구조</a:t>
            </a:r>
          </a:p>
        </p:txBody>
      </p:sp>
      <p:pic>
        <p:nvPicPr>
          <p:cNvPr id="7" name="내용 개체 틀 6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4A9AF9B4-ECC8-485B-8FDE-BC651DC8B5C1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956" y="1125538"/>
            <a:ext cx="6327501" cy="5399087"/>
          </a:xfrm>
        </p:spPr>
      </p:pic>
    </p:spTree>
    <p:extLst>
      <p:ext uri="{BB962C8B-B14F-4D97-AF65-F5344CB8AC3E}">
        <p14:creationId xmlns:p14="http://schemas.microsoft.com/office/powerpoint/2010/main" val="37737139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r>
              <a:rPr lang="ko-KR" altLang="en-US" dirty="0"/>
              <a:t>단계 데이터베이스 구조</a:t>
            </a:r>
          </a:p>
        </p:txBody>
      </p:sp>
      <p:pic>
        <p:nvPicPr>
          <p:cNvPr id="6" name="내용 개체 틀 5" descr="텍스트, 영수증이(가) 표시된 사진&#10;&#10;자동 생성된 설명">
            <a:extLst>
              <a:ext uri="{FF2B5EF4-FFF2-40B4-BE49-F238E27FC236}">
                <a16:creationId xmlns:a16="http://schemas.microsoft.com/office/drawing/2014/main" id="{3C33889C-BD4E-421A-889F-93403893FC72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71" y="1125538"/>
            <a:ext cx="7596271" cy="5399087"/>
          </a:xfrm>
        </p:spPr>
      </p:pic>
    </p:spTree>
    <p:extLst>
      <p:ext uri="{BB962C8B-B14F-4D97-AF65-F5344CB8AC3E}">
        <p14:creationId xmlns:p14="http://schemas.microsoft.com/office/powerpoint/2010/main" val="32356556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r>
              <a:rPr lang="ko-KR" altLang="en-US" dirty="0"/>
              <a:t>단계 데이터베이스 구조</a:t>
            </a:r>
          </a:p>
        </p:txBody>
      </p:sp>
      <p:pic>
        <p:nvPicPr>
          <p:cNvPr id="11" name="내용 개체 틀 10" descr="텍스트이(가) 표시된 사진&#10;&#10;자동 생성된 설명">
            <a:extLst>
              <a:ext uri="{FF2B5EF4-FFF2-40B4-BE49-F238E27FC236}">
                <a16:creationId xmlns:a16="http://schemas.microsoft.com/office/drawing/2014/main" id="{1546300D-E034-4D13-9ACD-0BA06C4D5DD2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527" y="1255901"/>
            <a:ext cx="3762945" cy="5399193"/>
          </a:xfrm>
        </p:spPr>
      </p:pic>
    </p:spTree>
    <p:extLst>
      <p:ext uri="{BB962C8B-B14F-4D97-AF65-F5344CB8AC3E}">
        <p14:creationId xmlns:p14="http://schemas.microsoft.com/office/powerpoint/2010/main" val="27417464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AA7DF72-A2BB-4D88-B07B-F5EFB20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/>
              <a:t>데이터 독립성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10D54A-AD25-4D67-989D-B8332799A68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논리적 데이터 독립성</a:t>
            </a:r>
            <a:r>
              <a:rPr lang="en-US" altLang="ko-KR" dirty="0"/>
              <a:t>(logical data independence)</a:t>
            </a:r>
          </a:p>
          <a:p>
            <a:pPr lvl="2" indent="-165100">
              <a:lnSpc>
                <a:spcPct val="100000"/>
              </a:lnSpc>
            </a:pPr>
            <a:r>
              <a:rPr lang="ko-KR" altLang="en-US" b="0" dirty="0"/>
              <a:t>외부 단계</a:t>
            </a:r>
            <a:r>
              <a:rPr lang="en-US" altLang="ko-KR" b="0" dirty="0"/>
              <a:t>(</a:t>
            </a:r>
            <a:r>
              <a:rPr lang="ko-KR" altLang="en-US" b="0" dirty="0"/>
              <a:t>외부 스키마</a:t>
            </a:r>
            <a:r>
              <a:rPr lang="en-US" altLang="ko-KR" b="0" dirty="0"/>
              <a:t>)</a:t>
            </a:r>
            <a:r>
              <a:rPr lang="ko-KR" altLang="en-US" b="0" dirty="0"/>
              <a:t>와 개념 단계</a:t>
            </a:r>
            <a:r>
              <a:rPr lang="en-US" altLang="ko-KR" b="0" dirty="0"/>
              <a:t>(</a:t>
            </a:r>
            <a:r>
              <a:rPr lang="ko-KR" altLang="en-US" b="0" dirty="0"/>
              <a:t>개념 스키마</a:t>
            </a:r>
            <a:r>
              <a:rPr lang="en-US" altLang="ko-KR" b="0" dirty="0"/>
              <a:t>)</a:t>
            </a:r>
            <a:r>
              <a:rPr lang="ko-KR" altLang="en-US" b="0" dirty="0"/>
              <a:t> 사이의 독립성</a:t>
            </a:r>
            <a:endParaRPr lang="en-US" altLang="ko-KR" b="0" dirty="0"/>
          </a:p>
          <a:p>
            <a:pPr lvl="2" indent="-165100">
              <a:lnSpc>
                <a:spcPct val="100000"/>
              </a:lnSpc>
            </a:pPr>
            <a:r>
              <a:rPr lang="ko-KR" altLang="en-US" b="0" dirty="0"/>
              <a:t>개념 스키마가 변경되어도 외부 스키마에는 영향을 미치지 않도록 지원</a:t>
            </a:r>
            <a:endParaRPr lang="en-US" altLang="ko-KR" b="0" dirty="0"/>
          </a:p>
          <a:p>
            <a:pPr lvl="2" indent="-165100">
              <a:lnSpc>
                <a:spcPct val="100000"/>
              </a:lnSpc>
            </a:pPr>
            <a:r>
              <a:rPr lang="ko-KR" altLang="en-US" b="0" dirty="0"/>
              <a:t>논리적 구조가 변경되어도 응용 프로그램에는 영향이 없도록 하는 개념</a:t>
            </a:r>
            <a:r>
              <a:rPr lang="en-US" altLang="ko-KR" b="0" dirty="0"/>
              <a:t> </a:t>
            </a:r>
          </a:p>
          <a:p>
            <a:pPr lvl="2" indent="-165100">
              <a:lnSpc>
                <a:spcPct val="100000"/>
              </a:lnSpc>
            </a:pPr>
            <a:r>
              <a:rPr lang="ko-KR" altLang="en-US" b="0" dirty="0"/>
              <a:t>개념 스키마의 테이블을 생성하거나 변경하여도 외부 스키마가 직접 다루는 테이블이 아니면 영향이 없음</a:t>
            </a:r>
            <a:endParaRPr lang="en-US" altLang="ko-KR" b="0" dirty="0"/>
          </a:p>
          <a:p>
            <a:pPr>
              <a:buNone/>
            </a:pPr>
            <a:endParaRPr lang="en-US" altLang="ko-KR" sz="800" dirty="0"/>
          </a:p>
          <a:p>
            <a:r>
              <a:rPr lang="ko-KR" altLang="en-US" dirty="0"/>
              <a:t>물리적 데이터 독립성</a:t>
            </a:r>
            <a:r>
              <a:rPr lang="en-US" altLang="ko-KR" dirty="0"/>
              <a:t>(physical data independence)</a:t>
            </a:r>
          </a:p>
          <a:p>
            <a:pPr lvl="2" indent="-165100">
              <a:lnSpc>
                <a:spcPct val="100000"/>
              </a:lnSpc>
            </a:pPr>
            <a:r>
              <a:rPr lang="ko-KR" altLang="en-US" b="0" dirty="0"/>
              <a:t>개념 단계</a:t>
            </a:r>
            <a:r>
              <a:rPr lang="en-US" altLang="ko-KR" b="0" dirty="0"/>
              <a:t>(</a:t>
            </a:r>
            <a:r>
              <a:rPr lang="ko-KR" altLang="en-US" b="0" dirty="0"/>
              <a:t>개념 스키마</a:t>
            </a:r>
            <a:r>
              <a:rPr lang="en-US" altLang="ko-KR" b="0" dirty="0"/>
              <a:t>)</a:t>
            </a:r>
            <a:r>
              <a:rPr lang="ko-KR" altLang="en-US" b="0" dirty="0"/>
              <a:t>와 내부 단계</a:t>
            </a:r>
            <a:r>
              <a:rPr lang="en-US" altLang="ko-KR" b="0" dirty="0"/>
              <a:t>(</a:t>
            </a:r>
            <a:r>
              <a:rPr lang="ko-KR" altLang="en-US" b="0" dirty="0"/>
              <a:t>내부 스키마</a:t>
            </a:r>
            <a:r>
              <a:rPr lang="en-US" altLang="ko-KR" b="0" dirty="0"/>
              <a:t>)</a:t>
            </a:r>
            <a:r>
              <a:rPr lang="ko-KR" altLang="en-US" b="0" dirty="0"/>
              <a:t> 사이의 독립성</a:t>
            </a:r>
            <a:endParaRPr lang="en-US" altLang="ko-KR" b="0" dirty="0"/>
          </a:p>
          <a:p>
            <a:pPr lvl="2" indent="-165100">
              <a:lnSpc>
                <a:spcPct val="100000"/>
              </a:lnSpc>
            </a:pPr>
            <a:r>
              <a:rPr lang="ko-KR" altLang="en-US" b="0" dirty="0"/>
              <a:t>저장장치 구조 변경과 같이 내부 스키마가 변경되어도 개념 스키마에 영향을 미치지 않도록 지원</a:t>
            </a:r>
            <a:endParaRPr lang="en-US" altLang="ko-KR" b="0" dirty="0"/>
          </a:p>
          <a:p>
            <a:pPr lvl="2" indent="-165100">
              <a:lnSpc>
                <a:spcPct val="100000"/>
              </a:lnSpc>
            </a:pPr>
            <a:r>
              <a:rPr lang="ko-KR" altLang="en-US" b="0" dirty="0"/>
              <a:t>성능 개선을 위하여 물리적 저장 장치를 재구성할 경우 개념 스키마나 응용 프로그램 같은 외부 스키마에 </a:t>
            </a:r>
            <a:r>
              <a:rPr lang="en-US" altLang="ko-KR" b="0" dirty="0"/>
              <a:t/>
            </a:r>
            <a:br>
              <a:rPr lang="en-US" altLang="ko-KR" b="0" dirty="0"/>
            </a:br>
            <a:r>
              <a:rPr lang="ko-KR" altLang="en-US" b="0" dirty="0"/>
              <a:t>영향이 없음</a:t>
            </a:r>
            <a:endParaRPr lang="en-US" altLang="ko-KR" b="0" dirty="0"/>
          </a:p>
          <a:p>
            <a:pPr lvl="2" indent="-165100">
              <a:lnSpc>
                <a:spcPct val="100000"/>
              </a:lnSpc>
            </a:pPr>
            <a:r>
              <a:rPr lang="ko-KR" altLang="en-US" b="0" dirty="0"/>
              <a:t>물리적 독립성은 논리적 독립성보다 구현하기 쉬움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44165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28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680</TotalTime>
  <Words>1756</Words>
  <Application>Microsoft Office PowerPoint</Application>
  <PresentationFormat>화면 슬라이드 쇼(4:3)</PresentationFormat>
  <Paragraphs>326</Paragraphs>
  <Slides>61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68" baseType="lpstr">
      <vt:lpstr>HY견고딕</vt:lpstr>
      <vt:lpstr>맑은 고딕</vt:lpstr>
      <vt:lpstr>바탕</vt:lpstr>
      <vt:lpstr>Arial</vt:lpstr>
      <vt:lpstr>Tahoma</vt:lpstr>
      <vt:lpstr>Wingdings</vt:lpstr>
      <vt:lpstr>Office 테마</vt:lpstr>
      <vt:lpstr>PowerPoint 프레젠테이션</vt:lpstr>
      <vt:lpstr>01 데이터베이스 시스템</vt:lpstr>
      <vt:lpstr>PowerPoint 프레젠테이션</vt:lpstr>
      <vt:lpstr>PowerPoint 프레젠테이션</vt:lpstr>
      <vt:lpstr>01. 데이터베이스와 데이터베이스 시스템</vt:lpstr>
      <vt:lpstr>1. 데이터, 정보, 지식</vt:lpstr>
      <vt:lpstr>2. 데이터베이스의 활용</vt:lpstr>
      <vt:lpstr>2. 일상생활의 데이터베이스</vt:lpstr>
      <vt:lpstr>2. 일상생활의 데이터베이스</vt:lpstr>
      <vt:lpstr>3. 데이터베이스의 개념 및 특징</vt:lpstr>
      <vt:lpstr>3. 데이터베이스의 개념 및 특징</vt:lpstr>
      <vt:lpstr>4. 데이터베이스 시스템의 구성</vt:lpstr>
      <vt:lpstr>02. 데이터베이스 시스템의 발전</vt:lpstr>
      <vt:lpstr>[1단계] 마당서점의 시작</vt:lpstr>
      <vt:lpstr>[2단계] 컴퓨터의 도입</vt:lpstr>
      <vt:lpstr>[3단계] 지점 개설 및 데이터베이스 구축</vt:lpstr>
      <vt:lpstr>[4단계] 홈페이지 구축</vt:lpstr>
      <vt:lpstr>[5단계] 인터넷 쇼핑몰 운영</vt:lpstr>
      <vt:lpstr>PowerPoint 프레젠테이션</vt:lpstr>
      <vt:lpstr>2. 정보 시스템의 발전</vt:lpstr>
      <vt:lpstr>2. 정보 시스템의 발전</vt:lpstr>
      <vt:lpstr>2. 정보 시스템의 발전</vt:lpstr>
      <vt:lpstr>2. 정보 시스템의 발전</vt:lpstr>
      <vt:lpstr>2. 정보 시스템의 발전</vt:lpstr>
      <vt:lpstr>03. 파일 시스템과 DBMS</vt:lpstr>
      <vt:lpstr>1. 마당서점 데이터를 저장하는 방법</vt:lpstr>
      <vt:lpstr>1.1 데이터를 프로그램 내부에 저장하는 방법</vt:lpstr>
      <vt:lpstr>1.2 파일 시스템을 사용하는 방법</vt:lpstr>
      <vt:lpstr>1.2 파일 시스템을 사용하는 방법</vt:lpstr>
      <vt:lpstr>1.3 DBMS를 사용하는 방법</vt:lpstr>
      <vt:lpstr>1.3 DBMS를 사용하는 방법</vt:lpstr>
      <vt:lpstr>2. 마당서점 데이터의 저장 방법 비교</vt:lpstr>
      <vt:lpstr>2. 마당서점 데이터의 저장 방법 비교</vt:lpstr>
      <vt:lpstr>2. 마당서점 데이터의 저장 방법 비교</vt:lpstr>
      <vt:lpstr>3. 파일 시스템과 DBMS의 비교</vt:lpstr>
      <vt:lpstr>3. 파일 시스템과 DBMS의 비교</vt:lpstr>
      <vt:lpstr>3. 파일 시스템과 DBMS의 비교</vt:lpstr>
      <vt:lpstr>04. 데이터베이스 시스템의 구성</vt:lpstr>
      <vt:lpstr>04. 데이터베이스 시스템의 구성</vt:lpstr>
      <vt:lpstr>1. 데이터베이스 언어</vt:lpstr>
      <vt:lpstr>1. 데이터베이스 언어</vt:lpstr>
      <vt:lpstr>2. 데이터베이스 사용자</vt:lpstr>
      <vt:lpstr>2. 데이터베이스 사용자</vt:lpstr>
      <vt:lpstr>3. DBMS</vt:lpstr>
      <vt:lpstr>4. 데이터 모델</vt:lpstr>
      <vt:lpstr>4. 데이터 모델</vt:lpstr>
      <vt:lpstr>4. 데이터 모델</vt:lpstr>
      <vt:lpstr>4. 데이터 모델</vt:lpstr>
      <vt:lpstr>4. 데이터 모델</vt:lpstr>
      <vt:lpstr>4. 데이터 모델</vt:lpstr>
      <vt:lpstr>4. 데이터 모델</vt:lpstr>
      <vt:lpstr>5. 데이터베이스의 개념적 구조</vt:lpstr>
      <vt:lpstr>5. 데이터베이스의 개념적 구조</vt:lpstr>
      <vt:lpstr>5. 데이터베이스의 개념적 구조</vt:lpstr>
      <vt:lpstr>3단계 데이터베이스 구조</vt:lpstr>
      <vt:lpstr>3단계 데이터베이스 구조</vt:lpstr>
      <vt:lpstr>3단계 데이터베이스 구조</vt:lpstr>
      <vt:lpstr>3단계 데이터베이스 구조</vt:lpstr>
      <vt:lpstr>3단계 데이터베이스 구조</vt:lpstr>
      <vt:lpstr>2. 데이터 독립성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ㅇㅅㅇ</dc:creator>
  <cp:lastModifiedBy>admin</cp:lastModifiedBy>
  <cp:revision>62</cp:revision>
  <dcterms:created xsi:type="dcterms:W3CDTF">2020-06-18T03:20:34Z</dcterms:created>
  <dcterms:modified xsi:type="dcterms:W3CDTF">2021-02-23T19:40:27Z</dcterms:modified>
</cp:coreProperties>
</file>